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슬라이드를 이동하려면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메모 서식을 편집하려면 클릭하십시오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&lt;머리글&gt;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&lt;날짜/시간&gt;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&lt;바닥글&gt;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fld id="{58D3BECB-AD34-4673-9B35-7AB0AEEB31A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&lt;숫자&gt;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76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69C386-9C49-4394-8505-ED9D98B3B0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79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9A25F3-FBBD-48BB-8CF5-6C3B347EB9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82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DD117C-8341-428F-B5D5-96CC16343D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85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1A13DC-9EFF-4E1A-AEE2-ED7274AD8E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88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982858-6BA5-44AB-87F4-B8D85A0DD8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91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87B8F5-5A4C-494B-9F2A-853FAAE91B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94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18E022-9588-4E1D-8EF4-899CB3F5F5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9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FFFFCB-B907-4FA1-B19A-2E47DA1A86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0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CABF0A-2910-44E8-8C89-42A7212638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0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A925AA-B3F6-4A35-A48C-CB05B292BF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0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51B20A-A8FB-43D9-BD94-774126A549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0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2964BB-678D-4BF2-9730-4D28E00CC4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1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E90D01-0970-4C63-8053-62E99107FC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1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36D315C-473D-4086-9BC3-B46556DB0E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1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D3B58C-C8BB-4401-B88A-9B82C9204B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2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034CC7-AB74-48D4-899C-085D78DD62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24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4C7394-0FCC-4092-8A14-C3BE714015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27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7DCA7C-1554-49B0-9828-DBFDDDCC96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30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5FC06D-CD50-4309-ABDE-FD281C3432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33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CB73F2-0C64-4306-A288-43DA79039B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36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29A8A8-FB71-453F-87A6-FAE0B79F02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39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669B39-C851-4A99-B847-DAECD7D0FD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42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62E8FD-5815-4725-A822-10E7B9772A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45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533D098-1ABC-4D06-BC2A-D347F3E9BA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48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1EDDF1-601E-49B2-BFBF-37281D3F0A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51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1DEF15-B7CE-40EA-BDC4-D1E8110108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54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CBE73FA-063A-46E1-806B-051476068C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O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76000"/>
            <a:ext cx="11365920" cy="360"/>
          </a:xfrm>
          <a:prstGeom prst="line">
            <a:avLst/>
          </a:prstGeom>
          <a:ln w="12700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6473880"/>
            <a:ext cx="11365920" cy="360"/>
          </a:xfrm>
          <a:prstGeom prst="line">
            <a:avLst/>
          </a:prstGeom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510600"/>
            <a:ext cx="47541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6B7280"/>
                </a:solidFill>
                <a:effectLst/>
                <a:uFillTx/>
                <a:latin typeface="Malgun Gothic"/>
                <a:ea typeface="Malgun Gothic"/>
              </a:rPr>
              <a:t>UI Specification / My Page Room Interface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700" b="0" u="none" strike="noStrike">
                <a:solidFill>
                  <a:srgbClr val="777777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94100C0-F6D0-4DB6-84B5-A68D9C526ECB}" type="slidenum">
              <a:rPr lang="en-US" sz="700" b="0" u="none" strike="noStrike">
                <a:solidFill>
                  <a:srgbClr val="777777"/>
                </a:solidFill>
                <a:effectLst/>
                <a:uFillTx/>
                <a:latin typeface="Malgun Gothic"/>
                <a:ea typeface="Malgun Gothic"/>
              </a:rPr>
              <a:t>&lt;숫자&gt;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ko-KR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640080" y="658440"/>
            <a:ext cx="5668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마이페이지 화면설계서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58440" y="1152000"/>
            <a:ext cx="4754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 ·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분석 통계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/ML·RAG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보강본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58440" y="1627560"/>
            <a:ext cx="5394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컨셉 메인은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3D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형 와이어프레임으로 보이도록 조정하고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팝업 탭은 대시보드형 기능 확인 화면으로 구체화합니다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629400" y="960120"/>
            <a:ext cx="4617000" cy="236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문서 구성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6629400" y="1197720"/>
            <a:ext cx="4617000" cy="2824920"/>
          </a:xfrm>
          <a:prstGeom prst="rect">
            <a:avLst/>
          </a:prstGeom>
          <a:solidFill>
            <a:srgbClr val="FBFBF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739200" y="1316880"/>
            <a:ext cx="43974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1. 3D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형 메인 방 와이어프레임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" name="Text 6"/>
          <p:cNvSpPr/>
          <p:nvPr/>
        </p:nvSpPr>
        <p:spPr>
          <a:xfrm>
            <a:off x="6739200" y="1673280"/>
            <a:ext cx="43974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팝업 탭 대시보드 공통 구조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" name="Text 7"/>
          <p:cNvSpPr/>
          <p:nvPr/>
        </p:nvSpPr>
        <p:spPr>
          <a:xfrm>
            <a:off x="6739200" y="2030040"/>
            <a:ext cx="43974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화면별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ID / Path / Description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" name="Text 8"/>
          <p:cNvSpPr/>
          <p:nvPr/>
        </p:nvSpPr>
        <p:spPr>
          <a:xfrm>
            <a:off x="6739200" y="2386440"/>
            <a:ext cx="43974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4.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요구사항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ID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별 상세 화면설계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" name="Text 9"/>
          <p:cNvSpPr/>
          <p:nvPr/>
        </p:nvSpPr>
        <p:spPr>
          <a:xfrm>
            <a:off x="6739200" y="2743200"/>
            <a:ext cx="43974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5.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정책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권한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검증 체크리스트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658440" y="4800600"/>
            <a:ext cx="1096560" cy="34668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문서 목적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1755720" y="4800600"/>
            <a:ext cx="5302800" cy="34668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구현자가 기능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전환을 확인 가능한 수준의 화면설계서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658440" y="5148000"/>
            <a:ext cx="109656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보강 범위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1755720" y="5148000"/>
            <a:ext cx="530280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MY-R-000 3D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형 와이어프레임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MY-R-001~008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팝업 대시보드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기능별 상세 설계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658440" y="5495400"/>
            <a:ext cx="109656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유지 원칙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1755720" y="5495400"/>
            <a:ext cx="530280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디자인 시안이 아닌 문서형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감성 장식보다 정보 구조와 동작 설명 우선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sldNum" idx="5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 이력 관리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버전별 변경 내용과 산출물 성격을 명확히 기록합니다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" name="Text 3"/>
          <p:cNvSpPr/>
          <p:nvPr/>
        </p:nvSpPr>
        <p:spPr>
          <a:xfrm>
            <a:off x="594360" y="1078920"/>
            <a:ext cx="913680" cy="41976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Version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" name="Text 4"/>
          <p:cNvSpPr/>
          <p:nvPr/>
        </p:nvSpPr>
        <p:spPr>
          <a:xfrm>
            <a:off x="1508760" y="1078920"/>
            <a:ext cx="1005120" cy="41976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Author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" name="Text 5"/>
          <p:cNvSpPr/>
          <p:nvPr/>
        </p:nvSpPr>
        <p:spPr>
          <a:xfrm>
            <a:off x="2514600" y="1078920"/>
            <a:ext cx="7817400" cy="41976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Description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" name="Text 6"/>
          <p:cNvSpPr/>
          <p:nvPr/>
        </p:nvSpPr>
        <p:spPr>
          <a:xfrm>
            <a:off x="10332720" y="1078920"/>
            <a:ext cx="1188000" cy="41976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Date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" name="Text 7"/>
          <p:cNvSpPr/>
          <p:nvPr/>
        </p:nvSpPr>
        <p:spPr>
          <a:xfrm>
            <a:off x="594360" y="1499760"/>
            <a:ext cx="91368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v0.5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" name="Text 8"/>
          <p:cNvSpPr/>
          <p:nvPr/>
        </p:nvSpPr>
        <p:spPr>
          <a:xfrm>
            <a:off x="1508760" y="1499760"/>
            <a:ext cx="100512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기획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" name="Text 9"/>
          <p:cNvSpPr/>
          <p:nvPr/>
        </p:nvSpPr>
        <p:spPr>
          <a:xfrm>
            <a:off x="2514600" y="1499760"/>
            <a:ext cx="781740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메인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분석 탭 기준 마이페이지 화면설계서 구성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10332720" y="1499760"/>
            <a:ext cx="118800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2026.06.16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594360" y="1920240"/>
            <a:ext cx="91368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v0.6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1508760" y="1920240"/>
            <a:ext cx="100512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기획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" name="Text 13"/>
          <p:cNvSpPr/>
          <p:nvPr/>
        </p:nvSpPr>
        <p:spPr>
          <a:xfrm>
            <a:off x="2514600" y="1920240"/>
            <a:ext cx="781740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 구조를 방 안의 클릭 가능한 아티팩트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+ </a:t>
            </a: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팝업탭 구조로 원천 재구성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" name="Text 14"/>
          <p:cNvSpPr/>
          <p:nvPr/>
        </p:nvSpPr>
        <p:spPr>
          <a:xfrm>
            <a:off x="10332720" y="1920240"/>
            <a:ext cx="118800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2026.06.17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" name="Text 15"/>
          <p:cNvSpPr/>
          <p:nvPr/>
        </p:nvSpPr>
        <p:spPr>
          <a:xfrm>
            <a:off x="594360" y="2340720"/>
            <a:ext cx="91368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v0.7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" name="Text 16"/>
          <p:cNvSpPr/>
          <p:nvPr/>
        </p:nvSpPr>
        <p:spPr>
          <a:xfrm>
            <a:off x="1508760" y="2340720"/>
            <a:ext cx="100512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기획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" name="Text 17"/>
          <p:cNvSpPr/>
          <p:nvPr/>
        </p:nvSpPr>
        <p:spPr>
          <a:xfrm>
            <a:off x="2514600" y="2340720"/>
            <a:ext cx="781740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메인 방을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3D</a:t>
            </a: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처럼 보이는 와이어프레임으로 보강하고 요구사항 세부 반영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" name="Text 18"/>
          <p:cNvSpPr/>
          <p:nvPr/>
        </p:nvSpPr>
        <p:spPr>
          <a:xfrm>
            <a:off x="10332720" y="2340720"/>
            <a:ext cx="118800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2026.06.17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" name="Text 19"/>
          <p:cNvSpPr/>
          <p:nvPr/>
        </p:nvSpPr>
        <p:spPr>
          <a:xfrm>
            <a:off x="594360" y="2761560"/>
            <a:ext cx="91368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v0.8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" name="Text 20"/>
          <p:cNvSpPr/>
          <p:nvPr/>
        </p:nvSpPr>
        <p:spPr>
          <a:xfrm>
            <a:off x="1508760" y="2761560"/>
            <a:ext cx="100512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기획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" name="Text 21"/>
          <p:cNvSpPr/>
          <p:nvPr/>
        </p:nvSpPr>
        <p:spPr>
          <a:xfrm>
            <a:off x="2514600" y="2761560"/>
            <a:ext cx="781740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문서 원칙을 반영해 디자인 시안을 제거하고 문서형 화면설계서로 단순화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" name="Text 22"/>
          <p:cNvSpPr/>
          <p:nvPr/>
        </p:nvSpPr>
        <p:spPr>
          <a:xfrm>
            <a:off x="10332720" y="2761560"/>
            <a:ext cx="118800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2026.06.17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" name="Text 23"/>
          <p:cNvSpPr/>
          <p:nvPr/>
        </p:nvSpPr>
        <p:spPr>
          <a:xfrm>
            <a:off x="594360" y="3182040"/>
            <a:ext cx="91368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v0.9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" name="Text 24"/>
          <p:cNvSpPr/>
          <p:nvPr/>
        </p:nvSpPr>
        <p:spPr>
          <a:xfrm>
            <a:off x="1508760" y="3182040"/>
            <a:ext cx="100512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기획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" name="Text 25"/>
          <p:cNvSpPr/>
          <p:nvPr/>
        </p:nvSpPr>
        <p:spPr>
          <a:xfrm>
            <a:off x="2514600" y="3182040"/>
            <a:ext cx="781740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3D</a:t>
            </a: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형 메인 와이어프레임 강화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팝업 탭 대시보드화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기능별 상세 화면설계 추가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" name="Text 26"/>
          <p:cNvSpPr/>
          <p:nvPr/>
        </p:nvSpPr>
        <p:spPr>
          <a:xfrm>
            <a:off x="10332720" y="3182040"/>
            <a:ext cx="1188000" cy="419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2026.06.17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" name="Text 27"/>
          <p:cNvSpPr/>
          <p:nvPr/>
        </p:nvSpPr>
        <p:spPr>
          <a:xfrm>
            <a:off x="594360" y="3886200"/>
            <a:ext cx="1462320" cy="4381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작성 원칙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" name="Text 28"/>
          <p:cNvSpPr/>
          <p:nvPr/>
        </p:nvSpPr>
        <p:spPr>
          <a:xfrm>
            <a:off x="2057400" y="3886200"/>
            <a:ext cx="9463320" cy="4381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7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와이어프레임은 문서형으로 유지하되</a:t>
            </a:r>
            <a:r>
              <a:rPr lang="en-US" sz="87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7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방의 입체감과 클릭 영역을 명확히 표현한다</a:t>
            </a:r>
            <a:r>
              <a:rPr lang="en-US" sz="87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" name="Text 29"/>
          <p:cNvSpPr/>
          <p:nvPr/>
        </p:nvSpPr>
        <p:spPr>
          <a:xfrm>
            <a:off x="594360" y="4325040"/>
            <a:ext cx="146232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추가된 요소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" name="Text 30"/>
          <p:cNvSpPr/>
          <p:nvPr/>
        </p:nvSpPr>
        <p:spPr>
          <a:xfrm>
            <a:off x="2057400" y="4325040"/>
            <a:ext cx="946332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팝업 내부 탭별 대시보드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기능별 화면 요소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상호작용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 상태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오류 상태 명세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" name="Text 31"/>
          <p:cNvSpPr/>
          <p:nvPr/>
        </p:nvSpPr>
        <p:spPr>
          <a:xfrm>
            <a:off x="594360" y="4763880"/>
            <a:ext cx="146232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제외한 요소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" name="Text 32"/>
          <p:cNvSpPr/>
          <p:nvPr/>
        </p:nvSpPr>
        <p:spPr>
          <a:xfrm>
            <a:off x="2057400" y="4763880"/>
            <a:ext cx="946332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완성 디자인 시안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장식용 일러스트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캐릭터 디테일 확정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sldNum" idx="6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" name="Rectangle 34"/>
          <p:cNvSpPr/>
          <p:nvPr/>
        </p:nvSpPr>
        <p:spPr>
          <a:xfrm>
            <a:off x="7178040" y="5010840"/>
            <a:ext cx="3656880" cy="438120"/>
          </a:xfrm>
          <a:prstGeom prst="rect">
            <a:avLst/>
          </a:prstGeom>
          <a:solidFill>
            <a:srgbClr val="FEF3C7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분석 탭을 챗봇형 검색에서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ML/RAG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기반 통계 대시보드로 재정의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메뉴 트리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사용자는 탭이 아니라 방 안의 아티팩트를 통해 기능군에 진입합니다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" name="Text 3"/>
          <p:cNvSpPr/>
          <p:nvPr/>
        </p:nvSpPr>
        <p:spPr>
          <a:xfrm>
            <a:off x="594360" y="1005840"/>
            <a:ext cx="100512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Depth 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" name="Text 4"/>
          <p:cNvSpPr/>
          <p:nvPr/>
        </p:nvSpPr>
        <p:spPr>
          <a:xfrm>
            <a:off x="1600200" y="1005840"/>
            <a:ext cx="182808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Depth 2 / Artifact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" name="Text 5"/>
          <p:cNvSpPr/>
          <p:nvPr/>
        </p:nvSpPr>
        <p:spPr>
          <a:xfrm>
            <a:off x="3429000" y="1005840"/>
            <a:ext cx="105084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" name="Text 6"/>
          <p:cNvSpPr/>
          <p:nvPr/>
        </p:nvSpPr>
        <p:spPr>
          <a:xfrm>
            <a:off x="4480560" y="1005840"/>
            <a:ext cx="548568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Function Group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" name="Text 7"/>
          <p:cNvSpPr/>
          <p:nvPr/>
        </p:nvSpPr>
        <p:spPr>
          <a:xfrm>
            <a:off x="9966960" y="1005840"/>
            <a:ext cx="155376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Popup Type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" name="Text 8"/>
          <p:cNvSpPr/>
          <p:nvPr/>
        </p:nvSpPr>
        <p:spPr>
          <a:xfrm>
            <a:off x="594360" y="1398960"/>
            <a:ext cx="10051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" name="Text 9"/>
          <p:cNvSpPr/>
          <p:nvPr/>
        </p:nvSpPr>
        <p:spPr>
          <a:xfrm>
            <a:off x="1600200" y="1398960"/>
            <a:ext cx="18280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기본 화면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3429000" y="1398960"/>
            <a:ext cx="105084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4480560" y="1398960"/>
            <a:ext cx="5485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 진입 기본 화면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클릭 가능 아티팩트 전체 노출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9966960" y="1398960"/>
            <a:ext cx="155376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Base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594360" y="1792080"/>
            <a:ext cx="10051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1600200" y="1792080"/>
            <a:ext cx="18280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책상 위 일기장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3429000" y="1792080"/>
            <a:ext cx="105084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4480560" y="1792080"/>
            <a:ext cx="5485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요약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캐릭터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친밀도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연속기록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" name="Text 17"/>
          <p:cNvSpPr/>
          <p:nvPr/>
        </p:nvSpPr>
        <p:spPr>
          <a:xfrm>
            <a:off x="9966960" y="1792080"/>
            <a:ext cx="155376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일반 팝업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" name="Text 18"/>
          <p:cNvSpPr/>
          <p:nvPr/>
        </p:nvSpPr>
        <p:spPr>
          <a:xfrm>
            <a:off x="594360" y="2185560"/>
            <a:ext cx="10051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" name="Text 19"/>
          <p:cNvSpPr/>
          <p:nvPr/>
        </p:nvSpPr>
        <p:spPr>
          <a:xfrm>
            <a:off x="1600200" y="2185560"/>
            <a:ext cx="18280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벽 달력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" name="Text 20"/>
          <p:cNvSpPr/>
          <p:nvPr/>
        </p:nvSpPr>
        <p:spPr>
          <a:xfrm>
            <a:off x="3429000" y="2185560"/>
            <a:ext cx="105084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" name="Text 21"/>
          <p:cNvSpPr/>
          <p:nvPr/>
        </p:nvSpPr>
        <p:spPr>
          <a:xfrm>
            <a:off x="4480560" y="2185560"/>
            <a:ext cx="5485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마음 기록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선택 날짜 상세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타임라인 필터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" name="Text 22"/>
          <p:cNvSpPr/>
          <p:nvPr/>
        </p:nvSpPr>
        <p:spPr>
          <a:xfrm>
            <a:off x="9966960" y="2185560"/>
            <a:ext cx="155376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일반 팝업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" name="Text 23"/>
          <p:cNvSpPr/>
          <p:nvPr/>
        </p:nvSpPr>
        <p:spPr>
          <a:xfrm>
            <a:off x="594360" y="2578680"/>
            <a:ext cx="10051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" name="Text 24"/>
          <p:cNvSpPr/>
          <p:nvPr/>
        </p:nvSpPr>
        <p:spPr>
          <a:xfrm>
            <a:off x="1600200" y="2578680"/>
            <a:ext cx="18280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책상 위 결과책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" name="Text 25"/>
          <p:cNvSpPr/>
          <p:nvPr/>
        </p:nvSpPr>
        <p:spPr>
          <a:xfrm>
            <a:off x="3429000" y="2578680"/>
            <a:ext cx="105084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" name="Text 26"/>
          <p:cNvSpPr/>
          <p:nvPr/>
        </p:nvSpPr>
        <p:spPr>
          <a:xfrm>
            <a:off x="4480560" y="2578680"/>
            <a:ext cx="5485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결과카드 보관함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이미지 저장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" name="Text 27"/>
          <p:cNvSpPr/>
          <p:nvPr/>
        </p:nvSpPr>
        <p:spPr>
          <a:xfrm>
            <a:off x="9966960" y="2578680"/>
            <a:ext cx="155376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일반 팝업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" name="Text 28"/>
          <p:cNvSpPr/>
          <p:nvPr/>
        </p:nvSpPr>
        <p:spPr>
          <a:xfrm>
            <a:off x="594360" y="2971800"/>
            <a:ext cx="10051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" name="Text 29"/>
          <p:cNvSpPr/>
          <p:nvPr/>
        </p:nvSpPr>
        <p:spPr>
          <a:xfrm>
            <a:off x="1600200" y="2971800"/>
            <a:ext cx="18280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테라리움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도감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" name="Text 30"/>
          <p:cNvSpPr/>
          <p:nvPr/>
        </p:nvSpPr>
        <p:spPr>
          <a:xfrm>
            <a:off x="3429000" y="2971800"/>
            <a:ext cx="105084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" name="Text 31"/>
          <p:cNvSpPr/>
          <p:nvPr/>
        </p:nvSpPr>
        <p:spPr>
          <a:xfrm>
            <a:off x="4480560" y="2971800"/>
            <a:ext cx="5485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오늘의 나 도감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설정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AI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가 보는 나 준비 상태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8" name="Text 32"/>
          <p:cNvSpPr/>
          <p:nvPr/>
        </p:nvSpPr>
        <p:spPr>
          <a:xfrm>
            <a:off x="9966960" y="2971800"/>
            <a:ext cx="155376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일반 팝업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" name="Text 33"/>
          <p:cNvSpPr/>
          <p:nvPr/>
        </p:nvSpPr>
        <p:spPr>
          <a:xfrm>
            <a:off x="594360" y="3364920"/>
            <a:ext cx="10051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0" name="Text 34"/>
          <p:cNvSpPr/>
          <p:nvPr/>
        </p:nvSpPr>
        <p:spPr>
          <a:xfrm>
            <a:off x="1600200" y="3364920"/>
            <a:ext cx="18280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책장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기억병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1" name="Text 35"/>
          <p:cNvSpPr/>
          <p:nvPr/>
        </p:nvSpPr>
        <p:spPr>
          <a:xfrm>
            <a:off x="3429000" y="3364920"/>
            <a:ext cx="105084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2" name="Text 36"/>
          <p:cNvSpPr/>
          <p:nvPr/>
        </p:nvSpPr>
        <p:spPr>
          <a:xfrm>
            <a:off x="4480560" y="3364920"/>
            <a:ext cx="5485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AI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아카이브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삭제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3" name="Text 37"/>
          <p:cNvSpPr/>
          <p:nvPr/>
        </p:nvSpPr>
        <p:spPr>
          <a:xfrm>
            <a:off x="9966960" y="3364920"/>
            <a:ext cx="155376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일반 팝업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" name="Text 38"/>
          <p:cNvSpPr/>
          <p:nvPr/>
        </p:nvSpPr>
        <p:spPr>
          <a:xfrm>
            <a:off x="594360" y="3758040"/>
            <a:ext cx="10051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" name="Text 39"/>
          <p:cNvSpPr/>
          <p:nvPr/>
        </p:nvSpPr>
        <p:spPr>
          <a:xfrm>
            <a:off x="1600200" y="3758040"/>
            <a:ext cx="18280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망원경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돋보기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" name="Text 40"/>
          <p:cNvSpPr/>
          <p:nvPr/>
        </p:nvSpPr>
        <p:spPr>
          <a:xfrm>
            <a:off x="3429000" y="3758040"/>
            <a:ext cx="105084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" name="Text 41"/>
          <p:cNvSpPr/>
          <p:nvPr/>
        </p:nvSpPr>
        <p:spPr>
          <a:xfrm>
            <a:off x="4480560" y="3758040"/>
            <a:ext cx="5485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개인 기준선 변화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-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 매트릭스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회복 반응 통계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8" name="Text 42"/>
          <p:cNvSpPr/>
          <p:nvPr/>
        </p:nvSpPr>
        <p:spPr>
          <a:xfrm>
            <a:off x="9966960" y="3758040"/>
            <a:ext cx="155376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일반 팝업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" name="Text 43"/>
          <p:cNvSpPr/>
          <p:nvPr/>
        </p:nvSpPr>
        <p:spPr>
          <a:xfrm>
            <a:off x="594360" y="4151520"/>
            <a:ext cx="10051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0" name="Text 44"/>
          <p:cNvSpPr/>
          <p:nvPr/>
        </p:nvSpPr>
        <p:spPr>
          <a:xfrm>
            <a:off x="1600200" y="4151520"/>
            <a:ext cx="18280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스위치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1" name="Text 45"/>
          <p:cNvSpPr/>
          <p:nvPr/>
        </p:nvSpPr>
        <p:spPr>
          <a:xfrm>
            <a:off x="3429000" y="4151520"/>
            <a:ext cx="105084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2" name="Text 46"/>
          <p:cNvSpPr/>
          <p:nvPr/>
        </p:nvSpPr>
        <p:spPr>
          <a:xfrm>
            <a:off x="4480560" y="4151520"/>
            <a:ext cx="5485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전체화면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알림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공개범위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테마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탈퇴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" name="Text 47"/>
          <p:cNvSpPr/>
          <p:nvPr/>
        </p:nvSpPr>
        <p:spPr>
          <a:xfrm>
            <a:off x="9966960" y="4151520"/>
            <a:ext cx="155376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전체화면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4" name="Text 48"/>
          <p:cNvSpPr/>
          <p:nvPr/>
        </p:nvSpPr>
        <p:spPr>
          <a:xfrm>
            <a:off x="594360" y="4544640"/>
            <a:ext cx="10051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5" name="Text 49"/>
          <p:cNvSpPr/>
          <p:nvPr/>
        </p:nvSpPr>
        <p:spPr>
          <a:xfrm>
            <a:off x="1600200" y="4544640"/>
            <a:ext cx="18280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창문 안내문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6" name="Text 50"/>
          <p:cNvSpPr/>
          <p:nvPr/>
        </p:nvSpPr>
        <p:spPr>
          <a:xfrm>
            <a:off x="3429000" y="4544640"/>
            <a:ext cx="105084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7" name="Text 51"/>
          <p:cNvSpPr/>
          <p:nvPr/>
        </p:nvSpPr>
        <p:spPr>
          <a:xfrm>
            <a:off x="4480560" y="4544640"/>
            <a:ext cx="5485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시크릿챗 비저장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완료 안내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8" name="Text 52"/>
          <p:cNvSpPr/>
          <p:nvPr/>
        </p:nvSpPr>
        <p:spPr>
          <a:xfrm>
            <a:off x="9966960" y="4544640"/>
            <a:ext cx="155376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일반 팝업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sldNum" idx="7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스크린 리스트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신규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수정 화면과 주요 기능을 한눈에 확인합니다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594360" y="960120"/>
            <a:ext cx="959400" cy="35604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대분류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1554480" y="960120"/>
            <a:ext cx="1005120" cy="35604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중분류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2560320" y="960120"/>
            <a:ext cx="1096560" cy="35604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3657600" y="960120"/>
            <a:ext cx="1919520" cy="35604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Page Title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5577840" y="960120"/>
            <a:ext cx="4937040" cy="35604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Description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10515600" y="960120"/>
            <a:ext cx="685080" cy="35604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비고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" name="Text 9"/>
          <p:cNvSpPr/>
          <p:nvPr/>
        </p:nvSpPr>
        <p:spPr>
          <a:xfrm>
            <a:off x="594360" y="1316880"/>
            <a:ext cx="95940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" name="Text 10"/>
          <p:cNvSpPr/>
          <p:nvPr/>
        </p:nvSpPr>
        <p:spPr>
          <a:xfrm>
            <a:off x="1554480" y="1316880"/>
            <a:ext cx="10051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메인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" name="Text 11"/>
          <p:cNvSpPr/>
          <p:nvPr/>
        </p:nvSpPr>
        <p:spPr>
          <a:xfrm>
            <a:off x="2560320" y="1316880"/>
            <a:ext cx="109656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" name="Text 12"/>
          <p:cNvSpPr/>
          <p:nvPr/>
        </p:nvSpPr>
        <p:spPr>
          <a:xfrm>
            <a:off x="3657600" y="1316880"/>
            <a:ext cx="19195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기본 화면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" name="Text 13"/>
          <p:cNvSpPr/>
          <p:nvPr/>
        </p:nvSpPr>
        <p:spPr>
          <a:xfrm>
            <a:off x="5577840" y="1316880"/>
            <a:ext cx="493704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3D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방처럼 보이는 문서형 와이어프레임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아티팩트 클릭 영역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10515600" y="1316880"/>
            <a:ext cx="68508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594360" y="1673280"/>
            <a:ext cx="95940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" name="Text 16"/>
          <p:cNvSpPr/>
          <p:nvPr/>
        </p:nvSpPr>
        <p:spPr>
          <a:xfrm>
            <a:off x="1554480" y="1673280"/>
            <a:ext cx="10051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대시보드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" name="Text 17"/>
          <p:cNvSpPr/>
          <p:nvPr/>
        </p:nvSpPr>
        <p:spPr>
          <a:xfrm>
            <a:off x="2560320" y="1673280"/>
            <a:ext cx="109656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8" name="Text 18"/>
          <p:cNvSpPr/>
          <p:nvPr/>
        </p:nvSpPr>
        <p:spPr>
          <a:xfrm>
            <a:off x="3657600" y="1673280"/>
            <a:ext cx="19195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요약 팝업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" name="Text 19"/>
          <p:cNvSpPr/>
          <p:nvPr/>
        </p:nvSpPr>
        <p:spPr>
          <a:xfrm>
            <a:off x="5577840" y="1673280"/>
            <a:ext cx="493704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캐릭터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친밀도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최근 마음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연속기록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" name="Text 20"/>
          <p:cNvSpPr/>
          <p:nvPr/>
        </p:nvSpPr>
        <p:spPr>
          <a:xfrm>
            <a:off x="10515600" y="1673280"/>
            <a:ext cx="68508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" name="Text 21"/>
          <p:cNvSpPr/>
          <p:nvPr/>
        </p:nvSpPr>
        <p:spPr>
          <a:xfrm>
            <a:off x="594360" y="2030040"/>
            <a:ext cx="95940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" name="Text 22"/>
          <p:cNvSpPr/>
          <p:nvPr/>
        </p:nvSpPr>
        <p:spPr>
          <a:xfrm>
            <a:off x="1554480" y="2030040"/>
            <a:ext cx="10051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3" name="Text 23"/>
          <p:cNvSpPr/>
          <p:nvPr/>
        </p:nvSpPr>
        <p:spPr>
          <a:xfrm>
            <a:off x="2560320" y="2030040"/>
            <a:ext cx="109656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4" name="Text 24"/>
          <p:cNvSpPr/>
          <p:nvPr/>
        </p:nvSpPr>
        <p:spPr>
          <a:xfrm>
            <a:off x="3657600" y="2030040"/>
            <a:ext cx="19195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마음 기록 팝업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" name="Text 25"/>
          <p:cNvSpPr/>
          <p:nvPr/>
        </p:nvSpPr>
        <p:spPr>
          <a:xfrm>
            <a:off x="5577840" y="2030040"/>
            <a:ext cx="493704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날짜별 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선택 날짜 상세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타임라인 필터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" name="Text 26"/>
          <p:cNvSpPr/>
          <p:nvPr/>
        </p:nvSpPr>
        <p:spPr>
          <a:xfrm>
            <a:off x="10515600" y="2030040"/>
            <a:ext cx="68508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7" name="Text 27"/>
          <p:cNvSpPr/>
          <p:nvPr/>
        </p:nvSpPr>
        <p:spPr>
          <a:xfrm>
            <a:off x="594360" y="2386440"/>
            <a:ext cx="95940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8" name="Text 28"/>
          <p:cNvSpPr/>
          <p:nvPr/>
        </p:nvSpPr>
        <p:spPr>
          <a:xfrm>
            <a:off x="1554480" y="2386440"/>
            <a:ext cx="10051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9" name="Text 29"/>
          <p:cNvSpPr/>
          <p:nvPr/>
        </p:nvSpPr>
        <p:spPr>
          <a:xfrm>
            <a:off x="2560320" y="2386440"/>
            <a:ext cx="109656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0" name="Text 30"/>
          <p:cNvSpPr/>
          <p:nvPr/>
        </p:nvSpPr>
        <p:spPr>
          <a:xfrm>
            <a:off x="3657600" y="2386440"/>
            <a:ext cx="19195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결과책 보관함 팝업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1" name="Text 31"/>
          <p:cNvSpPr/>
          <p:nvPr/>
        </p:nvSpPr>
        <p:spPr>
          <a:xfrm>
            <a:off x="5577840" y="2386440"/>
            <a:ext cx="493704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주간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월간 카드 목록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2" name="Text 32"/>
          <p:cNvSpPr/>
          <p:nvPr/>
        </p:nvSpPr>
        <p:spPr>
          <a:xfrm>
            <a:off x="10515600" y="2386440"/>
            <a:ext cx="68508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3" name="Text 33"/>
          <p:cNvSpPr/>
          <p:nvPr/>
        </p:nvSpPr>
        <p:spPr>
          <a:xfrm>
            <a:off x="594360" y="2743200"/>
            <a:ext cx="95940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4" name="Text 34"/>
          <p:cNvSpPr/>
          <p:nvPr/>
        </p:nvSpPr>
        <p:spPr>
          <a:xfrm>
            <a:off x="1554480" y="2743200"/>
            <a:ext cx="10051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도감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5" name="Text 35"/>
          <p:cNvSpPr/>
          <p:nvPr/>
        </p:nvSpPr>
        <p:spPr>
          <a:xfrm>
            <a:off x="2560320" y="2743200"/>
            <a:ext cx="109656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6" name="Text 36"/>
          <p:cNvSpPr/>
          <p:nvPr/>
        </p:nvSpPr>
        <p:spPr>
          <a:xfrm>
            <a:off x="3657600" y="2743200"/>
            <a:ext cx="19195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오늘의 나 도감 팝업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7" name="Text 37"/>
          <p:cNvSpPr/>
          <p:nvPr/>
        </p:nvSpPr>
        <p:spPr>
          <a:xfrm>
            <a:off x="5577840" y="2743200"/>
            <a:ext cx="493704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획득 생물형 캐릭터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설정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AI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가 보는 나 준비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8" name="Text 38"/>
          <p:cNvSpPr/>
          <p:nvPr/>
        </p:nvSpPr>
        <p:spPr>
          <a:xfrm>
            <a:off x="10515600" y="2743200"/>
            <a:ext cx="68508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9" name="Text 39"/>
          <p:cNvSpPr/>
          <p:nvPr/>
        </p:nvSpPr>
        <p:spPr>
          <a:xfrm>
            <a:off x="594360" y="3099960"/>
            <a:ext cx="95940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0" name="Text 40"/>
          <p:cNvSpPr/>
          <p:nvPr/>
        </p:nvSpPr>
        <p:spPr>
          <a:xfrm>
            <a:off x="1554480" y="3099960"/>
            <a:ext cx="10051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메모리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1" name="Text 41"/>
          <p:cNvSpPr/>
          <p:nvPr/>
        </p:nvSpPr>
        <p:spPr>
          <a:xfrm>
            <a:off x="2560320" y="3099960"/>
            <a:ext cx="109656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2" name="Text 42"/>
          <p:cNvSpPr/>
          <p:nvPr/>
        </p:nvSpPr>
        <p:spPr>
          <a:xfrm>
            <a:off x="3657600" y="3099960"/>
            <a:ext cx="19195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AI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팝업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3" name="Text 43"/>
          <p:cNvSpPr/>
          <p:nvPr/>
        </p:nvSpPr>
        <p:spPr>
          <a:xfrm>
            <a:off x="5577840" y="3099960"/>
            <a:ext cx="493704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목록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유지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활용 동의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4" name="Text 44"/>
          <p:cNvSpPr/>
          <p:nvPr/>
        </p:nvSpPr>
        <p:spPr>
          <a:xfrm>
            <a:off x="10515600" y="3099960"/>
            <a:ext cx="68508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5" name="Text 45"/>
          <p:cNvSpPr/>
          <p:nvPr/>
        </p:nvSpPr>
        <p:spPr>
          <a:xfrm>
            <a:off x="594360" y="3456360"/>
            <a:ext cx="95940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6" name="Text 46"/>
          <p:cNvSpPr/>
          <p:nvPr/>
        </p:nvSpPr>
        <p:spPr>
          <a:xfrm>
            <a:off x="1554480" y="3456360"/>
            <a:ext cx="10051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분석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7" name="Text 47"/>
          <p:cNvSpPr/>
          <p:nvPr/>
        </p:nvSpPr>
        <p:spPr>
          <a:xfrm>
            <a:off x="2560320" y="3456360"/>
            <a:ext cx="109656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8" name="Text 48"/>
          <p:cNvSpPr/>
          <p:nvPr/>
        </p:nvSpPr>
        <p:spPr>
          <a:xfrm>
            <a:off x="3657600" y="3456360"/>
            <a:ext cx="19195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분석 통계 팝업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9" name="Text 49"/>
          <p:cNvSpPr/>
          <p:nvPr/>
        </p:nvSpPr>
        <p:spPr>
          <a:xfrm>
            <a:off x="5577840" y="3456360"/>
            <a:ext cx="493704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ML/RAG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기반 분석 통계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-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 매트릭스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회복 반응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0" name="Text 50"/>
          <p:cNvSpPr/>
          <p:nvPr/>
        </p:nvSpPr>
        <p:spPr>
          <a:xfrm>
            <a:off x="10515600" y="3456360"/>
            <a:ext cx="68508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1" name="Text 51"/>
          <p:cNvSpPr/>
          <p:nvPr/>
        </p:nvSpPr>
        <p:spPr>
          <a:xfrm>
            <a:off x="594360" y="3813120"/>
            <a:ext cx="95940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2" name="Text 52"/>
          <p:cNvSpPr/>
          <p:nvPr/>
        </p:nvSpPr>
        <p:spPr>
          <a:xfrm>
            <a:off x="1554480" y="3813120"/>
            <a:ext cx="10051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3" name="Text 53"/>
          <p:cNvSpPr/>
          <p:nvPr/>
        </p:nvSpPr>
        <p:spPr>
          <a:xfrm>
            <a:off x="2560320" y="3813120"/>
            <a:ext cx="109656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4" name="Text 54"/>
          <p:cNvSpPr/>
          <p:nvPr/>
        </p:nvSpPr>
        <p:spPr>
          <a:xfrm>
            <a:off x="3657600" y="3813120"/>
            <a:ext cx="19195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전체화면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5" name="Text 55"/>
          <p:cNvSpPr/>
          <p:nvPr/>
        </p:nvSpPr>
        <p:spPr>
          <a:xfrm>
            <a:off x="5577840" y="3813120"/>
            <a:ext cx="493704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알림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 기본값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공개범위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테마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탈퇴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6" name="Text 56"/>
          <p:cNvSpPr/>
          <p:nvPr/>
        </p:nvSpPr>
        <p:spPr>
          <a:xfrm>
            <a:off x="10515600" y="3813120"/>
            <a:ext cx="68508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7" name="Text 57"/>
          <p:cNvSpPr/>
          <p:nvPr/>
        </p:nvSpPr>
        <p:spPr>
          <a:xfrm>
            <a:off x="594360" y="4169520"/>
            <a:ext cx="95940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8" name="Text 58"/>
          <p:cNvSpPr/>
          <p:nvPr/>
        </p:nvSpPr>
        <p:spPr>
          <a:xfrm>
            <a:off x="1554480" y="4169520"/>
            <a:ext cx="10051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정책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9" name="Text 59"/>
          <p:cNvSpPr/>
          <p:nvPr/>
        </p:nvSpPr>
        <p:spPr>
          <a:xfrm>
            <a:off x="2560320" y="4169520"/>
            <a:ext cx="109656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 fontScale="92500" lnSpcReduction="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0" name="Text 60"/>
          <p:cNvSpPr/>
          <p:nvPr/>
        </p:nvSpPr>
        <p:spPr>
          <a:xfrm>
            <a:off x="3657600" y="4169520"/>
            <a:ext cx="19195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안전 안내 팝업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1" name="Text 61"/>
          <p:cNvSpPr/>
          <p:nvPr/>
        </p:nvSpPr>
        <p:spPr>
          <a:xfrm>
            <a:off x="5577840" y="4169520"/>
            <a:ext cx="493704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비저장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표현 기준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완료 안내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2" name="Text 62"/>
          <p:cNvSpPr/>
          <p:nvPr/>
        </p:nvSpPr>
        <p:spPr>
          <a:xfrm>
            <a:off x="10515600" y="4169520"/>
            <a:ext cx="68508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3" name="Text 63"/>
          <p:cNvSpPr/>
          <p:nvPr/>
        </p:nvSpPr>
        <p:spPr>
          <a:xfrm>
            <a:off x="594360" y="4526280"/>
            <a:ext cx="95940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4" name="Text 64"/>
          <p:cNvSpPr/>
          <p:nvPr/>
        </p:nvSpPr>
        <p:spPr>
          <a:xfrm>
            <a:off x="1554480" y="4526280"/>
            <a:ext cx="10051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기능상세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5" name="Text 65"/>
          <p:cNvSpPr/>
          <p:nvPr/>
        </p:nvSpPr>
        <p:spPr>
          <a:xfrm>
            <a:off x="2560320" y="4526280"/>
            <a:ext cx="109656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MY-R-D-*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6" name="Text 66"/>
          <p:cNvSpPr/>
          <p:nvPr/>
        </p:nvSpPr>
        <p:spPr>
          <a:xfrm>
            <a:off x="3657600" y="4526280"/>
            <a:ext cx="191952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기능별 상세 설계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7" name="Text 67"/>
          <p:cNvSpPr/>
          <p:nvPr/>
        </p:nvSpPr>
        <p:spPr>
          <a:xfrm>
            <a:off x="5577840" y="4526280"/>
            <a:ext cx="493704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요구사항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ID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별 화면 요소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상호작용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예외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8" name="Text 68"/>
          <p:cNvSpPr/>
          <p:nvPr/>
        </p:nvSpPr>
        <p:spPr>
          <a:xfrm>
            <a:off x="10515600" y="4526280"/>
            <a:ext cx="685080" cy="35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추가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sldNum" idx="8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공통 화면 규칙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메인 방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일반 팝업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설정 전체화면의 공통 구조를 정의합니다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594360" y="960120"/>
            <a:ext cx="1233720" cy="456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구분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1828800" y="960120"/>
            <a:ext cx="2148120" cy="456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적용 화면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3977640" y="960120"/>
            <a:ext cx="7497360" cy="456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규칙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594360" y="1417320"/>
            <a:ext cx="12337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메인 방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1828800" y="1417320"/>
            <a:ext cx="21481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MY-R-000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3977640" y="1417320"/>
            <a:ext cx="749736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상단 헤더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+ 3D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방처럼 보이는 와이어프레임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+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클릭 가능한 아티팩트 라벨을 배치한다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594360" y="1874520"/>
            <a:ext cx="12337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일반 팝업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1828800" y="1874520"/>
            <a:ext cx="21481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MY-R-001~006, 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3977640" y="1874520"/>
            <a:ext cx="749736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기본 화면 위에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80%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내외 오버레이로 표시하며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뒤의 방은 흐리게 남긴다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594360" y="2331720"/>
            <a:ext cx="12337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팝업 내부 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1828800" y="2331720"/>
            <a:ext cx="21481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MY-R-001~006, 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3977640" y="2331720"/>
            <a:ext cx="749736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 클릭 시 본문 영역이 대시보드 카드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목록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 패널로 변경되어 기능을 확인할 수 있어야 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594360" y="2788920"/>
            <a:ext cx="12337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6" name="Text 16"/>
          <p:cNvSpPr/>
          <p:nvPr/>
        </p:nvSpPr>
        <p:spPr>
          <a:xfrm>
            <a:off x="1828800" y="2788920"/>
            <a:ext cx="21481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3977640" y="2788920"/>
            <a:ext cx="749736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설정은 전체화면 오버레이로 표시한다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일부가 보이지 않아야 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594360" y="3246120"/>
            <a:ext cx="12337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닫기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9" name="Text 19"/>
          <p:cNvSpPr/>
          <p:nvPr/>
        </p:nvSpPr>
        <p:spPr>
          <a:xfrm>
            <a:off x="1828800" y="3246120"/>
            <a:ext cx="21481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팝업 공통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0" name="Text 20"/>
          <p:cNvSpPr/>
          <p:nvPr/>
        </p:nvSpPr>
        <p:spPr>
          <a:xfrm>
            <a:off x="3977640" y="3246120"/>
            <a:ext cx="749736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닫기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(X),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바깥 영역 클릭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ESC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입력으로 닫고 방 기본 화면으로 복귀한다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1" name="Text 21"/>
          <p:cNvSpPr/>
          <p:nvPr/>
        </p:nvSpPr>
        <p:spPr>
          <a:xfrm>
            <a:off x="594360" y="3703320"/>
            <a:ext cx="12337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 표시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2" name="Text 22"/>
          <p:cNvSpPr/>
          <p:nvPr/>
        </p:nvSpPr>
        <p:spPr>
          <a:xfrm>
            <a:off x="1828800" y="3703320"/>
            <a:ext cx="21481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MVP+/2P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3" name="Text 23"/>
          <p:cNvSpPr/>
          <p:nvPr/>
        </p:nvSpPr>
        <p:spPr>
          <a:xfrm>
            <a:off x="3977640" y="3703320"/>
            <a:ext cx="749736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미구현 기능은 아티팩트를 제거하지 않고 준비중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잠금 상태로 표시한다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4" name="Text 24"/>
          <p:cNvSpPr/>
          <p:nvPr/>
        </p:nvSpPr>
        <p:spPr>
          <a:xfrm>
            <a:off x="594360" y="4160520"/>
            <a:ext cx="12337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안전 표시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5" name="Text 25"/>
          <p:cNvSpPr/>
          <p:nvPr/>
        </p:nvSpPr>
        <p:spPr>
          <a:xfrm>
            <a:off x="1828800" y="4160520"/>
            <a:ext cx="21481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공통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6" name="Text 26"/>
          <p:cNvSpPr/>
          <p:nvPr/>
        </p:nvSpPr>
        <p:spPr>
          <a:xfrm>
            <a:off x="3977640" y="4160520"/>
            <a:ext cx="749736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시크릿챗 기록 제외 배지를 상단 또는 정책 팝업에서 항상 확인 가능하게 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7" name="Text 27"/>
          <p:cNvSpPr/>
          <p:nvPr/>
        </p:nvSpPr>
        <p:spPr>
          <a:xfrm>
            <a:off x="594360" y="4846320"/>
            <a:ext cx="1279440" cy="34668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Interaction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8" name="Text 28"/>
          <p:cNvSpPr/>
          <p:nvPr/>
        </p:nvSpPr>
        <p:spPr>
          <a:xfrm>
            <a:off x="1874520" y="4846320"/>
            <a:ext cx="2148120" cy="34668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Default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9" name="Text 29"/>
          <p:cNvSpPr/>
          <p:nvPr/>
        </p:nvSpPr>
        <p:spPr>
          <a:xfrm>
            <a:off x="4023360" y="4846320"/>
            <a:ext cx="2148120" cy="34668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Hover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0" name="Text 30"/>
          <p:cNvSpPr/>
          <p:nvPr/>
        </p:nvSpPr>
        <p:spPr>
          <a:xfrm>
            <a:off x="6172200" y="4846320"/>
            <a:ext cx="2148120" cy="34668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Click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1" name="Text 31"/>
          <p:cNvSpPr/>
          <p:nvPr/>
        </p:nvSpPr>
        <p:spPr>
          <a:xfrm>
            <a:off x="8321040" y="4846320"/>
            <a:ext cx="2148120" cy="34668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Focus/Keyboard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2" name="Text 32"/>
          <p:cNvSpPr/>
          <p:nvPr/>
        </p:nvSpPr>
        <p:spPr>
          <a:xfrm>
            <a:off x="594360" y="5193720"/>
            <a:ext cx="127944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아티팩트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3" name="Text 33"/>
          <p:cNvSpPr/>
          <p:nvPr/>
        </p:nvSpPr>
        <p:spPr>
          <a:xfrm>
            <a:off x="1874520" y="5193720"/>
            <a:ext cx="214812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라벨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+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번호 노출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4" name="Text 34"/>
          <p:cNvSpPr/>
          <p:nvPr/>
        </p:nvSpPr>
        <p:spPr>
          <a:xfrm>
            <a:off x="4023360" y="5193720"/>
            <a:ext cx="214812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외곽선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손 커서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5" name="Text 35"/>
          <p:cNvSpPr/>
          <p:nvPr/>
        </p:nvSpPr>
        <p:spPr>
          <a:xfrm>
            <a:off x="6172200" y="5193720"/>
            <a:ext cx="214812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연결 팝업 열기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6" name="Text 36"/>
          <p:cNvSpPr/>
          <p:nvPr/>
        </p:nvSpPr>
        <p:spPr>
          <a:xfrm>
            <a:off x="8321040" y="5193720"/>
            <a:ext cx="214812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Tab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이동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Enter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실행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7" name="Text 37"/>
          <p:cNvSpPr/>
          <p:nvPr/>
        </p:nvSpPr>
        <p:spPr>
          <a:xfrm>
            <a:off x="594360" y="5541120"/>
            <a:ext cx="127944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팝업 탭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8" name="Text 38"/>
          <p:cNvSpPr/>
          <p:nvPr/>
        </p:nvSpPr>
        <p:spPr>
          <a:xfrm>
            <a:off x="1874520" y="5541120"/>
            <a:ext cx="214812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첫 탭 활성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9" name="Text 39"/>
          <p:cNvSpPr/>
          <p:nvPr/>
        </p:nvSpPr>
        <p:spPr>
          <a:xfrm>
            <a:off x="4023360" y="5541120"/>
            <a:ext cx="214812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 강조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0" name="Text 40"/>
          <p:cNvSpPr/>
          <p:nvPr/>
        </p:nvSpPr>
        <p:spPr>
          <a:xfrm>
            <a:off x="6172200" y="5541120"/>
            <a:ext cx="214812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대시보드 본문 교체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1" name="Text 41"/>
          <p:cNvSpPr/>
          <p:nvPr/>
        </p:nvSpPr>
        <p:spPr>
          <a:xfrm>
            <a:off x="8321040" y="5541120"/>
            <a:ext cx="214812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좌우 이동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Enter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실행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2" name="Text 42"/>
          <p:cNvSpPr/>
          <p:nvPr/>
        </p:nvSpPr>
        <p:spPr>
          <a:xfrm>
            <a:off x="594360" y="5888880"/>
            <a:ext cx="127944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팝업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3" name="Text 43"/>
          <p:cNvSpPr/>
          <p:nvPr/>
        </p:nvSpPr>
        <p:spPr>
          <a:xfrm>
            <a:off x="1874520" y="5888880"/>
            <a:ext cx="214812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위 오버레이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4" name="Text 44"/>
          <p:cNvSpPr/>
          <p:nvPr/>
        </p:nvSpPr>
        <p:spPr>
          <a:xfrm>
            <a:off x="4023360" y="5888880"/>
            <a:ext cx="214812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버튼 강조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5" name="Text 45"/>
          <p:cNvSpPr/>
          <p:nvPr/>
        </p:nvSpPr>
        <p:spPr>
          <a:xfrm>
            <a:off x="6172200" y="5888880"/>
            <a:ext cx="214812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화면 전환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진입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6" name="Text 46"/>
          <p:cNvSpPr/>
          <p:nvPr/>
        </p:nvSpPr>
        <p:spPr>
          <a:xfrm>
            <a:off x="8321040" y="5888880"/>
            <a:ext cx="214812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ESC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닫기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7" name="PlaceHolder 1"/>
          <p:cNvSpPr>
            <a:spLocks noGrp="1"/>
          </p:cNvSpPr>
          <p:nvPr>
            <p:ph type="sldNum" idx="9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MY-R-000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기본 화면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마이페이지 진입 시 노출되는 기본 화면입니다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와이어프레임 단계에서도 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3D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방처럼 인식되어야 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502920" y="914400"/>
            <a:ext cx="8406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Page Title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2" name="Text 4"/>
          <p:cNvSpPr/>
          <p:nvPr/>
        </p:nvSpPr>
        <p:spPr>
          <a:xfrm>
            <a:off x="1344240" y="914400"/>
            <a:ext cx="214812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기본 화면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3493080" y="914400"/>
            <a:ext cx="7491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4242960" y="914400"/>
            <a:ext cx="14166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5660280" y="914400"/>
            <a:ext cx="8679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Path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6528960" y="914400"/>
            <a:ext cx="274248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&gt;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기본 화면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7" name="Text 9"/>
          <p:cNvSpPr/>
          <p:nvPr/>
        </p:nvSpPr>
        <p:spPr>
          <a:xfrm>
            <a:off x="9272160" y="914400"/>
            <a:ext cx="71244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Version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9985320" y="914400"/>
            <a:ext cx="6393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v0.9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10625400" y="914400"/>
            <a:ext cx="45648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Type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0" name="Text 12"/>
          <p:cNvSpPr/>
          <p:nvPr/>
        </p:nvSpPr>
        <p:spPr>
          <a:xfrm>
            <a:off x="11082600" y="914400"/>
            <a:ext cx="5022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1" name="Text 13"/>
          <p:cNvSpPr/>
          <p:nvPr/>
        </p:nvSpPr>
        <p:spPr>
          <a:xfrm>
            <a:off x="594360" y="1417320"/>
            <a:ext cx="653724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Wireframe: 3D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방처럼 보이는 메인 화면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(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문서형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)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2" name="Shape 14"/>
          <p:cNvSpPr/>
          <p:nvPr/>
        </p:nvSpPr>
        <p:spPr>
          <a:xfrm>
            <a:off x="2098080" y="2486880"/>
            <a:ext cx="3857400" cy="36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53" name="Shape 15"/>
          <p:cNvSpPr/>
          <p:nvPr/>
        </p:nvSpPr>
        <p:spPr>
          <a:xfrm>
            <a:off x="2098080" y="2486880"/>
            <a:ext cx="360" cy="141732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54" name="Shape 16"/>
          <p:cNvSpPr/>
          <p:nvPr/>
        </p:nvSpPr>
        <p:spPr>
          <a:xfrm>
            <a:off x="5955480" y="2486880"/>
            <a:ext cx="360" cy="141732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55" name="Shape 17"/>
          <p:cNvSpPr/>
          <p:nvPr/>
        </p:nvSpPr>
        <p:spPr>
          <a:xfrm>
            <a:off x="2098080" y="3904200"/>
            <a:ext cx="3857400" cy="36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56" name="Shape 18"/>
          <p:cNvSpPr/>
          <p:nvPr/>
        </p:nvSpPr>
        <p:spPr>
          <a:xfrm flipV="1">
            <a:off x="1248120" y="3904200"/>
            <a:ext cx="849960" cy="123444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57" name="Shape 19"/>
          <p:cNvSpPr/>
          <p:nvPr/>
        </p:nvSpPr>
        <p:spPr>
          <a:xfrm flipH="1" flipV="1">
            <a:off x="5955480" y="3904200"/>
            <a:ext cx="849600" cy="123444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58" name="Shape 20"/>
          <p:cNvSpPr/>
          <p:nvPr/>
        </p:nvSpPr>
        <p:spPr>
          <a:xfrm>
            <a:off x="1248120" y="5138640"/>
            <a:ext cx="5556960" cy="36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59" name="Shape 21"/>
          <p:cNvSpPr/>
          <p:nvPr/>
        </p:nvSpPr>
        <p:spPr>
          <a:xfrm flipH="1">
            <a:off x="1260360" y="2486880"/>
            <a:ext cx="837720" cy="123480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60" name="Shape 22"/>
          <p:cNvSpPr/>
          <p:nvPr/>
        </p:nvSpPr>
        <p:spPr>
          <a:xfrm>
            <a:off x="5955840" y="2486880"/>
            <a:ext cx="833760" cy="124488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61" name="Shape 23"/>
          <p:cNvSpPr/>
          <p:nvPr/>
        </p:nvSpPr>
        <p:spPr>
          <a:xfrm>
            <a:off x="3993840" y="2486880"/>
            <a:ext cx="1896120" cy="36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62" name="Shape 24"/>
          <p:cNvSpPr/>
          <p:nvPr/>
        </p:nvSpPr>
        <p:spPr>
          <a:xfrm>
            <a:off x="3993840" y="2486880"/>
            <a:ext cx="360" cy="141732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63" name="Text 25"/>
          <p:cNvSpPr/>
          <p:nvPr/>
        </p:nvSpPr>
        <p:spPr>
          <a:xfrm>
            <a:off x="2326680" y="2743200"/>
            <a:ext cx="9594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③ 벽 달력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4" name="Text 26"/>
          <p:cNvSpPr/>
          <p:nvPr/>
        </p:nvSpPr>
        <p:spPr>
          <a:xfrm>
            <a:off x="4629600" y="2743200"/>
            <a:ext cx="1114920" cy="34668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⑤ 책장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기억병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5" name="Text 27"/>
          <p:cNvSpPr/>
          <p:nvPr/>
        </p:nvSpPr>
        <p:spPr>
          <a:xfrm>
            <a:off x="1540800" y="3355920"/>
            <a:ext cx="986760" cy="32832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⑧ 정책 안내문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6" name="Text 28"/>
          <p:cNvSpPr/>
          <p:nvPr/>
        </p:nvSpPr>
        <p:spPr>
          <a:xfrm>
            <a:off x="6120000" y="3487680"/>
            <a:ext cx="86796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⑦ 설정문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7" name="Text 29"/>
          <p:cNvSpPr/>
          <p:nvPr/>
        </p:nvSpPr>
        <p:spPr>
          <a:xfrm>
            <a:off x="3060000" y="3600000"/>
            <a:ext cx="1619640" cy="563400"/>
          </a:xfrm>
          <a:prstGeom prst="rect">
            <a:avLst/>
          </a:prstGeom>
          <a:solidFill>
            <a:srgbClr val="F9F9F9"/>
          </a:solidFill>
          <a:ln w="635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중앙 책상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8" name="Text 30"/>
          <p:cNvSpPr/>
          <p:nvPr/>
        </p:nvSpPr>
        <p:spPr>
          <a:xfrm>
            <a:off x="2880000" y="3704400"/>
            <a:ext cx="776520" cy="2552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① 일기장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9" name="Text 31"/>
          <p:cNvSpPr/>
          <p:nvPr/>
        </p:nvSpPr>
        <p:spPr>
          <a:xfrm>
            <a:off x="4140000" y="3704400"/>
            <a:ext cx="776520" cy="2552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② 결과책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0" name="Text 32"/>
          <p:cNvSpPr/>
          <p:nvPr/>
        </p:nvSpPr>
        <p:spPr>
          <a:xfrm>
            <a:off x="1771200" y="4617720"/>
            <a:ext cx="86796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친밀도 램프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1" name="Text 33"/>
          <p:cNvSpPr/>
          <p:nvPr/>
        </p:nvSpPr>
        <p:spPr>
          <a:xfrm>
            <a:off x="3240000" y="4711320"/>
            <a:ext cx="1169640" cy="32832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④ 도감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테라리움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2" name="Text 34"/>
          <p:cNvSpPr/>
          <p:nvPr/>
        </p:nvSpPr>
        <p:spPr>
          <a:xfrm>
            <a:off x="4909320" y="4563000"/>
            <a:ext cx="1169640" cy="32832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⑥ 망원경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돋보기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3" name="Text 35"/>
          <p:cNvSpPr/>
          <p:nvPr/>
        </p:nvSpPr>
        <p:spPr>
          <a:xfrm>
            <a:off x="7360920" y="1417320"/>
            <a:ext cx="43426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Description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4" name="Text 36"/>
          <p:cNvSpPr/>
          <p:nvPr/>
        </p:nvSpPr>
        <p:spPr>
          <a:xfrm>
            <a:off x="7360920" y="1691640"/>
            <a:ext cx="34668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No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5" name="Text 37"/>
          <p:cNvSpPr/>
          <p:nvPr/>
        </p:nvSpPr>
        <p:spPr>
          <a:xfrm>
            <a:off x="7708320" y="1691640"/>
            <a:ext cx="292536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동작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6" name="Text 38"/>
          <p:cNvSpPr/>
          <p:nvPr/>
        </p:nvSpPr>
        <p:spPr>
          <a:xfrm>
            <a:off x="10634400" y="1691640"/>
            <a:ext cx="106920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Check Point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7" name="Text 39"/>
          <p:cNvSpPr/>
          <p:nvPr/>
        </p:nvSpPr>
        <p:spPr>
          <a:xfrm>
            <a:off x="7360920" y="208476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8" name="Text 40"/>
          <p:cNvSpPr/>
          <p:nvPr/>
        </p:nvSpPr>
        <p:spPr>
          <a:xfrm>
            <a:off x="7708320" y="2084760"/>
            <a:ext cx="292536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 진입 시 기본 노출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 대신 방 안의 클릭 가능한 아티팩트를 보여준다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9" name="Text 41"/>
          <p:cNvSpPr/>
          <p:nvPr/>
        </p:nvSpPr>
        <p:spPr>
          <a:xfrm>
            <a:off x="10634400" y="208476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컨셉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문서형 와이어프레임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0" name="Text 42"/>
          <p:cNvSpPr/>
          <p:nvPr/>
        </p:nvSpPr>
        <p:spPr>
          <a:xfrm>
            <a:off x="7360920" y="247788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1" name="Text 43"/>
          <p:cNvSpPr/>
          <p:nvPr/>
        </p:nvSpPr>
        <p:spPr>
          <a:xfrm>
            <a:off x="7708320" y="2477880"/>
            <a:ext cx="292536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개 벽면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+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바닥면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+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중앙 책상으로 깊이감을 표현한다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2" name="Text 44"/>
          <p:cNvSpPr/>
          <p:nvPr/>
        </p:nvSpPr>
        <p:spPr>
          <a:xfrm>
            <a:off x="10634400" y="247788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3D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형 레이아웃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3" name="Text 45"/>
          <p:cNvSpPr/>
          <p:nvPr/>
        </p:nvSpPr>
        <p:spPr>
          <a:xfrm>
            <a:off x="7360920" y="287136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4" name="Text 46"/>
          <p:cNvSpPr/>
          <p:nvPr/>
        </p:nvSpPr>
        <p:spPr>
          <a:xfrm>
            <a:off x="7708320" y="2871360"/>
            <a:ext cx="292536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책상 위에는 일기장과 결과책을 반드시 배치한다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5" name="Text 47"/>
          <p:cNvSpPr/>
          <p:nvPr/>
        </p:nvSpPr>
        <p:spPr>
          <a:xfrm>
            <a:off x="10634400" y="287136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필수 아티팩트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6" name="Text 48"/>
          <p:cNvSpPr/>
          <p:nvPr/>
        </p:nvSpPr>
        <p:spPr>
          <a:xfrm>
            <a:off x="7360920" y="326448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7" name="Text 49"/>
          <p:cNvSpPr/>
          <p:nvPr/>
        </p:nvSpPr>
        <p:spPr>
          <a:xfrm>
            <a:off x="7708320" y="3264480"/>
            <a:ext cx="292536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각 아티팩트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hover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 외곽선과 손 커서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click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 연결 팝업을 연다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8" name="Text 50"/>
          <p:cNvSpPr/>
          <p:nvPr/>
        </p:nvSpPr>
        <p:spPr>
          <a:xfrm>
            <a:off x="10634400" y="326448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클릭 대상 명확성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9" name="Text 51"/>
          <p:cNvSpPr/>
          <p:nvPr/>
        </p:nvSpPr>
        <p:spPr>
          <a:xfrm>
            <a:off x="7360920" y="365760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0" name="Text 52"/>
          <p:cNvSpPr/>
          <p:nvPr/>
        </p:nvSpPr>
        <p:spPr>
          <a:xfrm>
            <a:off x="7708320" y="3657600"/>
            <a:ext cx="292536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설정문만 전체화면 설정 오버레이를 연다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1" name="Text 53"/>
          <p:cNvSpPr/>
          <p:nvPr/>
        </p:nvSpPr>
        <p:spPr>
          <a:xfrm>
            <a:off x="10634400" y="365760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예외 규칙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sldNum" idx="10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3" name="Shape 1"/>
          <p:cNvSpPr/>
          <p:nvPr/>
        </p:nvSpPr>
        <p:spPr>
          <a:xfrm>
            <a:off x="6805080" y="3721320"/>
            <a:ext cx="360" cy="141732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294" name="Shape 2"/>
          <p:cNvSpPr/>
          <p:nvPr/>
        </p:nvSpPr>
        <p:spPr>
          <a:xfrm>
            <a:off x="1260000" y="3721680"/>
            <a:ext cx="360" cy="141732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MY-R-000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클릭 영역 상세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3D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방 와이어프레임의 각 아티팩트가 어떤 기능군으로 연결되는지 정의합니다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7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594360" y="987480"/>
            <a:ext cx="502200" cy="456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No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9" name="Text 4"/>
          <p:cNvSpPr/>
          <p:nvPr/>
        </p:nvSpPr>
        <p:spPr>
          <a:xfrm>
            <a:off x="1097280" y="987480"/>
            <a:ext cx="1370880" cy="456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아티팩트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영역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0" name="Text 5"/>
          <p:cNvSpPr/>
          <p:nvPr/>
        </p:nvSpPr>
        <p:spPr>
          <a:xfrm>
            <a:off x="2468880" y="987480"/>
            <a:ext cx="1690920" cy="456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위치 기준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4160520" y="987480"/>
            <a:ext cx="2239560" cy="456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열리는 화면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2" name="Text 7"/>
          <p:cNvSpPr/>
          <p:nvPr/>
        </p:nvSpPr>
        <p:spPr>
          <a:xfrm>
            <a:off x="6400800" y="987480"/>
            <a:ext cx="5119920" cy="456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클릭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 규칙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3" name="Text 8"/>
          <p:cNvSpPr/>
          <p:nvPr/>
        </p:nvSpPr>
        <p:spPr>
          <a:xfrm>
            <a:off x="594360" y="1444680"/>
            <a:ext cx="5022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①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4" name="Text 9"/>
          <p:cNvSpPr/>
          <p:nvPr/>
        </p:nvSpPr>
        <p:spPr>
          <a:xfrm>
            <a:off x="1097280" y="1444680"/>
            <a:ext cx="137088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책상 위 일기장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5" name="Text 10"/>
          <p:cNvSpPr/>
          <p:nvPr/>
        </p:nvSpPr>
        <p:spPr>
          <a:xfrm>
            <a:off x="2468880" y="1444680"/>
            <a:ext cx="1690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중앙 책상 좌측 상단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6" name="Text 11"/>
          <p:cNvSpPr/>
          <p:nvPr/>
        </p:nvSpPr>
        <p:spPr>
          <a:xfrm>
            <a:off x="4160520" y="1444680"/>
            <a:ext cx="223956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MY-R-001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요약 팝업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7" name="Text 12"/>
          <p:cNvSpPr/>
          <p:nvPr/>
        </p:nvSpPr>
        <p:spPr>
          <a:xfrm>
            <a:off x="6400800" y="1444680"/>
            <a:ext cx="5119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활성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Hover: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굵은 테두리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Click: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첫 탭 오늘 요약 활성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8" name="Text 13"/>
          <p:cNvSpPr/>
          <p:nvPr/>
        </p:nvSpPr>
        <p:spPr>
          <a:xfrm>
            <a:off x="594360" y="1901880"/>
            <a:ext cx="5022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②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9" name="Text 14"/>
          <p:cNvSpPr/>
          <p:nvPr/>
        </p:nvSpPr>
        <p:spPr>
          <a:xfrm>
            <a:off x="1097280" y="1901880"/>
            <a:ext cx="137088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책상 위 결과책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0" name="Text 15"/>
          <p:cNvSpPr/>
          <p:nvPr/>
        </p:nvSpPr>
        <p:spPr>
          <a:xfrm>
            <a:off x="2468880" y="1901880"/>
            <a:ext cx="1690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중앙 책상 우측 상단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1" name="Text 16"/>
          <p:cNvSpPr/>
          <p:nvPr/>
        </p:nvSpPr>
        <p:spPr>
          <a:xfrm>
            <a:off x="4160520" y="1901880"/>
            <a:ext cx="223956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MY-R-003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결과책 보관함 팝업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2" name="Text 17"/>
          <p:cNvSpPr/>
          <p:nvPr/>
        </p:nvSpPr>
        <p:spPr>
          <a:xfrm>
            <a:off x="6400800" y="1901880"/>
            <a:ext cx="5119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활성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기능은 공개 범위 설정 확인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3" name="Text 18"/>
          <p:cNvSpPr/>
          <p:nvPr/>
        </p:nvSpPr>
        <p:spPr>
          <a:xfrm>
            <a:off x="594360" y="2359080"/>
            <a:ext cx="5022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③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4" name="Text 19"/>
          <p:cNvSpPr/>
          <p:nvPr/>
        </p:nvSpPr>
        <p:spPr>
          <a:xfrm>
            <a:off x="1097280" y="2359080"/>
            <a:ext cx="137088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벽 달력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5" name="Text 20"/>
          <p:cNvSpPr/>
          <p:nvPr/>
        </p:nvSpPr>
        <p:spPr>
          <a:xfrm>
            <a:off x="2468880" y="2359080"/>
            <a:ext cx="1690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후면 벽 좌측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6" name="Text 21"/>
          <p:cNvSpPr/>
          <p:nvPr/>
        </p:nvSpPr>
        <p:spPr>
          <a:xfrm>
            <a:off x="4160520" y="2359080"/>
            <a:ext cx="223956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MY-R-002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마음 기록 팝업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7" name="Text 22"/>
          <p:cNvSpPr/>
          <p:nvPr/>
        </p:nvSpPr>
        <p:spPr>
          <a:xfrm>
            <a:off x="6400800" y="2359080"/>
            <a:ext cx="5119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활성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월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 단위 기록 상태 표시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8" name="Text 23"/>
          <p:cNvSpPr/>
          <p:nvPr/>
        </p:nvSpPr>
        <p:spPr>
          <a:xfrm>
            <a:off x="594360" y="2816280"/>
            <a:ext cx="5022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④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9" name="Text 24"/>
          <p:cNvSpPr/>
          <p:nvPr/>
        </p:nvSpPr>
        <p:spPr>
          <a:xfrm>
            <a:off x="1097280" y="2816280"/>
            <a:ext cx="137088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도감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테라리움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0" name="Text 25"/>
          <p:cNvSpPr/>
          <p:nvPr/>
        </p:nvSpPr>
        <p:spPr>
          <a:xfrm>
            <a:off x="2468880" y="2816280"/>
            <a:ext cx="1690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바닥 우측 전면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1" name="Text 26"/>
          <p:cNvSpPr/>
          <p:nvPr/>
        </p:nvSpPr>
        <p:spPr>
          <a:xfrm>
            <a:off x="4160520" y="2816280"/>
            <a:ext cx="223956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MY-R-004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오늘의 나 도감 팝업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2" name="Text 27"/>
          <p:cNvSpPr/>
          <p:nvPr/>
        </p:nvSpPr>
        <p:spPr>
          <a:xfrm>
            <a:off x="6400800" y="2816280"/>
            <a:ext cx="5119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활성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AI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가 보는 나는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2P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잠금 탭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3" name="Text 28"/>
          <p:cNvSpPr/>
          <p:nvPr/>
        </p:nvSpPr>
        <p:spPr>
          <a:xfrm>
            <a:off x="594360" y="3273480"/>
            <a:ext cx="5022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⑤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4" name="Text 29"/>
          <p:cNvSpPr/>
          <p:nvPr/>
        </p:nvSpPr>
        <p:spPr>
          <a:xfrm>
            <a:off x="1097280" y="3273480"/>
            <a:ext cx="137088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책장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5" name="Text 30"/>
          <p:cNvSpPr/>
          <p:nvPr/>
        </p:nvSpPr>
        <p:spPr>
          <a:xfrm>
            <a:off x="2468880" y="3273480"/>
            <a:ext cx="1690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후면 벽 우측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6" name="Text 31"/>
          <p:cNvSpPr/>
          <p:nvPr/>
        </p:nvSpPr>
        <p:spPr>
          <a:xfrm>
            <a:off x="4160520" y="3273480"/>
            <a:ext cx="223956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MY-R-005 AI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팝업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7" name="Text 32"/>
          <p:cNvSpPr/>
          <p:nvPr/>
        </p:nvSpPr>
        <p:spPr>
          <a:xfrm>
            <a:off x="6400800" y="3273480"/>
            <a:ext cx="5119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MVP+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자리 확보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준비중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잠금 안내 노출 가능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8" name="Text 33"/>
          <p:cNvSpPr/>
          <p:nvPr/>
        </p:nvSpPr>
        <p:spPr>
          <a:xfrm>
            <a:off x="594360" y="3730680"/>
            <a:ext cx="5022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9" name="Text 34"/>
          <p:cNvSpPr/>
          <p:nvPr/>
        </p:nvSpPr>
        <p:spPr>
          <a:xfrm>
            <a:off x="1097280" y="3730680"/>
            <a:ext cx="137088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망원경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돋보기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0" name="Text 35"/>
          <p:cNvSpPr/>
          <p:nvPr/>
        </p:nvSpPr>
        <p:spPr>
          <a:xfrm>
            <a:off x="2468880" y="3730680"/>
            <a:ext cx="1690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바닥 우측 후면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1" name="Text 36"/>
          <p:cNvSpPr/>
          <p:nvPr/>
        </p:nvSpPr>
        <p:spPr>
          <a:xfrm>
            <a:off x="4160520" y="3730680"/>
            <a:ext cx="223956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MY-R-006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분석 통계 팝업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2" name="Text 37"/>
          <p:cNvSpPr/>
          <p:nvPr/>
        </p:nvSpPr>
        <p:spPr>
          <a:xfrm>
            <a:off x="6400800" y="3730680"/>
            <a:ext cx="5119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MVP+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우선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.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기록 부족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동의 철회 시 잠금 상태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594360" y="4187880"/>
            <a:ext cx="5022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⑦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4" name="Text 39"/>
          <p:cNvSpPr/>
          <p:nvPr/>
        </p:nvSpPr>
        <p:spPr>
          <a:xfrm>
            <a:off x="1097280" y="4187880"/>
            <a:ext cx="137088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스위치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5" name="Text 40"/>
          <p:cNvSpPr/>
          <p:nvPr/>
        </p:nvSpPr>
        <p:spPr>
          <a:xfrm>
            <a:off x="2468880" y="4187880"/>
            <a:ext cx="1690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오른쪽 벽 또는 문 옆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6" name="Text 41"/>
          <p:cNvSpPr/>
          <p:nvPr/>
        </p:nvSpPr>
        <p:spPr>
          <a:xfrm>
            <a:off x="4160520" y="4187880"/>
            <a:ext cx="223956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전체화면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7" name="Text 42"/>
          <p:cNvSpPr/>
          <p:nvPr/>
        </p:nvSpPr>
        <p:spPr>
          <a:xfrm>
            <a:off x="6400800" y="4187880"/>
            <a:ext cx="5119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설정만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full overlay.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방이 보이지 않도록 처리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8" name="Text 43"/>
          <p:cNvSpPr/>
          <p:nvPr/>
        </p:nvSpPr>
        <p:spPr>
          <a:xfrm>
            <a:off x="594360" y="4645080"/>
            <a:ext cx="5022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⑧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9" name="Text 44"/>
          <p:cNvSpPr/>
          <p:nvPr/>
        </p:nvSpPr>
        <p:spPr>
          <a:xfrm>
            <a:off x="1097280" y="4645080"/>
            <a:ext cx="137088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창문 안내문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0" name="Text 45"/>
          <p:cNvSpPr/>
          <p:nvPr/>
        </p:nvSpPr>
        <p:spPr>
          <a:xfrm>
            <a:off x="2468880" y="4645080"/>
            <a:ext cx="1690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왼쪽 벽면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1" name="Text 46"/>
          <p:cNvSpPr/>
          <p:nvPr/>
        </p:nvSpPr>
        <p:spPr>
          <a:xfrm>
            <a:off x="4160520" y="4645080"/>
            <a:ext cx="223956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안전 안내 팝업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2" name="Text 47"/>
          <p:cNvSpPr/>
          <p:nvPr/>
        </p:nvSpPr>
        <p:spPr>
          <a:xfrm>
            <a:off x="6400800" y="4645080"/>
            <a:ext cx="5119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활성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비저장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표현 기준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상태 안내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3" name="Text 48"/>
          <p:cNvSpPr/>
          <p:nvPr/>
        </p:nvSpPr>
        <p:spPr>
          <a:xfrm>
            <a:off x="594360" y="553212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Check Point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4" name="Text 49"/>
          <p:cNvSpPr/>
          <p:nvPr/>
        </p:nvSpPr>
        <p:spPr>
          <a:xfrm>
            <a:off x="594360" y="5843160"/>
            <a:ext cx="10972080" cy="255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□ 방이 평면 카드처럼 보이지 않도록 벽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바닥 경계선을 둔다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5" name="Text 50"/>
          <p:cNvSpPr/>
          <p:nvPr/>
        </p:nvSpPr>
        <p:spPr>
          <a:xfrm>
            <a:off x="594360" y="6117480"/>
            <a:ext cx="10972080" cy="255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□ 라벨은 번호와 명칭을 함께 표기한다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6" name="Text 51"/>
          <p:cNvSpPr/>
          <p:nvPr/>
        </p:nvSpPr>
        <p:spPr>
          <a:xfrm>
            <a:off x="594360" y="6391800"/>
            <a:ext cx="10972080" cy="255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□ 기능 미구현 영역도 사라지지 않고 잠금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준비중으로 남는다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7" name="PlaceHolder 1"/>
          <p:cNvSpPr>
            <a:spLocks noGrp="1"/>
          </p:cNvSpPr>
          <p:nvPr>
            <p:ph type="sldNum" idx="11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팝업 대시보드 공통 구조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9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각 팝업의 탭은 단순 메뉴가 아니라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기능 단위 상태를 확인하는 대시보드로 작동합니다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0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1" name="Text 3"/>
          <p:cNvSpPr/>
          <p:nvPr/>
        </p:nvSpPr>
        <p:spPr>
          <a:xfrm>
            <a:off x="594360" y="1051560"/>
            <a:ext cx="5897160" cy="236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일반 팝업 대시보드 기본 골격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2" name="Shape 4"/>
          <p:cNvSpPr/>
          <p:nvPr/>
        </p:nvSpPr>
        <p:spPr>
          <a:xfrm>
            <a:off x="594360" y="1289160"/>
            <a:ext cx="5897160" cy="4059360"/>
          </a:xfrm>
          <a:prstGeom prst="rect">
            <a:avLst/>
          </a:prstGeom>
          <a:solidFill>
            <a:srgbClr val="FBFBF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353" name="Text 5"/>
          <p:cNvSpPr/>
          <p:nvPr/>
        </p:nvSpPr>
        <p:spPr>
          <a:xfrm>
            <a:off x="704160" y="1408320"/>
            <a:ext cx="5677560" cy="291960"/>
          </a:xfrm>
          <a:prstGeom prst="rect">
            <a:avLst/>
          </a:prstGeom>
          <a:solidFill>
            <a:srgbClr val="F7F7F7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기본 화면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Dimmed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4" name="Text 6"/>
          <p:cNvSpPr/>
          <p:nvPr/>
        </p:nvSpPr>
        <p:spPr>
          <a:xfrm>
            <a:off x="704160" y="1764720"/>
            <a:ext cx="567756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팝업 헤더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제목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클릭 출처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닫기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(X)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5" name="Text 7"/>
          <p:cNvSpPr/>
          <p:nvPr/>
        </p:nvSpPr>
        <p:spPr>
          <a:xfrm>
            <a:off x="704160" y="2121480"/>
            <a:ext cx="5677560" cy="29196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 영역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 그룹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3~5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첫 탭 기본 활성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6" name="Text 8"/>
          <p:cNvSpPr/>
          <p:nvPr/>
        </p:nvSpPr>
        <p:spPr>
          <a:xfrm>
            <a:off x="704160" y="2477880"/>
            <a:ext cx="567756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상단 요약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KPI: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 수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최근 변경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준비중 여부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7" name="Text 9"/>
          <p:cNvSpPr/>
          <p:nvPr/>
        </p:nvSpPr>
        <p:spPr>
          <a:xfrm>
            <a:off x="704160" y="2834640"/>
            <a:ext cx="567756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본문 대시보드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목록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그래프형 자리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CTA,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 상태 문구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8" name="Text 10"/>
          <p:cNvSpPr/>
          <p:nvPr/>
        </p:nvSpPr>
        <p:spPr>
          <a:xfrm>
            <a:off x="704160" y="3191400"/>
            <a:ext cx="567756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하단 액션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보기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확인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9" name="Text 11"/>
          <p:cNvSpPr/>
          <p:nvPr/>
        </p:nvSpPr>
        <p:spPr>
          <a:xfrm>
            <a:off x="6812280" y="1051560"/>
            <a:ext cx="959400" cy="456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영역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0" name="Text 12"/>
          <p:cNvSpPr/>
          <p:nvPr/>
        </p:nvSpPr>
        <p:spPr>
          <a:xfrm>
            <a:off x="7772400" y="1051560"/>
            <a:ext cx="1919520" cy="456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구성 요소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1" name="Text 13"/>
          <p:cNvSpPr/>
          <p:nvPr/>
        </p:nvSpPr>
        <p:spPr>
          <a:xfrm>
            <a:off x="9692640" y="1051560"/>
            <a:ext cx="1873800" cy="456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구현 기준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2" name="Text 14"/>
          <p:cNvSpPr/>
          <p:nvPr/>
        </p:nvSpPr>
        <p:spPr>
          <a:xfrm>
            <a:off x="6812280" y="1508760"/>
            <a:ext cx="9594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3" name="Text 15"/>
          <p:cNvSpPr/>
          <p:nvPr/>
        </p:nvSpPr>
        <p:spPr>
          <a:xfrm>
            <a:off x="7772400" y="1508760"/>
            <a:ext cx="19195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탭명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활성 상태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잠금 배지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4" name="Text 16"/>
          <p:cNvSpPr/>
          <p:nvPr/>
        </p:nvSpPr>
        <p:spPr>
          <a:xfrm>
            <a:off x="9692640" y="1508760"/>
            <a:ext cx="18738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 변경 시 팝업을 닫지 않고 본문만 교체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5" name="Text 17"/>
          <p:cNvSpPr/>
          <p:nvPr/>
        </p:nvSpPr>
        <p:spPr>
          <a:xfrm>
            <a:off x="6812280" y="1965960"/>
            <a:ext cx="9594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요약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KPI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6" name="Text 18"/>
          <p:cNvSpPr/>
          <p:nvPr/>
        </p:nvSpPr>
        <p:spPr>
          <a:xfrm>
            <a:off x="7772400" y="1965960"/>
            <a:ext cx="19195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총 개수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최근 상태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다음 조건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7" name="Text 19"/>
          <p:cNvSpPr/>
          <p:nvPr/>
        </p:nvSpPr>
        <p:spPr>
          <a:xfrm>
            <a:off x="9692640" y="1965960"/>
            <a:ext cx="18738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숫자 또는 상태 문구로 즉시 확인 가능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8" name="Text 20"/>
          <p:cNvSpPr/>
          <p:nvPr/>
        </p:nvSpPr>
        <p:spPr>
          <a:xfrm>
            <a:off x="6812280" y="2423160"/>
            <a:ext cx="9594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본문 카드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9" name="Text 21"/>
          <p:cNvSpPr/>
          <p:nvPr/>
        </p:nvSpPr>
        <p:spPr>
          <a:xfrm>
            <a:off x="7772400" y="2423160"/>
            <a:ext cx="19195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기능별 카드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목록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미리보기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0" name="Text 22"/>
          <p:cNvSpPr/>
          <p:nvPr/>
        </p:nvSpPr>
        <p:spPr>
          <a:xfrm>
            <a:off x="9692640" y="2423160"/>
            <a:ext cx="18738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 상세로 진입하는 버튼 포함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1" name="Text 23"/>
          <p:cNvSpPr/>
          <p:nvPr/>
        </p:nvSpPr>
        <p:spPr>
          <a:xfrm>
            <a:off x="6812280" y="2880360"/>
            <a:ext cx="9594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2" name="Text 24"/>
          <p:cNvSpPr/>
          <p:nvPr/>
        </p:nvSpPr>
        <p:spPr>
          <a:xfrm>
            <a:off x="7772400" y="2880360"/>
            <a:ext cx="19195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데이터 없음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 부족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준비중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3" name="Text 25"/>
          <p:cNvSpPr/>
          <p:nvPr/>
        </p:nvSpPr>
        <p:spPr>
          <a:xfrm>
            <a:off x="9692640" y="2880360"/>
            <a:ext cx="18738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 공간 방지용 안내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+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 유도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CTA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4" name="Text 26"/>
          <p:cNvSpPr/>
          <p:nvPr/>
        </p:nvSpPr>
        <p:spPr>
          <a:xfrm>
            <a:off x="6812280" y="3337560"/>
            <a:ext cx="9594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오류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5" name="Text 27"/>
          <p:cNvSpPr/>
          <p:nvPr/>
        </p:nvSpPr>
        <p:spPr>
          <a:xfrm>
            <a:off x="7772400" y="3337560"/>
            <a:ext cx="19195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실패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실패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권한 없음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6" name="Text 28"/>
          <p:cNvSpPr/>
          <p:nvPr/>
        </p:nvSpPr>
        <p:spPr>
          <a:xfrm>
            <a:off x="9692640" y="3337560"/>
            <a:ext cx="187380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동일 팝업 내 토스트 또는 상태 메시지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7" name="Text 29"/>
          <p:cNvSpPr/>
          <p:nvPr/>
        </p:nvSpPr>
        <p:spPr>
          <a:xfrm>
            <a:off x="594360" y="557784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팝업 탭 대시보드 원칙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8" name="Text 30"/>
          <p:cNvSpPr/>
          <p:nvPr/>
        </p:nvSpPr>
        <p:spPr>
          <a:xfrm>
            <a:off x="594360" y="5870520"/>
            <a:ext cx="10972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사용자는 팝업을 열자마자 “무엇을 볼 수 있는지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지금 가능한지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다음에 무엇을 눌러야 하는지”를 한 화면에서 확인할 수 있어야 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9" name="PlaceHolder 1"/>
          <p:cNvSpPr>
            <a:spLocks noGrp="1"/>
          </p:cNvSpPr>
          <p:nvPr>
            <p:ph type="sldNum" idx="12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프로세스 플로우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1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화면 전환뿐 아니라 저장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분석 데이터의 흐름을 포함합니다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2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3" name="Text 3"/>
          <p:cNvSpPr/>
          <p:nvPr/>
        </p:nvSpPr>
        <p:spPr>
          <a:xfrm>
            <a:off x="685800" y="1097280"/>
            <a:ext cx="593640" cy="5022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Step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4" name="Text 4"/>
          <p:cNvSpPr/>
          <p:nvPr/>
        </p:nvSpPr>
        <p:spPr>
          <a:xfrm>
            <a:off x="1280160" y="1097280"/>
            <a:ext cx="1828080" cy="5022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Trigger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5" name="Text 5"/>
          <p:cNvSpPr/>
          <p:nvPr/>
        </p:nvSpPr>
        <p:spPr>
          <a:xfrm>
            <a:off x="3108960" y="1097280"/>
            <a:ext cx="6765840" cy="5022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System Logic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6" name="Text 6"/>
          <p:cNvSpPr/>
          <p:nvPr/>
        </p:nvSpPr>
        <p:spPr>
          <a:xfrm>
            <a:off x="9875520" y="1097280"/>
            <a:ext cx="1736640" cy="5022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Next Screen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7" name="Text 7"/>
          <p:cNvSpPr/>
          <p:nvPr/>
        </p:nvSpPr>
        <p:spPr>
          <a:xfrm>
            <a:off x="685800" y="1600200"/>
            <a:ext cx="5936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8" name="Text 8"/>
          <p:cNvSpPr/>
          <p:nvPr/>
        </p:nvSpPr>
        <p:spPr>
          <a:xfrm>
            <a:off x="1280160" y="1600200"/>
            <a:ext cx="182808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대화 종료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9" name="Text 9"/>
          <p:cNvSpPr/>
          <p:nvPr/>
        </p:nvSpPr>
        <p:spPr>
          <a:xfrm>
            <a:off x="3108960" y="1600200"/>
            <a:ext cx="67658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일일 결과카드 생성 가능 상태를 확인한다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시크릿챗은 저장 대상에서 제외한다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0" name="Text 10"/>
          <p:cNvSpPr/>
          <p:nvPr/>
        </p:nvSpPr>
        <p:spPr>
          <a:xfrm>
            <a:off x="9875520" y="1600200"/>
            <a:ext cx="17366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MY-R-000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1" name="Text 11"/>
          <p:cNvSpPr/>
          <p:nvPr/>
        </p:nvSpPr>
        <p:spPr>
          <a:xfrm>
            <a:off x="685800" y="2103120"/>
            <a:ext cx="5936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2" name="Text 12"/>
          <p:cNvSpPr/>
          <p:nvPr/>
        </p:nvSpPr>
        <p:spPr>
          <a:xfrm>
            <a:off x="1280160" y="2103120"/>
            <a:ext cx="182808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 진입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3" name="Text 13"/>
          <p:cNvSpPr/>
          <p:nvPr/>
        </p:nvSpPr>
        <p:spPr>
          <a:xfrm>
            <a:off x="3108960" y="2103120"/>
            <a:ext cx="67658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최근 마음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친밀도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도감 획득 상태를 조회한다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4" name="Text 14"/>
          <p:cNvSpPr/>
          <p:nvPr/>
        </p:nvSpPr>
        <p:spPr>
          <a:xfrm>
            <a:off x="9875520" y="2103120"/>
            <a:ext cx="17366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MY-R-000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5" name="Text 15"/>
          <p:cNvSpPr/>
          <p:nvPr/>
        </p:nvSpPr>
        <p:spPr>
          <a:xfrm>
            <a:off x="685800" y="2606040"/>
            <a:ext cx="5936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6" name="Text 16"/>
          <p:cNvSpPr/>
          <p:nvPr/>
        </p:nvSpPr>
        <p:spPr>
          <a:xfrm>
            <a:off x="1280160" y="2606040"/>
            <a:ext cx="182808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아티팩트 클릭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7" name="Text 17"/>
          <p:cNvSpPr/>
          <p:nvPr/>
        </p:nvSpPr>
        <p:spPr>
          <a:xfrm>
            <a:off x="3108960" y="2606040"/>
            <a:ext cx="67658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클릭 대상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ID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에 연결된 팝업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전체화면을 연다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8" name="Text 18"/>
          <p:cNvSpPr/>
          <p:nvPr/>
        </p:nvSpPr>
        <p:spPr>
          <a:xfrm>
            <a:off x="9875520" y="2606040"/>
            <a:ext cx="17366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MY-R-001~008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9" name="Text 19"/>
          <p:cNvSpPr/>
          <p:nvPr/>
        </p:nvSpPr>
        <p:spPr>
          <a:xfrm>
            <a:off x="685800" y="3108960"/>
            <a:ext cx="5936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4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0" name="Text 20"/>
          <p:cNvSpPr/>
          <p:nvPr/>
        </p:nvSpPr>
        <p:spPr>
          <a:xfrm>
            <a:off x="1280160" y="3108960"/>
            <a:ext cx="182808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팝업 탭 클릭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1" name="Text 21"/>
          <p:cNvSpPr/>
          <p:nvPr/>
        </p:nvSpPr>
        <p:spPr>
          <a:xfrm>
            <a:off x="3108960" y="3108960"/>
            <a:ext cx="67658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활성 탭 상태를 갱신하고 본문 대시보드만 교체한다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2" name="Text 22"/>
          <p:cNvSpPr/>
          <p:nvPr/>
        </p:nvSpPr>
        <p:spPr>
          <a:xfrm>
            <a:off x="9875520" y="3108960"/>
            <a:ext cx="17366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현재 팝업 유지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3" name="Text 23"/>
          <p:cNvSpPr/>
          <p:nvPr/>
        </p:nvSpPr>
        <p:spPr>
          <a:xfrm>
            <a:off x="685800" y="3611880"/>
            <a:ext cx="5936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5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4" name="Text 24"/>
          <p:cNvSpPr/>
          <p:nvPr/>
        </p:nvSpPr>
        <p:spPr>
          <a:xfrm>
            <a:off x="1280160" y="3611880"/>
            <a:ext cx="182808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변경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5" name="Text 25"/>
          <p:cNvSpPr/>
          <p:nvPr/>
        </p:nvSpPr>
        <p:spPr>
          <a:xfrm>
            <a:off x="3108960" y="3611880"/>
            <a:ext cx="67658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변경 성공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실패를 토스트로 안내하고 관련 화면 상태를 갱신한다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6" name="Text 26"/>
          <p:cNvSpPr/>
          <p:nvPr/>
        </p:nvSpPr>
        <p:spPr>
          <a:xfrm>
            <a:off x="9875520" y="3611880"/>
            <a:ext cx="17366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현재 화면 유지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7" name="Text 27"/>
          <p:cNvSpPr/>
          <p:nvPr/>
        </p:nvSpPr>
        <p:spPr>
          <a:xfrm>
            <a:off x="685800" y="4114800"/>
            <a:ext cx="5936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6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8" name="Text 28"/>
          <p:cNvSpPr/>
          <p:nvPr/>
        </p:nvSpPr>
        <p:spPr>
          <a:xfrm>
            <a:off x="1280160" y="4114800"/>
            <a:ext cx="182808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데이터 부족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 철회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9" name="Text 29"/>
          <p:cNvSpPr/>
          <p:nvPr/>
        </p:nvSpPr>
        <p:spPr>
          <a:xfrm>
            <a:off x="3108960" y="4114800"/>
            <a:ext cx="67658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분석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/AI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가 보는 나는 잠금 안내와 기록 유도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CTA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를 제공한다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0" name="Text 30"/>
          <p:cNvSpPr/>
          <p:nvPr/>
        </p:nvSpPr>
        <p:spPr>
          <a:xfrm>
            <a:off x="9875520" y="4114800"/>
            <a:ext cx="17366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MY-R-004/006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1" name="Text 31"/>
          <p:cNvSpPr/>
          <p:nvPr/>
        </p:nvSpPr>
        <p:spPr>
          <a:xfrm>
            <a:off x="685800" y="4645080"/>
            <a:ext cx="10789200" cy="236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Flow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요약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2" name="Shape 32"/>
          <p:cNvSpPr/>
          <p:nvPr/>
        </p:nvSpPr>
        <p:spPr>
          <a:xfrm>
            <a:off x="685800" y="4883040"/>
            <a:ext cx="10789200" cy="767520"/>
          </a:xfrm>
          <a:prstGeom prst="rect">
            <a:avLst/>
          </a:prstGeom>
          <a:solidFill>
            <a:srgbClr val="FBFBF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413" name="Text 33"/>
          <p:cNvSpPr/>
          <p:nvPr/>
        </p:nvSpPr>
        <p:spPr>
          <a:xfrm>
            <a:off x="795600" y="5001840"/>
            <a:ext cx="105696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대화 종료 → 카드 생성 가능 상태 → 방 진입 → 아티팩트 클릭 → 팝업 탭 대시보드 확인 → 상세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반영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4" name="Text 34"/>
          <p:cNvSpPr/>
          <p:nvPr/>
        </p:nvSpPr>
        <p:spPr>
          <a:xfrm>
            <a:off x="795600" y="5358240"/>
            <a:ext cx="105696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시크릿챗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 철회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데이터 부족은 저장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검색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분석 흐름에서 즉시 제외 또는 잠금 처리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5" name="PlaceHolder 1"/>
          <p:cNvSpPr>
            <a:spLocks noGrp="1"/>
          </p:cNvSpPr>
          <p:nvPr>
            <p:ph type="sldNum" idx="13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정책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7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저장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삭제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분석 표현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미구현 상태의 노출 기준을 정의합니다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8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9" name="Text 3"/>
          <p:cNvSpPr/>
          <p:nvPr/>
        </p:nvSpPr>
        <p:spPr>
          <a:xfrm>
            <a:off x="594360" y="1005840"/>
            <a:ext cx="1005120" cy="52956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대분류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0" name="Text 4"/>
          <p:cNvSpPr/>
          <p:nvPr/>
        </p:nvSpPr>
        <p:spPr>
          <a:xfrm>
            <a:off x="1600200" y="1005840"/>
            <a:ext cx="1553760" cy="52956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정책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1" name="Text 5"/>
          <p:cNvSpPr/>
          <p:nvPr/>
        </p:nvSpPr>
        <p:spPr>
          <a:xfrm>
            <a:off x="3154680" y="1005840"/>
            <a:ext cx="6628680" cy="52956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Description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2" name="Text 6"/>
          <p:cNvSpPr/>
          <p:nvPr/>
        </p:nvSpPr>
        <p:spPr>
          <a:xfrm>
            <a:off x="9784080" y="1005840"/>
            <a:ext cx="1828080" cy="52956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적용 화면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3" name="Text 7"/>
          <p:cNvSpPr/>
          <p:nvPr/>
        </p:nvSpPr>
        <p:spPr>
          <a:xfrm>
            <a:off x="594360" y="1536120"/>
            <a:ext cx="100512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4" name="Text 8"/>
          <p:cNvSpPr/>
          <p:nvPr/>
        </p:nvSpPr>
        <p:spPr>
          <a:xfrm>
            <a:off x="1600200" y="1536120"/>
            <a:ext cx="155376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시크릿챗 비저장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5" name="Text 9"/>
          <p:cNvSpPr/>
          <p:nvPr/>
        </p:nvSpPr>
        <p:spPr>
          <a:xfrm>
            <a:off x="3154680" y="1536120"/>
            <a:ext cx="662868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시크릿챗 대화는 기록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메모리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분석 근거에 저장하지 않는다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6" name="Text 10"/>
          <p:cNvSpPr/>
          <p:nvPr/>
        </p:nvSpPr>
        <p:spPr>
          <a:xfrm>
            <a:off x="9784080" y="1536120"/>
            <a:ext cx="182808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공통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7" name="Text 11"/>
          <p:cNvSpPr/>
          <p:nvPr/>
        </p:nvSpPr>
        <p:spPr>
          <a:xfrm>
            <a:off x="594360" y="2066400"/>
            <a:ext cx="100512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분석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8" name="Text 12"/>
          <p:cNvSpPr/>
          <p:nvPr/>
        </p:nvSpPr>
        <p:spPr>
          <a:xfrm>
            <a:off x="1600200" y="2066400"/>
            <a:ext cx="155376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완화 표현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9" name="Text 13"/>
          <p:cNvSpPr/>
          <p:nvPr/>
        </p:nvSpPr>
        <p:spPr>
          <a:xfrm>
            <a:off x="3154680" y="2066400"/>
            <a:ext cx="662868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점수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분류명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임상 판단처럼 보이는 표현을 사용하지 않는다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위로와 자기이해 문장으로만 제공한다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0" name="Text 14"/>
          <p:cNvSpPr/>
          <p:nvPr/>
        </p:nvSpPr>
        <p:spPr>
          <a:xfrm>
            <a:off x="9784080" y="2066400"/>
            <a:ext cx="182808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MY-R-006, 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1" name="Text 15"/>
          <p:cNvSpPr/>
          <p:nvPr/>
        </p:nvSpPr>
        <p:spPr>
          <a:xfrm>
            <a:off x="594360" y="2597040"/>
            <a:ext cx="100512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2" name="Text 16"/>
          <p:cNvSpPr/>
          <p:nvPr/>
        </p:nvSpPr>
        <p:spPr>
          <a:xfrm>
            <a:off x="1600200" y="2597040"/>
            <a:ext cx="155376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데이터 삭제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3" name="Text 17"/>
          <p:cNvSpPr/>
          <p:nvPr/>
        </p:nvSpPr>
        <p:spPr>
          <a:xfrm>
            <a:off x="3154680" y="2597040"/>
            <a:ext cx="662868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요청 시 확인 단계를 거치고 완료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실패 토스트를 제공한다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삭제된 기억은 다음 대화 활용 대상에서 제외한다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4" name="Text 18"/>
          <p:cNvSpPr/>
          <p:nvPr/>
        </p:nvSpPr>
        <p:spPr>
          <a:xfrm>
            <a:off x="9784080" y="2597040"/>
            <a:ext cx="182808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MY-R-005, MY-R-007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5" name="Text 19"/>
          <p:cNvSpPr/>
          <p:nvPr/>
        </p:nvSpPr>
        <p:spPr>
          <a:xfrm>
            <a:off x="594360" y="3127320"/>
            <a:ext cx="100512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6" name="Text 20"/>
          <p:cNvSpPr/>
          <p:nvPr/>
        </p:nvSpPr>
        <p:spPr>
          <a:xfrm>
            <a:off x="1600200" y="3127320"/>
            <a:ext cx="155376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 전 마스킹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7" name="Text 21"/>
          <p:cNvSpPr/>
          <p:nvPr/>
        </p:nvSpPr>
        <p:spPr>
          <a:xfrm>
            <a:off x="3154680" y="3127320"/>
            <a:ext cx="662868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결과카드 공유 전 이름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내용 수준을 공개 범위 설정에 따라 미리보기로 표시한다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8" name="Text 22"/>
          <p:cNvSpPr/>
          <p:nvPr/>
        </p:nvSpPr>
        <p:spPr>
          <a:xfrm>
            <a:off x="9784080" y="3127320"/>
            <a:ext cx="182808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MY-R-003, MY-R-007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9" name="Text 23"/>
          <p:cNvSpPr/>
          <p:nvPr/>
        </p:nvSpPr>
        <p:spPr>
          <a:xfrm>
            <a:off x="594360" y="3657600"/>
            <a:ext cx="100512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확장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0" name="Text 24"/>
          <p:cNvSpPr/>
          <p:nvPr/>
        </p:nvSpPr>
        <p:spPr>
          <a:xfrm>
            <a:off x="1600200" y="3657600"/>
            <a:ext cx="155376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준비중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잠금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1" name="Text 25"/>
          <p:cNvSpPr/>
          <p:nvPr/>
        </p:nvSpPr>
        <p:spPr>
          <a:xfrm>
            <a:off x="3154680" y="3657600"/>
            <a:ext cx="662868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MVP+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와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2P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기능은 숨기지 않고 방 아티팩트와 잠금 배지로 자연스럽게 표시한다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2" name="Text 26"/>
          <p:cNvSpPr/>
          <p:nvPr/>
        </p:nvSpPr>
        <p:spPr>
          <a:xfrm>
            <a:off x="9784080" y="3657600"/>
            <a:ext cx="1828080" cy="529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MY-R-004~006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3" name="Text 27"/>
          <p:cNvSpPr/>
          <p:nvPr/>
        </p:nvSpPr>
        <p:spPr>
          <a:xfrm>
            <a:off x="594360" y="466344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문구 원칙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4" name="Text 28"/>
          <p:cNvSpPr/>
          <p:nvPr/>
        </p:nvSpPr>
        <p:spPr>
          <a:xfrm>
            <a:off x="594360" y="4983480"/>
            <a:ext cx="10972080" cy="3283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사용자의 감정을 평가하거나 진단하지 않고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“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확인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선택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도움이 된 행동” 중심 문장으로 작성한다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5" name="Text 29"/>
          <p:cNvSpPr/>
          <p:nvPr/>
        </p:nvSpPr>
        <p:spPr>
          <a:xfrm>
            <a:off x="594360" y="548640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예외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에러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6" name="Text 30"/>
          <p:cNvSpPr/>
          <p:nvPr/>
        </p:nvSpPr>
        <p:spPr>
          <a:xfrm>
            <a:off x="594360" y="5806440"/>
            <a:ext cx="10972080" cy="3283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네트워크 실패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실패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권한 없음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데이터 부족은 동일 화면 내 토스트 또는 빈 상태 문구로 안내한다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7" name="PlaceHolder 1"/>
          <p:cNvSpPr>
            <a:spLocks noGrp="1"/>
          </p:cNvSpPr>
          <p:nvPr>
            <p:ph type="sldNum" idx="14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권한 설정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9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사용자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시스템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운영자의 접근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삭제 가능 범위를 구분합니다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0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1" name="Text 3"/>
          <p:cNvSpPr/>
          <p:nvPr/>
        </p:nvSpPr>
        <p:spPr>
          <a:xfrm>
            <a:off x="594360" y="1005840"/>
            <a:ext cx="959400" cy="47484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대분류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2" name="Text 4"/>
          <p:cNvSpPr/>
          <p:nvPr/>
        </p:nvSpPr>
        <p:spPr>
          <a:xfrm>
            <a:off x="1554480" y="1005840"/>
            <a:ext cx="1142280" cy="47484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주체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3" name="Text 5"/>
          <p:cNvSpPr/>
          <p:nvPr/>
        </p:nvSpPr>
        <p:spPr>
          <a:xfrm>
            <a:off x="2697480" y="1005840"/>
            <a:ext cx="730800" cy="47484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4" name="Text 6"/>
          <p:cNvSpPr/>
          <p:nvPr/>
        </p:nvSpPr>
        <p:spPr>
          <a:xfrm>
            <a:off x="3429000" y="1005840"/>
            <a:ext cx="1233720" cy="47484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5" name="Text 7"/>
          <p:cNvSpPr/>
          <p:nvPr/>
        </p:nvSpPr>
        <p:spPr>
          <a:xfrm>
            <a:off x="4663440" y="1005840"/>
            <a:ext cx="730800" cy="47484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6" name="Text 8"/>
          <p:cNvSpPr/>
          <p:nvPr/>
        </p:nvSpPr>
        <p:spPr>
          <a:xfrm>
            <a:off x="5394960" y="1005840"/>
            <a:ext cx="730800" cy="47484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7" name="Text 9"/>
          <p:cNvSpPr/>
          <p:nvPr/>
        </p:nvSpPr>
        <p:spPr>
          <a:xfrm>
            <a:off x="6126480" y="1005840"/>
            <a:ext cx="5257080" cy="47484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비고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8" name="Text 10"/>
          <p:cNvSpPr/>
          <p:nvPr/>
        </p:nvSpPr>
        <p:spPr>
          <a:xfrm>
            <a:off x="594360" y="1481400"/>
            <a:ext cx="9594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9" name="Text 11"/>
          <p:cNvSpPr/>
          <p:nvPr/>
        </p:nvSpPr>
        <p:spPr>
          <a:xfrm>
            <a:off x="1554480" y="1481400"/>
            <a:ext cx="11422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사용자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0" name="Text 12"/>
          <p:cNvSpPr/>
          <p:nvPr/>
        </p:nvSpPr>
        <p:spPr>
          <a:xfrm>
            <a:off x="2697480" y="148140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O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1" name="Text 13"/>
          <p:cNvSpPr/>
          <p:nvPr/>
        </p:nvSpPr>
        <p:spPr>
          <a:xfrm>
            <a:off x="3429000" y="1481400"/>
            <a:ext cx="123372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O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2" name="Text 14"/>
          <p:cNvSpPr/>
          <p:nvPr/>
        </p:nvSpPr>
        <p:spPr>
          <a:xfrm>
            <a:off x="4663440" y="148140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O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3" name="Text 15"/>
          <p:cNvSpPr/>
          <p:nvPr/>
        </p:nvSpPr>
        <p:spPr>
          <a:xfrm>
            <a:off x="5394960" y="148140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O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4" name="Text 16"/>
          <p:cNvSpPr/>
          <p:nvPr/>
        </p:nvSpPr>
        <p:spPr>
          <a:xfrm>
            <a:off x="6126480" y="1481400"/>
            <a:ext cx="52570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본인 데이터만 가능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5" name="Text 17"/>
          <p:cNvSpPr/>
          <p:nvPr/>
        </p:nvSpPr>
        <p:spPr>
          <a:xfrm>
            <a:off x="594360" y="1956960"/>
            <a:ext cx="9594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6" name="Text 18"/>
          <p:cNvSpPr/>
          <p:nvPr/>
        </p:nvSpPr>
        <p:spPr>
          <a:xfrm>
            <a:off x="1554480" y="1956960"/>
            <a:ext cx="11422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시스템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/AI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7" name="Text 19"/>
          <p:cNvSpPr/>
          <p:nvPr/>
        </p:nvSpPr>
        <p:spPr>
          <a:xfrm>
            <a:off x="2697480" y="195696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O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8" name="Text 20"/>
          <p:cNvSpPr/>
          <p:nvPr/>
        </p:nvSpPr>
        <p:spPr>
          <a:xfrm>
            <a:off x="3429000" y="1956960"/>
            <a:ext cx="123372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자동 생성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9" name="Text 21"/>
          <p:cNvSpPr/>
          <p:nvPr/>
        </p:nvSpPr>
        <p:spPr>
          <a:xfrm>
            <a:off x="4663440" y="195696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X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0" name="Text 22"/>
          <p:cNvSpPr/>
          <p:nvPr/>
        </p:nvSpPr>
        <p:spPr>
          <a:xfrm>
            <a:off x="5394960" y="195696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X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1" name="Text 23"/>
          <p:cNvSpPr/>
          <p:nvPr/>
        </p:nvSpPr>
        <p:spPr>
          <a:xfrm>
            <a:off x="6126480" y="1956960"/>
            <a:ext cx="52570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동의된 데이터만 분석 통계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근거 연결에 활용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2" name="Text 24"/>
          <p:cNvSpPr/>
          <p:nvPr/>
        </p:nvSpPr>
        <p:spPr>
          <a:xfrm>
            <a:off x="594360" y="2432160"/>
            <a:ext cx="9594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AI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3" name="Text 25"/>
          <p:cNvSpPr/>
          <p:nvPr/>
        </p:nvSpPr>
        <p:spPr>
          <a:xfrm>
            <a:off x="1554480" y="2432160"/>
            <a:ext cx="11422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사용자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4" name="Text 26"/>
          <p:cNvSpPr/>
          <p:nvPr/>
        </p:nvSpPr>
        <p:spPr>
          <a:xfrm>
            <a:off x="2697480" y="243216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O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5" name="Text 27"/>
          <p:cNvSpPr/>
          <p:nvPr/>
        </p:nvSpPr>
        <p:spPr>
          <a:xfrm>
            <a:off x="3429000" y="2432160"/>
            <a:ext cx="123372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유지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선택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6" name="Text 28"/>
          <p:cNvSpPr/>
          <p:nvPr/>
        </p:nvSpPr>
        <p:spPr>
          <a:xfrm>
            <a:off x="4663440" y="243216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O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7" name="Text 29"/>
          <p:cNvSpPr/>
          <p:nvPr/>
        </p:nvSpPr>
        <p:spPr>
          <a:xfrm>
            <a:off x="5394960" y="243216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X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8" name="Text 30"/>
          <p:cNvSpPr/>
          <p:nvPr/>
        </p:nvSpPr>
        <p:spPr>
          <a:xfrm>
            <a:off x="6126480" y="2432160"/>
            <a:ext cx="52570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개별 기억 단위 통제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9" name="Text 31"/>
          <p:cNvSpPr/>
          <p:nvPr/>
        </p:nvSpPr>
        <p:spPr>
          <a:xfrm>
            <a:off x="594360" y="2907720"/>
            <a:ext cx="9594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결과카드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0" name="Text 32"/>
          <p:cNvSpPr/>
          <p:nvPr/>
        </p:nvSpPr>
        <p:spPr>
          <a:xfrm>
            <a:off x="1554480" y="2907720"/>
            <a:ext cx="11422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사용자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1" name="Text 33"/>
          <p:cNvSpPr/>
          <p:nvPr/>
        </p:nvSpPr>
        <p:spPr>
          <a:xfrm>
            <a:off x="2697480" y="290772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O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2" name="Text 34"/>
          <p:cNvSpPr/>
          <p:nvPr/>
        </p:nvSpPr>
        <p:spPr>
          <a:xfrm>
            <a:off x="3429000" y="2907720"/>
            <a:ext cx="123372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 범위 수정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3" name="Text 35"/>
          <p:cNvSpPr/>
          <p:nvPr/>
        </p:nvSpPr>
        <p:spPr>
          <a:xfrm>
            <a:off x="4663440" y="290772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O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4" name="Text 36"/>
          <p:cNvSpPr/>
          <p:nvPr/>
        </p:nvSpPr>
        <p:spPr>
          <a:xfrm>
            <a:off x="5394960" y="290772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O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5" name="Text 37"/>
          <p:cNvSpPr/>
          <p:nvPr/>
        </p:nvSpPr>
        <p:spPr>
          <a:xfrm>
            <a:off x="6126480" y="2907720"/>
            <a:ext cx="52570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 전 마스킹 미리보기 필수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6" name="Text 38"/>
          <p:cNvSpPr/>
          <p:nvPr/>
        </p:nvSpPr>
        <p:spPr>
          <a:xfrm>
            <a:off x="594360" y="3383280"/>
            <a:ext cx="9594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시크릿챗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7" name="Text 39"/>
          <p:cNvSpPr/>
          <p:nvPr/>
        </p:nvSpPr>
        <p:spPr>
          <a:xfrm>
            <a:off x="1554480" y="3383280"/>
            <a:ext cx="11422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시스템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/AI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8" name="Text 40"/>
          <p:cNvSpPr/>
          <p:nvPr/>
        </p:nvSpPr>
        <p:spPr>
          <a:xfrm>
            <a:off x="2697480" y="338328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X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9" name="Text 41"/>
          <p:cNvSpPr/>
          <p:nvPr/>
        </p:nvSpPr>
        <p:spPr>
          <a:xfrm>
            <a:off x="3429000" y="3383280"/>
            <a:ext cx="123372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X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0" name="Text 42"/>
          <p:cNvSpPr/>
          <p:nvPr/>
        </p:nvSpPr>
        <p:spPr>
          <a:xfrm>
            <a:off x="4663440" y="338328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X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1" name="Text 43"/>
          <p:cNvSpPr/>
          <p:nvPr/>
        </p:nvSpPr>
        <p:spPr>
          <a:xfrm>
            <a:off x="5394960" y="338328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X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2" name="Text 44"/>
          <p:cNvSpPr/>
          <p:nvPr/>
        </p:nvSpPr>
        <p:spPr>
          <a:xfrm>
            <a:off x="6126480" y="3383280"/>
            <a:ext cx="52570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메모리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분석 근거 제외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3" name="Text 45"/>
          <p:cNvSpPr/>
          <p:nvPr/>
        </p:nvSpPr>
        <p:spPr>
          <a:xfrm>
            <a:off x="594360" y="3858840"/>
            <a:ext cx="9594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운영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4" name="Text 46"/>
          <p:cNvSpPr/>
          <p:nvPr/>
        </p:nvSpPr>
        <p:spPr>
          <a:xfrm>
            <a:off x="1554480" y="3858840"/>
            <a:ext cx="11422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관리자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5" name="Text 47"/>
          <p:cNvSpPr/>
          <p:nvPr/>
        </p:nvSpPr>
        <p:spPr>
          <a:xfrm>
            <a:off x="2697480" y="385884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제한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6" name="Text 48"/>
          <p:cNvSpPr/>
          <p:nvPr/>
        </p:nvSpPr>
        <p:spPr>
          <a:xfrm>
            <a:off x="3429000" y="3858840"/>
            <a:ext cx="123372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X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7" name="Text 49"/>
          <p:cNvSpPr/>
          <p:nvPr/>
        </p:nvSpPr>
        <p:spPr>
          <a:xfrm>
            <a:off x="4663440" y="385884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정책 범위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8" name="Text 50"/>
          <p:cNvSpPr/>
          <p:nvPr/>
        </p:nvSpPr>
        <p:spPr>
          <a:xfrm>
            <a:off x="5394960" y="3858840"/>
            <a:ext cx="73080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X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9" name="Text 51"/>
          <p:cNvSpPr/>
          <p:nvPr/>
        </p:nvSpPr>
        <p:spPr>
          <a:xfrm>
            <a:off x="6126480" y="3858840"/>
            <a:ext cx="5257080" cy="47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개인 기록 내용 직접 조회 불가 원칙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0" name="Text 52"/>
          <p:cNvSpPr/>
          <p:nvPr/>
        </p:nvSpPr>
        <p:spPr>
          <a:xfrm>
            <a:off x="594360" y="4846320"/>
            <a:ext cx="1233720" cy="41076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필수 확인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1" name="Text 53"/>
          <p:cNvSpPr/>
          <p:nvPr/>
        </p:nvSpPr>
        <p:spPr>
          <a:xfrm>
            <a:off x="1828800" y="4846320"/>
            <a:ext cx="9737640" cy="41076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7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시크릿챗 기본값</a:t>
            </a:r>
            <a:r>
              <a:rPr lang="en-US" sz="87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ML/RAG </a:t>
            </a:r>
            <a:r>
              <a:rPr lang="ko-KR" sz="87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활용 동의</a:t>
            </a:r>
            <a:r>
              <a:rPr lang="en-US" sz="87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7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 범위</a:t>
            </a:r>
            <a:r>
              <a:rPr lang="en-US" sz="87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7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계정 삭제는 사용자가 직접 확인</a:t>
            </a:r>
            <a:r>
              <a:rPr lang="en-US" sz="87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87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변경할 수 있어야 한다</a:t>
            </a:r>
            <a:r>
              <a:rPr lang="en-US" sz="87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2" name="Text 54"/>
          <p:cNvSpPr/>
          <p:nvPr/>
        </p:nvSpPr>
        <p:spPr>
          <a:xfrm>
            <a:off x="594360" y="5257800"/>
            <a:ext cx="1233720" cy="410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권한 충돌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3" name="Text 55"/>
          <p:cNvSpPr/>
          <p:nvPr/>
        </p:nvSpPr>
        <p:spPr>
          <a:xfrm>
            <a:off x="1828800" y="5257800"/>
            <a:ext cx="9737640" cy="410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사용자 삭제 요청이 있으면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AI </a:t>
            </a: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활용보다 삭제 정책이 우선한다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4" name="PlaceHolder 1"/>
          <p:cNvSpPr>
            <a:spLocks noGrp="1"/>
          </p:cNvSpPr>
          <p:nvPr>
            <p:ph type="sldNum" idx="15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MY-R-001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일기장 팝업</a:t>
            </a: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요약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6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아티팩트 클릭 → 대시보드형 팝업 탭 진입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기능 탭 선택 시 기능상세페이지 탭으로 이동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+ 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7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8" name="Text 3"/>
          <p:cNvSpPr/>
          <p:nvPr/>
        </p:nvSpPr>
        <p:spPr>
          <a:xfrm>
            <a:off x="502920" y="914400"/>
            <a:ext cx="8406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Page Title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9" name="Text 4"/>
          <p:cNvSpPr/>
          <p:nvPr/>
        </p:nvSpPr>
        <p:spPr>
          <a:xfrm>
            <a:off x="1344240" y="914400"/>
            <a:ext cx="214812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MY-R-001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일기장 팝업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요약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0" name="Text 5"/>
          <p:cNvSpPr/>
          <p:nvPr/>
        </p:nvSpPr>
        <p:spPr>
          <a:xfrm>
            <a:off x="3493080" y="914400"/>
            <a:ext cx="7491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1" name="Text 6"/>
          <p:cNvSpPr/>
          <p:nvPr/>
        </p:nvSpPr>
        <p:spPr>
          <a:xfrm>
            <a:off x="4242960" y="914400"/>
            <a:ext cx="14166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2" name="Text 7"/>
          <p:cNvSpPr/>
          <p:nvPr/>
        </p:nvSpPr>
        <p:spPr>
          <a:xfrm>
            <a:off x="5660280" y="914400"/>
            <a:ext cx="8679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Path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3" name="Text 8"/>
          <p:cNvSpPr/>
          <p:nvPr/>
        </p:nvSpPr>
        <p:spPr>
          <a:xfrm>
            <a:off x="6528960" y="914400"/>
            <a:ext cx="274248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&gt;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기본 화면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&gt;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일기장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4" name="Text 9"/>
          <p:cNvSpPr/>
          <p:nvPr/>
        </p:nvSpPr>
        <p:spPr>
          <a:xfrm>
            <a:off x="9272160" y="914400"/>
            <a:ext cx="71244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Version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5" name="Text 10"/>
          <p:cNvSpPr/>
          <p:nvPr/>
        </p:nvSpPr>
        <p:spPr>
          <a:xfrm>
            <a:off x="9985320" y="914400"/>
            <a:ext cx="6393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v0.9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6" name="Text 11"/>
          <p:cNvSpPr/>
          <p:nvPr/>
        </p:nvSpPr>
        <p:spPr>
          <a:xfrm>
            <a:off x="10625400" y="914400"/>
            <a:ext cx="45648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Type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7" name="Text 12"/>
          <p:cNvSpPr/>
          <p:nvPr/>
        </p:nvSpPr>
        <p:spPr>
          <a:xfrm>
            <a:off x="11082600" y="914400"/>
            <a:ext cx="5022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8" name="Text 13"/>
          <p:cNvSpPr/>
          <p:nvPr/>
        </p:nvSpPr>
        <p:spPr>
          <a:xfrm>
            <a:off x="594360" y="1417320"/>
            <a:ext cx="6308640" cy="27360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MY-R-001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일기장 팝업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요약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9" name="Text 14"/>
          <p:cNvSpPr/>
          <p:nvPr/>
        </p:nvSpPr>
        <p:spPr>
          <a:xfrm>
            <a:off x="594360" y="1746360"/>
            <a:ext cx="203544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요약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0" name="Text 15"/>
          <p:cNvSpPr/>
          <p:nvPr/>
        </p:nvSpPr>
        <p:spPr>
          <a:xfrm>
            <a:off x="2648880" y="1746360"/>
            <a:ext cx="203544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친밀도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1" name="Text 16"/>
          <p:cNvSpPr/>
          <p:nvPr/>
        </p:nvSpPr>
        <p:spPr>
          <a:xfrm>
            <a:off x="4703040" y="1746360"/>
            <a:ext cx="203544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2" name="Text 17"/>
          <p:cNvSpPr/>
          <p:nvPr/>
        </p:nvSpPr>
        <p:spPr>
          <a:xfrm>
            <a:off x="594360" y="213984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캐릭터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현재 대표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+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감정 톤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3" name="Text 18"/>
          <p:cNvSpPr/>
          <p:nvPr/>
        </p:nvSpPr>
        <p:spPr>
          <a:xfrm>
            <a:off x="3794760" y="213984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친밀도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Lv.3 /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다음 변화까지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4" name="Text 19"/>
          <p:cNvSpPr/>
          <p:nvPr/>
        </p:nvSpPr>
        <p:spPr>
          <a:xfrm>
            <a:off x="594360" y="285300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최근 마음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잔잔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카드 생성 가능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5" name="Text 20"/>
          <p:cNvSpPr/>
          <p:nvPr/>
        </p:nvSpPr>
        <p:spPr>
          <a:xfrm>
            <a:off x="3794760" y="285300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24 /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연속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5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6" name="Text 21"/>
          <p:cNvSpPr/>
          <p:nvPr/>
        </p:nvSpPr>
        <p:spPr>
          <a:xfrm>
            <a:off x="594360" y="3566160"/>
            <a:ext cx="3108240" cy="621000"/>
          </a:xfrm>
          <a:prstGeom prst="rect">
            <a:avLst/>
          </a:prstGeom>
          <a:solidFill>
            <a:srgbClr val="F8F8F8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CTA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카드 생성하기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7" name="Text 22"/>
          <p:cNvSpPr/>
          <p:nvPr/>
        </p:nvSpPr>
        <p:spPr>
          <a:xfrm>
            <a:off x="3794760" y="3566160"/>
            <a:ext cx="3108240" cy="621000"/>
          </a:xfrm>
          <a:prstGeom prst="rect">
            <a:avLst/>
          </a:prstGeom>
          <a:solidFill>
            <a:srgbClr val="F8F8F8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준비중 선반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AI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분석 잠금 배지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8" name="Shape 23"/>
          <p:cNvSpPr/>
          <p:nvPr/>
        </p:nvSpPr>
        <p:spPr>
          <a:xfrm>
            <a:off x="594360" y="1417320"/>
            <a:ext cx="6308640" cy="4251240"/>
          </a:xfrm>
          <a:prstGeom prst="rect">
            <a:avLst/>
          </a:prstGeom>
          <a:noFill/>
          <a:ln w="1016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529" name="Text 24"/>
          <p:cNvSpPr/>
          <p:nvPr/>
        </p:nvSpPr>
        <p:spPr>
          <a:xfrm>
            <a:off x="7223760" y="1417320"/>
            <a:ext cx="447984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Description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0" name="Text 25"/>
          <p:cNvSpPr/>
          <p:nvPr/>
        </p:nvSpPr>
        <p:spPr>
          <a:xfrm>
            <a:off x="7223760" y="1691640"/>
            <a:ext cx="34668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No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1" name="Text 26"/>
          <p:cNvSpPr/>
          <p:nvPr/>
        </p:nvSpPr>
        <p:spPr>
          <a:xfrm>
            <a:off x="7571160" y="1691640"/>
            <a:ext cx="306252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동작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2" name="Text 27"/>
          <p:cNvSpPr/>
          <p:nvPr/>
        </p:nvSpPr>
        <p:spPr>
          <a:xfrm>
            <a:off x="10634400" y="1691640"/>
            <a:ext cx="106920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Check Point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3" name="Text 28"/>
          <p:cNvSpPr/>
          <p:nvPr/>
        </p:nvSpPr>
        <p:spPr>
          <a:xfrm>
            <a:off x="7223760" y="208476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4" name="Text 29"/>
          <p:cNvSpPr/>
          <p:nvPr/>
        </p:nvSpPr>
        <p:spPr>
          <a:xfrm>
            <a:off x="7571160" y="208476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책상 위 일기장 클릭 시 오늘 요약 팝업을 연다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5" name="Text 30"/>
          <p:cNvSpPr/>
          <p:nvPr/>
        </p:nvSpPr>
        <p:spPr>
          <a:xfrm>
            <a:off x="10634400" y="208476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연결 대상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일기장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6" name="Text 31"/>
          <p:cNvSpPr/>
          <p:nvPr/>
        </p:nvSpPr>
        <p:spPr>
          <a:xfrm>
            <a:off x="7223760" y="247788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7" name="Text 32"/>
          <p:cNvSpPr/>
          <p:nvPr/>
        </p:nvSpPr>
        <p:spPr>
          <a:xfrm>
            <a:off x="7571160" y="247788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캐릭터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친밀도 레벨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다음 변화 조건을 표시한다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8" name="Text 33"/>
          <p:cNvSpPr/>
          <p:nvPr/>
        </p:nvSpPr>
        <p:spPr>
          <a:xfrm>
            <a:off x="10634400" y="247788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P01/P03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9" name="Text 34"/>
          <p:cNvSpPr/>
          <p:nvPr/>
        </p:nvSpPr>
        <p:spPr>
          <a:xfrm>
            <a:off x="7223760" y="287136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0" name="Text 35"/>
          <p:cNvSpPr/>
          <p:nvPr/>
        </p:nvSpPr>
        <p:spPr>
          <a:xfrm>
            <a:off x="7571160" y="287136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최근 마음과 오늘 카드 생성 상태를 표시한다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카드가 없으면 대화 후 열림 문구를 제공한다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1" name="Text 36"/>
          <p:cNvSpPr/>
          <p:nvPr/>
        </p:nvSpPr>
        <p:spPr>
          <a:xfrm>
            <a:off x="10634400" y="287136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 상태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2" name="Text 37"/>
          <p:cNvSpPr/>
          <p:nvPr/>
        </p:nvSpPr>
        <p:spPr>
          <a:xfrm>
            <a:off x="7223760" y="326448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3" name="Text 38"/>
          <p:cNvSpPr/>
          <p:nvPr/>
        </p:nvSpPr>
        <p:spPr>
          <a:xfrm>
            <a:off x="7571160" y="326448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방문 수와 연속 방문일을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KPI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로 표시하고 상세 탭에서 확인한다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4" name="Text 39"/>
          <p:cNvSpPr/>
          <p:nvPr/>
        </p:nvSpPr>
        <p:spPr>
          <a:xfrm>
            <a:off x="10634400" y="326448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P02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5" name="Text 40"/>
          <p:cNvSpPr/>
          <p:nvPr/>
        </p:nvSpPr>
        <p:spPr>
          <a:xfrm>
            <a:off x="7223760" y="365760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6" name="Text 41"/>
          <p:cNvSpPr/>
          <p:nvPr/>
        </p:nvSpPr>
        <p:spPr>
          <a:xfrm>
            <a:off x="7571160" y="365760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후속 기능은 잠금 배지와 선반으로 노출한다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7" name="Text 42"/>
          <p:cNvSpPr/>
          <p:nvPr/>
        </p:nvSpPr>
        <p:spPr>
          <a:xfrm>
            <a:off x="10634400" y="365760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MVP+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자연 배치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8" name="Text 43"/>
          <p:cNvSpPr/>
          <p:nvPr/>
        </p:nvSpPr>
        <p:spPr>
          <a:xfrm>
            <a:off x="594360" y="548640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Tab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설계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9" name="Text 44"/>
          <p:cNvSpPr/>
          <p:nvPr/>
        </p:nvSpPr>
        <p:spPr>
          <a:xfrm>
            <a:off x="594360" y="5760720"/>
            <a:ext cx="132516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0" name="Text 45"/>
          <p:cNvSpPr/>
          <p:nvPr/>
        </p:nvSpPr>
        <p:spPr>
          <a:xfrm>
            <a:off x="1920240" y="5760720"/>
            <a:ext cx="356544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주요 요소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1" name="Text 46"/>
          <p:cNvSpPr/>
          <p:nvPr/>
        </p:nvSpPr>
        <p:spPr>
          <a:xfrm>
            <a:off x="5486400" y="5760720"/>
            <a:ext cx="356544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2" name="Text 47"/>
          <p:cNvSpPr/>
          <p:nvPr/>
        </p:nvSpPr>
        <p:spPr>
          <a:xfrm>
            <a:off x="9052560" y="5760720"/>
            <a:ext cx="251388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오류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3" name="Text 48"/>
          <p:cNvSpPr/>
          <p:nvPr/>
        </p:nvSpPr>
        <p:spPr>
          <a:xfrm>
            <a:off x="594360" y="598032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요약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4" name="Text 49"/>
          <p:cNvSpPr/>
          <p:nvPr/>
        </p:nvSpPr>
        <p:spPr>
          <a:xfrm>
            <a:off x="1920240" y="598032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캐릭터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최근 마음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카드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CTA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5" name="Text 50"/>
          <p:cNvSpPr/>
          <p:nvPr/>
        </p:nvSpPr>
        <p:spPr>
          <a:xfrm>
            <a:off x="5486400" y="598032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CTA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클릭 시 결과카드 생성 플로우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6" name="Text 51"/>
          <p:cNvSpPr/>
          <p:nvPr/>
        </p:nvSpPr>
        <p:spPr>
          <a:xfrm>
            <a:off x="9052560" y="598032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 없음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대화 후 열림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7" name="Text 52"/>
          <p:cNvSpPr/>
          <p:nvPr/>
        </p:nvSpPr>
        <p:spPr>
          <a:xfrm>
            <a:off x="594360" y="619956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친밀도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8" name="Text 53"/>
          <p:cNvSpPr/>
          <p:nvPr/>
        </p:nvSpPr>
        <p:spPr>
          <a:xfrm>
            <a:off x="1920240" y="61995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레벨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게이지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다음 조건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변화 히스토리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9" name="Text 54"/>
          <p:cNvSpPr/>
          <p:nvPr/>
        </p:nvSpPr>
        <p:spPr>
          <a:xfrm>
            <a:off x="5486400" y="61995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게이지 상세 펼침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0" name="Text 55"/>
          <p:cNvSpPr/>
          <p:nvPr/>
        </p:nvSpPr>
        <p:spPr>
          <a:xfrm>
            <a:off x="9052560" y="619956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데이터 부족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누적 대화 후 반영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1" name="Text 56"/>
          <p:cNvSpPr/>
          <p:nvPr/>
        </p:nvSpPr>
        <p:spPr>
          <a:xfrm>
            <a:off x="594360" y="641916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2" name="Text 57"/>
          <p:cNvSpPr/>
          <p:nvPr/>
        </p:nvSpPr>
        <p:spPr>
          <a:xfrm>
            <a:off x="1920240" y="64191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방문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연속 방문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최근 재방문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3" name="Text 58"/>
          <p:cNvSpPr/>
          <p:nvPr/>
        </p:nvSpPr>
        <p:spPr>
          <a:xfrm>
            <a:off x="5486400" y="64191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기간 토글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자세히 보기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4" name="Text 59"/>
          <p:cNvSpPr/>
          <p:nvPr/>
        </p:nvSpPr>
        <p:spPr>
          <a:xfrm>
            <a:off x="9052560" y="641916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방문 기록 없음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첫 방문 안내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5" name="PlaceHolder 1"/>
          <p:cNvSpPr>
            <a:spLocks noGrp="1"/>
          </p:cNvSpPr>
          <p:nvPr>
            <p:ph type="sldNum" idx="16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MY-R-D-001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일기장 기능별 상세 화면설계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7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MY-R-001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에 포함된 대시보드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방문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친밀도 기능의 화면 요소와 상태를 구체화합니다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8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9" name="Text 3"/>
          <p:cNvSpPr/>
          <p:nvPr/>
        </p:nvSpPr>
        <p:spPr>
          <a:xfrm>
            <a:off x="594360" y="96012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요구사항별 상세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0" name="Text 4"/>
          <p:cNvSpPr/>
          <p:nvPr/>
        </p:nvSpPr>
        <p:spPr>
          <a:xfrm>
            <a:off x="594360" y="1234440"/>
            <a:ext cx="68508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1" name="Text 5"/>
          <p:cNvSpPr/>
          <p:nvPr/>
        </p:nvSpPr>
        <p:spPr>
          <a:xfrm>
            <a:off x="1280160" y="1234440"/>
            <a:ext cx="132516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2" name="Text 6"/>
          <p:cNvSpPr/>
          <p:nvPr/>
        </p:nvSpPr>
        <p:spPr>
          <a:xfrm>
            <a:off x="2606040" y="1234440"/>
            <a:ext cx="182808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화면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3" name="Text 7"/>
          <p:cNvSpPr/>
          <p:nvPr/>
        </p:nvSpPr>
        <p:spPr>
          <a:xfrm>
            <a:off x="4434840" y="1234440"/>
            <a:ext cx="265104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화면 요소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4" name="Text 8"/>
          <p:cNvSpPr/>
          <p:nvPr/>
        </p:nvSpPr>
        <p:spPr>
          <a:xfrm>
            <a:off x="7086600" y="1234440"/>
            <a:ext cx="201096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상호작용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5" name="Text 9"/>
          <p:cNvSpPr/>
          <p:nvPr/>
        </p:nvSpPr>
        <p:spPr>
          <a:xfrm>
            <a:off x="9098280" y="1234440"/>
            <a:ext cx="100512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우선순위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6" name="Text 10"/>
          <p:cNvSpPr/>
          <p:nvPr/>
        </p:nvSpPr>
        <p:spPr>
          <a:xfrm>
            <a:off x="594360" y="154548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P01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7" name="Text 11"/>
          <p:cNvSpPr/>
          <p:nvPr/>
        </p:nvSpPr>
        <p:spPr>
          <a:xfrm>
            <a:off x="1280160" y="154548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 대시보드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8" name="Text 12"/>
          <p:cNvSpPr/>
          <p:nvPr/>
        </p:nvSpPr>
        <p:spPr>
          <a:xfrm>
            <a:off x="2606040" y="154548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MY-R-001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요약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9" name="Text 13"/>
          <p:cNvSpPr/>
          <p:nvPr/>
        </p:nvSpPr>
        <p:spPr>
          <a:xfrm>
            <a:off x="4434840" y="154548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캐릭터 카드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최근 마음 카드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카드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CTA,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준비중 선반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0" name="Text 14"/>
          <p:cNvSpPr/>
          <p:nvPr/>
        </p:nvSpPr>
        <p:spPr>
          <a:xfrm>
            <a:off x="7086600" y="154548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대화 종료 후 상태 갱신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 없으면 빈 상태 문구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1" name="Text 15"/>
          <p:cNvSpPr/>
          <p:nvPr/>
        </p:nvSpPr>
        <p:spPr>
          <a:xfrm>
            <a:off x="9098280" y="154548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2" name="Text 16"/>
          <p:cNvSpPr/>
          <p:nvPr/>
        </p:nvSpPr>
        <p:spPr>
          <a:xfrm>
            <a:off x="594360" y="185616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P02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3" name="Text 17"/>
          <p:cNvSpPr/>
          <p:nvPr/>
        </p:nvSpPr>
        <p:spPr>
          <a:xfrm>
            <a:off x="1280160" y="185616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연속기록 요약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4" name="Text 18"/>
          <p:cNvSpPr/>
          <p:nvPr/>
        </p:nvSpPr>
        <p:spPr>
          <a:xfrm>
            <a:off x="2606040" y="185616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MY-R-001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5" name="Text 19"/>
          <p:cNvSpPr/>
          <p:nvPr/>
        </p:nvSpPr>
        <p:spPr>
          <a:xfrm>
            <a:off x="4434840" y="185616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방문 수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연속 방문일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최근 재방문 일자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재방문 배지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6" name="Text 20"/>
          <p:cNvSpPr/>
          <p:nvPr/>
        </p:nvSpPr>
        <p:spPr>
          <a:xfrm>
            <a:off x="7086600" y="185616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방문 탭 클릭 시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KPI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 없음은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0/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첫 방문 안내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7" name="Text 21"/>
          <p:cNvSpPr/>
          <p:nvPr/>
        </p:nvSpPr>
        <p:spPr>
          <a:xfrm>
            <a:off x="9098280" y="185616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8" name="Text 22"/>
          <p:cNvSpPr/>
          <p:nvPr/>
        </p:nvSpPr>
        <p:spPr>
          <a:xfrm>
            <a:off x="594360" y="216720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9" name="Text 23"/>
          <p:cNvSpPr/>
          <p:nvPr/>
        </p:nvSpPr>
        <p:spPr>
          <a:xfrm>
            <a:off x="1280160" y="216720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캐릭터 친밀도 게이지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0" name="Text 24"/>
          <p:cNvSpPr/>
          <p:nvPr/>
        </p:nvSpPr>
        <p:spPr>
          <a:xfrm>
            <a:off x="2606040" y="216720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MY-R-001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친밀도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1" name="Text 25"/>
          <p:cNvSpPr/>
          <p:nvPr/>
        </p:nvSpPr>
        <p:spPr>
          <a:xfrm>
            <a:off x="4434840" y="216720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Lv,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게이지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%,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다음 변화 조건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변화 조건 안내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2" name="Text 26"/>
          <p:cNvSpPr/>
          <p:nvPr/>
        </p:nvSpPr>
        <p:spPr>
          <a:xfrm>
            <a:off x="7086600" y="216720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대화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방문 조건 달성 시 레벨 갱신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과도한 경쟁 표현 금지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3" name="Text 27"/>
          <p:cNvSpPr/>
          <p:nvPr/>
        </p:nvSpPr>
        <p:spPr>
          <a:xfrm>
            <a:off x="9098280" y="216720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4" name="Text 28"/>
          <p:cNvSpPr/>
          <p:nvPr/>
        </p:nvSpPr>
        <p:spPr>
          <a:xfrm>
            <a:off x="594360" y="3063240"/>
            <a:ext cx="5302800" cy="236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Wireframe: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친밀도 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5" name="Shape 29"/>
          <p:cNvSpPr/>
          <p:nvPr/>
        </p:nvSpPr>
        <p:spPr>
          <a:xfrm>
            <a:off x="594360" y="3300840"/>
            <a:ext cx="5302800" cy="2139120"/>
          </a:xfrm>
          <a:prstGeom prst="rect">
            <a:avLst/>
          </a:prstGeom>
          <a:solidFill>
            <a:srgbClr val="FBFBF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596" name="Text 30"/>
          <p:cNvSpPr/>
          <p:nvPr/>
        </p:nvSpPr>
        <p:spPr>
          <a:xfrm>
            <a:off x="704160" y="3420000"/>
            <a:ext cx="5083200" cy="29196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상단 탭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요약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친밀도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(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활성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)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7" name="Text 31"/>
          <p:cNvSpPr/>
          <p:nvPr/>
        </p:nvSpPr>
        <p:spPr>
          <a:xfrm>
            <a:off x="704160" y="377640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Lv.3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게이지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70%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8" name="Text 32"/>
          <p:cNvSpPr/>
          <p:nvPr/>
        </p:nvSpPr>
        <p:spPr>
          <a:xfrm>
            <a:off x="704160" y="41331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다음 변화 조건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대화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회 또는 연속 방문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9" name="Text 33"/>
          <p:cNvSpPr/>
          <p:nvPr/>
        </p:nvSpPr>
        <p:spPr>
          <a:xfrm>
            <a:off x="704160" y="44895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최근 변화 이력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변화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근거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0" name="Text 34"/>
          <p:cNvSpPr/>
          <p:nvPr/>
        </p:nvSpPr>
        <p:spPr>
          <a:xfrm>
            <a:off x="6263640" y="3063240"/>
            <a:ext cx="5302800" cy="236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Wireframe: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방문 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1" name="Shape 35"/>
          <p:cNvSpPr/>
          <p:nvPr/>
        </p:nvSpPr>
        <p:spPr>
          <a:xfrm>
            <a:off x="6263640" y="3300840"/>
            <a:ext cx="5302800" cy="2139120"/>
          </a:xfrm>
          <a:prstGeom prst="rect">
            <a:avLst/>
          </a:prstGeom>
          <a:solidFill>
            <a:srgbClr val="FBFBF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602" name="Text 36"/>
          <p:cNvSpPr/>
          <p:nvPr/>
        </p:nvSpPr>
        <p:spPr>
          <a:xfrm>
            <a:off x="6373440" y="3420000"/>
            <a:ext cx="5083200" cy="29196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상단 탭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요약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친밀도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(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활성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3" name="Text 37"/>
          <p:cNvSpPr/>
          <p:nvPr/>
        </p:nvSpPr>
        <p:spPr>
          <a:xfrm>
            <a:off x="6373440" y="377640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KPI: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방문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24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연속 방문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5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4" name="Text 38"/>
          <p:cNvSpPr/>
          <p:nvPr/>
        </p:nvSpPr>
        <p:spPr>
          <a:xfrm>
            <a:off x="6373440" y="41331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최근 재방문 상태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확인 완료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5" name="Text 39"/>
          <p:cNvSpPr/>
          <p:nvPr/>
        </p:nvSpPr>
        <p:spPr>
          <a:xfrm>
            <a:off x="6373440" y="44895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 상태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아직 방문 기록이 없어요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6" name="PlaceHolder 1"/>
          <p:cNvSpPr>
            <a:spLocks noGrp="1"/>
          </p:cNvSpPr>
          <p:nvPr>
            <p:ph type="sldNum" idx="17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MY-R-002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결과책 팝업</a:t>
            </a: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</a:t>
            </a: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 대시보드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8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아티팩트 클릭 → 대시보드형 팝업 탭 진입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기능 탭 선택 시 기능상세페이지 탭으로 이동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9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0" name="Text 3"/>
          <p:cNvSpPr/>
          <p:nvPr/>
        </p:nvSpPr>
        <p:spPr>
          <a:xfrm>
            <a:off x="502920" y="914400"/>
            <a:ext cx="8406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Page Title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1" name="Text 4"/>
          <p:cNvSpPr/>
          <p:nvPr/>
        </p:nvSpPr>
        <p:spPr>
          <a:xfrm>
            <a:off x="1344240" y="914400"/>
            <a:ext cx="214812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MY-R-002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결과책 팝업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 대시보드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2" name="Text 5"/>
          <p:cNvSpPr/>
          <p:nvPr/>
        </p:nvSpPr>
        <p:spPr>
          <a:xfrm>
            <a:off x="3493080" y="914400"/>
            <a:ext cx="7491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3" name="Text 6"/>
          <p:cNvSpPr/>
          <p:nvPr/>
        </p:nvSpPr>
        <p:spPr>
          <a:xfrm>
            <a:off x="4242960" y="914400"/>
            <a:ext cx="14166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4" name="Text 7"/>
          <p:cNvSpPr/>
          <p:nvPr/>
        </p:nvSpPr>
        <p:spPr>
          <a:xfrm>
            <a:off x="5660280" y="914400"/>
            <a:ext cx="8679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Path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5" name="Text 8"/>
          <p:cNvSpPr/>
          <p:nvPr/>
        </p:nvSpPr>
        <p:spPr>
          <a:xfrm>
            <a:off x="6528960" y="914400"/>
            <a:ext cx="274248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&gt;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기본 화면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&gt;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6" name="Text 9"/>
          <p:cNvSpPr/>
          <p:nvPr/>
        </p:nvSpPr>
        <p:spPr>
          <a:xfrm>
            <a:off x="9272160" y="914400"/>
            <a:ext cx="71244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Version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7" name="Text 10"/>
          <p:cNvSpPr/>
          <p:nvPr/>
        </p:nvSpPr>
        <p:spPr>
          <a:xfrm>
            <a:off x="9985320" y="914400"/>
            <a:ext cx="6393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v0.9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8" name="Text 11"/>
          <p:cNvSpPr/>
          <p:nvPr/>
        </p:nvSpPr>
        <p:spPr>
          <a:xfrm>
            <a:off x="10625400" y="914400"/>
            <a:ext cx="45648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Type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9" name="Text 12"/>
          <p:cNvSpPr/>
          <p:nvPr/>
        </p:nvSpPr>
        <p:spPr>
          <a:xfrm>
            <a:off x="11082600" y="914400"/>
            <a:ext cx="5022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0" name="Text 13"/>
          <p:cNvSpPr/>
          <p:nvPr/>
        </p:nvSpPr>
        <p:spPr>
          <a:xfrm>
            <a:off x="594360" y="1417320"/>
            <a:ext cx="6308640" cy="27360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MY-R-002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결과책 팝업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 대시보드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1" name="Text 14"/>
          <p:cNvSpPr/>
          <p:nvPr/>
        </p:nvSpPr>
        <p:spPr>
          <a:xfrm>
            <a:off x="594360" y="1746360"/>
            <a:ext cx="203544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 대시보드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2" name="Text 15"/>
          <p:cNvSpPr/>
          <p:nvPr/>
        </p:nvSpPr>
        <p:spPr>
          <a:xfrm>
            <a:off x="2648880" y="1746360"/>
            <a:ext cx="203544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선택 기록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3" name="Text 16"/>
          <p:cNvSpPr/>
          <p:nvPr/>
        </p:nvSpPr>
        <p:spPr>
          <a:xfrm>
            <a:off x="4703040" y="1746360"/>
            <a:ext cx="203544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 필터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4" name="Text 17"/>
          <p:cNvSpPr/>
          <p:nvPr/>
        </p:nvSpPr>
        <p:spPr>
          <a:xfrm>
            <a:off x="594360" y="213984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리포트 목록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기록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유형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5" name="Text 18"/>
          <p:cNvSpPr/>
          <p:nvPr/>
        </p:nvSpPr>
        <p:spPr>
          <a:xfrm>
            <a:off x="3794760" y="213984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선택 기록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6/17 ·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유형 리포트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6" name="Text 19"/>
          <p:cNvSpPr/>
          <p:nvPr/>
        </p:nvSpPr>
        <p:spPr>
          <a:xfrm>
            <a:off x="594360" y="285300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관련 기록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대화 요약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 진입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7" name="Text 20"/>
          <p:cNvSpPr/>
          <p:nvPr/>
        </p:nvSpPr>
        <p:spPr>
          <a:xfrm>
            <a:off x="3794760" y="285300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필터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기간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캐릭터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모드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저장유형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8" name="Text 21"/>
          <p:cNvSpPr/>
          <p:nvPr/>
        </p:nvSpPr>
        <p:spPr>
          <a:xfrm>
            <a:off x="594360" y="3566160"/>
            <a:ext cx="3108240" cy="621000"/>
          </a:xfrm>
          <a:prstGeom prst="rect">
            <a:avLst/>
          </a:prstGeom>
          <a:solidFill>
            <a:srgbClr val="F8F8F8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기록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필터 조건에 맞는 기록만 표시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9" name="Text 22"/>
          <p:cNvSpPr/>
          <p:nvPr/>
        </p:nvSpPr>
        <p:spPr>
          <a:xfrm>
            <a:off x="3794760" y="3566160"/>
            <a:ext cx="3108240" cy="621000"/>
          </a:xfrm>
          <a:prstGeom prst="rect">
            <a:avLst/>
          </a:prstGeom>
          <a:solidFill>
            <a:srgbClr val="F8F8F8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 유지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닫기 후 선택 기록 유지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0" name="Shape 23"/>
          <p:cNvSpPr/>
          <p:nvPr/>
        </p:nvSpPr>
        <p:spPr>
          <a:xfrm>
            <a:off x="594360" y="1417320"/>
            <a:ext cx="6308640" cy="4251240"/>
          </a:xfrm>
          <a:prstGeom prst="rect">
            <a:avLst/>
          </a:prstGeom>
          <a:noFill/>
          <a:ln w="1016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631" name="Text 24"/>
          <p:cNvSpPr/>
          <p:nvPr/>
        </p:nvSpPr>
        <p:spPr>
          <a:xfrm>
            <a:off x="7223760" y="1417320"/>
            <a:ext cx="447984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Description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2" name="Text 25"/>
          <p:cNvSpPr/>
          <p:nvPr/>
        </p:nvSpPr>
        <p:spPr>
          <a:xfrm>
            <a:off x="7223760" y="1691640"/>
            <a:ext cx="34668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No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3" name="Text 26"/>
          <p:cNvSpPr/>
          <p:nvPr/>
        </p:nvSpPr>
        <p:spPr>
          <a:xfrm>
            <a:off x="7571160" y="1691640"/>
            <a:ext cx="306252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동작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4" name="Text 27"/>
          <p:cNvSpPr/>
          <p:nvPr/>
        </p:nvSpPr>
        <p:spPr>
          <a:xfrm>
            <a:off x="10634400" y="1691640"/>
            <a:ext cx="106920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Check Point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5" name="Text 28"/>
          <p:cNvSpPr/>
          <p:nvPr/>
        </p:nvSpPr>
        <p:spPr>
          <a:xfrm>
            <a:off x="7223760" y="208476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6" name="Text 29"/>
          <p:cNvSpPr/>
          <p:nvPr/>
        </p:nvSpPr>
        <p:spPr>
          <a:xfrm>
            <a:off x="7571160" y="208476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결과책 클릭 시 기록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 대시보드 팝업을 연다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7" name="Text 30"/>
          <p:cNvSpPr/>
          <p:nvPr/>
        </p:nvSpPr>
        <p:spPr>
          <a:xfrm>
            <a:off x="10634400" y="208476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연결 대상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8" name="Text 31"/>
          <p:cNvSpPr/>
          <p:nvPr/>
        </p:nvSpPr>
        <p:spPr>
          <a:xfrm>
            <a:off x="7223760" y="247788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9" name="Text 32"/>
          <p:cNvSpPr/>
          <p:nvPr/>
        </p:nvSpPr>
        <p:spPr>
          <a:xfrm>
            <a:off x="7571160" y="247788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기록 여부와 대표 마음 유형을 상태 또는 상태로 표시한다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0" name="Text 33"/>
          <p:cNvSpPr/>
          <p:nvPr/>
        </p:nvSpPr>
        <p:spPr>
          <a:xfrm>
            <a:off x="10634400" y="247788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1" name="Text 34"/>
          <p:cNvSpPr/>
          <p:nvPr/>
        </p:nvSpPr>
        <p:spPr>
          <a:xfrm>
            <a:off x="7223760" y="287136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2" name="Text 35"/>
          <p:cNvSpPr/>
          <p:nvPr/>
        </p:nvSpPr>
        <p:spPr>
          <a:xfrm>
            <a:off x="7571160" y="287136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기간 선택 시 유형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 수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키워드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관련 대화 요약을 갱신한다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3" name="Text 36"/>
          <p:cNvSpPr/>
          <p:nvPr/>
        </p:nvSpPr>
        <p:spPr>
          <a:xfrm>
            <a:off x="10634400" y="287136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선택 상태 유지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4" name="Text 37"/>
          <p:cNvSpPr/>
          <p:nvPr/>
        </p:nvSpPr>
        <p:spPr>
          <a:xfrm>
            <a:off x="7223760" y="326448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5" name="Text 38"/>
          <p:cNvSpPr/>
          <p:nvPr/>
        </p:nvSpPr>
        <p:spPr>
          <a:xfrm>
            <a:off x="7571160" y="326448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관련 카드 열기는 결과책 보관함 상세로 연결한다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6" name="Text 39"/>
          <p:cNvSpPr/>
          <p:nvPr/>
        </p:nvSpPr>
        <p:spPr>
          <a:xfrm>
            <a:off x="10634400" y="326448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MY-R-003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연계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7" name="Text 40"/>
          <p:cNvSpPr/>
          <p:nvPr/>
        </p:nvSpPr>
        <p:spPr>
          <a:xfrm>
            <a:off x="7223760" y="365760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8" name="Text 41"/>
          <p:cNvSpPr/>
          <p:nvPr/>
        </p:nvSpPr>
        <p:spPr>
          <a:xfrm>
            <a:off x="7571160" y="365760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캐릭터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모드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유형 기준 필터를 제공한다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9" name="Text 42"/>
          <p:cNvSpPr/>
          <p:nvPr/>
        </p:nvSpPr>
        <p:spPr>
          <a:xfrm>
            <a:off x="10634400" y="365760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P05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통합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0" name="Text 43"/>
          <p:cNvSpPr/>
          <p:nvPr/>
        </p:nvSpPr>
        <p:spPr>
          <a:xfrm>
            <a:off x="594360" y="548640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Tab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설계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1" name="Text 44"/>
          <p:cNvSpPr/>
          <p:nvPr/>
        </p:nvSpPr>
        <p:spPr>
          <a:xfrm>
            <a:off x="594360" y="5760720"/>
            <a:ext cx="132516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2" name="Text 45"/>
          <p:cNvSpPr/>
          <p:nvPr/>
        </p:nvSpPr>
        <p:spPr>
          <a:xfrm>
            <a:off x="1920240" y="5760720"/>
            <a:ext cx="356544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주요 요소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3" name="Text 46"/>
          <p:cNvSpPr/>
          <p:nvPr/>
        </p:nvSpPr>
        <p:spPr>
          <a:xfrm>
            <a:off x="5486400" y="5760720"/>
            <a:ext cx="356544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4" name="Text 47"/>
          <p:cNvSpPr/>
          <p:nvPr/>
        </p:nvSpPr>
        <p:spPr>
          <a:xfrm>
            <a:off x="9052560" y="5760720"/>
            <a:ext cx="251388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오류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5" name="Text 48"/>
          <p:cNvSpPr/>
          <p:nvPr/>
        </p:nvSpPr>
        <p:spPr>
          <a:xfrm>
            <a:off x="594360" y="598032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 대시보드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6" name="Text 49"/>
          <p:cNvSpPr/>
          <p:nvPr/>
        </p:nvSpPr>
        <p:spPr>
          <a:xfrm>
            <a:off x="1920240" y="598032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월 이동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기간 상태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표시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7" name="Text 50"/>
          <p:cNvSpPr/>
          <p:nvPr/>
        </p:nvSpPr>
        <p:spPr>
          <a:xfrm>
            <a:off x="5486400" y="598032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 선택 시 상세 갱신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8" name="Text 51"/>
          <p:cNvSpPr/>
          <p:nvPr/>
        </p:nvSpPr>
        <p:spPr>
          <a:xfrm>
            <a:off x="9052560" y="598032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 없음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 기간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9" name="Text 52"/>
          <p:cNvSpPr/>
          <p:nvPr/>
        </p:nvSpPr>
        <p:spPr>
          <a:xfrm>
            <a:off x="594360" y="619956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선택 기록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0" name="Text 53"/>
          <p:cNvSpPr/>
          <p:nvPr/>
        </p:nvSpPr>
        <p:spPr>
          <a:xfrm>
            <a:off x="1920240" y="61995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유형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 수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키워드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관련 대화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1" name="Text 54"/>
          <p:cNvSpPr/>
          <p:nvPr/>
        </p:nvSpPr>
        <p:spPr>
          <a:xfrm>
            <a:off x="5486400" y="61995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관련 카드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대화 버튼 클릭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2" name="Text 55"/>
          <p:cNvSpPr/>
          <p:nvPr/>
        </p:nvSpPr>
        <p:spPr>
          <a:xfrm>
            <a:off x="9052560" y="619956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조건 불일치 안내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3" name="Text 56"/>
          <p:cNvSpPr/>
          <p:nvPr/>
        </p:nvSpPr>
        <p:spPr>
          <a:xfrm>
            <a:off x="594360" y="641916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 필터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4" name="Text 57"/>
          <p:cNvSpPr/>
          <p:nvPr/>
        </p:nvSpPr>
        <p:spPr>
          <a:xfrm>
            <a:off x="1920240" y="64191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기간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캐릭터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모드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유형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5" name="Text 58"/>
          <p:cNvSpPr/>
          <p:nvPr/>
        </p:nvSpPr>
        <p:spPr>
          <a:xfrm>
            <a:off x="5486400" y="64191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필터 조합 적용 후 목록 갱신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6" name="Text 59"/>
          <p:cNvSpPr/>
          <p:nvPr/>
        </p:nvSpPr>
        <p:spPr>
          <a:xfrm>
            <a:off x="9052560" y="641916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 없음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필터 해제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CTA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7" name="PlaceHolder 1"/>
          <p:cNvSpPr>
            <a:spLocks noGrp="1"/>
          </p:cNvSpPr>
          <p:nvPr>
            <p:ph type="sldNum" idx="18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MY-R-D-002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 기능별 상세 화면설계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9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MY-R-002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에 포함된 마음 기록와 보관함 필터 기능을 구체화합니다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0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1" name="Text 3"/>
          <p:cNvSpPr/>
          <p:nvPr/>
        </p:nvSpPr>
        <p:spPr>
          <a:xfrm>
            <a:off x="594360" y="96012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요구사항별 상세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2" name="Text 4"/>
          <p:cNvSpPr/>
          <p:nvPr/>
        </p:nvSpPr>
        <p:spPr>
          <a:xfrm>
            <a:off x="594360" y="1234440"/>
            <a:ext cx="68508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3" name="Text 5"/>
          <p:cNvSpPr/>
          <p:nvPr/>
        </p:nvSpPr>
        <p:spPr>
          <a:xfrm>
            <a:off x="1280160" y="1234440"/>
            <a:ext cx="132516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4" name="Text 6"/>
          <p:cNvSpPr/>
          <p:nvPr/>
        </p:nvSpPr>
        <p:spPr>
          <a:xfrm>
            <a:off x="2606040" y="1234440"/>
            <a:ext cx="182808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화면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5" name="Text 7"/>
          <p:cNvSpPr/>
          <p:nvPr/>
        </p:nvSpPr>
        <p:spPr>
          <a:xfrm>
            <a:off x="4434840" y="1234440"/>
            <a:ext cx="265104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화면 요소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6" name="Text 8"/>
          <p:cNvSpPr/>
          <p:nvPr/>
        </p:nvSpPr>
        <p:spPr>
          <a:xfrm>
            <a:off x="7086600" y="1234440"/>
            <a:ext cx="201096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상호작용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7" name="Text 9"/>
          <p:cNvSpPr/>
          <p:nvPr/>
        </p:nvSpPr>
        <p:spPr>
          <a:xfrm>
            <a:off x="9098280" y="1234440"/>
            <a:ext cx="100512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우선순위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8" name="Text 10"/>
          <p:cNvSpPr/>
          <p:nvPr/>
        </p:nvSpPr>
        <p:spPr>
          <a:xfrm>
            <a:off x="594360" y="154548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 fontScale="85000" lnSpcReduction="9999"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9" name="Text 11"/>
          <p:cNvSpPr/>
          <p:nvPr/>
        </p:nvSpPr>
        <p:spPr>
          <a:xfrm>
            <a:off x="1280160" y="154548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리포트 보관함 인덱스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0" name="Text 12"/>
          <p:cNvSpPr/>
          <p:nvPr/>
        </p:nvSpPr>
        <p:spPr>
          <a:xfrm>
            <a:off x="2606040" y="154548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MY-R-003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1" name="Text 13"/>
          <p:cNvSpPr/>
          <p:nvPr/>
        </p:nvSpPr>
        <p:spPr>
          <a:xfrm>
            <a:off x="4434840" y="154548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월 단위 기록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 상태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 유형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버튼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2" name="Text 14"/>
          <p:cNvSpPr/>
          <p:nvPr/>
        </p:nvSpPr>
        <p:spPr>
          <a:xfrm>
            <a:off x="7086600" y="154548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 클릭 시 선택 기록 패널 갱신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필터 조건에 맞지 않는 기록은 목록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목록 제외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3" name="Text 15"/>
          <p:cNvSpPr/>
          <p:nvPr/>
        </p:nvSpPr>
        <p:spPr>
          <a:xfrm>
            <a:off x="9098280" y="154548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4" name="Text 16"/>
          <p:cNvSpPr/>
          <p:nvPr/>
        </p:nvSpPr>
        <p:spPr>
          <a:xfrm>
            <a:off x="594360" y="185616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P05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통합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5" name="Text 17"/>
          <p:cNvSpPr/>
          <p:nvPr/>
        </p:nvSpPr>
        <p:spPr>
          <a:xfrm>
            <a:off x="1280160" y="185616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 필터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(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 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6" name="Text 18"/>
          <p:cNvSpPr/>
          <p:nvPr/>
        </p:nvSpPr>
        <p:spPr>
          <a:xfrm>
            <a:off x="2606040" y="185616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MY-R-003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 필터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7" name="Text 19"/>
          <p:cNvSpPr/>
          <p:nvPr/>
        </p:nvSpPr>
        <p:spPr>
          <a:xfrm>
            <a:off x="4434840" y="185616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필터 칩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캐릭터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모드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유형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카드만 보기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8" name="Text 20"/>
          <p:cNvSpPr/>
          <p:nvPr/>
        </p:nvSpPr>
        <p:spPr>
          <a:xfrm>
            <a:off x="7086600" y="185616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필터 적용 시 목록 갱신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 없음은 필터 해제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CTA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9" name="Text 21"/>
          <p:cNvSpPr/>
          <p:nvPr/>
        </p:nvSpPr>
        <p:spPr>
          <a:xfrm>
            <a:off x="9098280" y="185616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0" name="Text 22"/>
          <p:cNvSpPr/>
          <p:nvPr/>
        </p:nvSpPr>
        <p:spPr>
          <a:xfrm>
            <a:off x="594360" y="2743200"/>
            <a:ext cx="5302800" cy="236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Wireframe: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선택 기록 패널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1" name="Shape 23"/>
          <p:cNvSpPr/>
          <p:nvPr/>
        </p:nvSpPr>
        <p:spPr>
          <a:xfrm>
            <a:off x="594360" y="2980800"/>
            <a:ext cx="5302800" cy="2504880"/>
          </a:xfrm>
          <a:prstGeom prst="rect">
            <a:avLst/>
          </a:prstGeom>
          <a:solidFill>
            <a:srgbClr val="FBFBF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692" name="Text 24"/>
          <p:cNvSpPr/>
          <p:nvPr/>
        </p:nvSpPr>
        <p:spPr>
          <a:xfrm>
            <a:off x="704160" y="30999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선택 기록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6/17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3" name="Text 25"/>
          <p:cNvSpPr/>
          <p:nvPr/>
        </p:nvSpPr>
        <p:spPr>
          <a:xfrm>
            <a:off x="704160" y="34563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 유형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잔잔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4" name="Text 26"/>
          <p:cNvSpPr/>
          <p:nvPr/>
        </p:nvSpPr>
        <p:spPr>
          <a:xfrm>
            <a:off x="704160" y="38131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장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키워드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5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5" name="Text 27"/>
          <p:cNvSpPr/>
          <p:nvPr/>
        </p:nvSpPr>
        <p:spPr>
          <a:xfrm>
            <a:off x="704160" y="41695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버튼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원본 기록 보기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6" name="Text 28"/>
          <p:cNvSpPr/>
          <p:nvPr/>
        </p:nvSpPr>
        <p:spPr>
          <a:xfrm>
            <a:off x="704160" y="452628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버튼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관련 카드 열기 →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7" name="Text 29"/>
          <p:cNvSpPr/>
          <p:nvPr/>
        </p:nvSpPr>
        <p:spPr>
          <a:xfrm>
            <a:off x="6263640" y="2743200"/>
            <a:ext cx="5302800" cy="236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Wireframe: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 필터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8" name="Shape 30"/>
          <p:cNvSpPr/>
          <p:nvPr/>
        </p:nvSpPr>
        <p:spPr>
          <a:xfrm>
            <a:off x="6263640" y="2980800"/>
            <a:ext cx="5302800" cy="2504880"/>
          </a:xfrm>
          <a:prstGeom prst="rect">
            <a:avLst/>
          </a:prstGeom>
          <a:solidFill>
            <a:srgbClr val="FBFBF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699" name="Text 31"/>
          <p:cNvSpPr/>
          <p:nvPr/>
        </p:nvSpPr>
        <p:spPr>
          <a:xfrm>
            <a:off x="6373440" y="30999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필터 칩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전체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카드만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0" name="Text 32"/>
          <p:cNvSpPr/>
          <p:nvPr/>
        </p:nvSpPr>
        <p:spPr>
          <a:xfrm>
            <a:off x="6373440" y="34563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조건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 범위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캐릭터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모드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1" name="Text 33"/>
          <p:cNvSpPr/>
          <p:nvPr/>
        </p:nvSpPr>
        <p:spPr>
          <a:xfrm>
            <a:off x="6373440" y="38131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검색 결과 목록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유형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요약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2" name="Text 34"/>
          <p:cNvSpPr/>
          <p:nvPr/>
        </p:nvSpPr>
        <p:spPr>
          <a:xfrm>
            <a:off x="6373440" y="41695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 없음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필터를 다시 선택해 주세요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3" name="PlaceHolder 1"/>
          <p:cNvSpPr>
            <a:spLocks noGrp="1"/>
          </p:cNvSpPr>
          <p:nvPr>
            <p:ph type="sldNum" idx="19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MY-R-003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결과책 팝업</a:t>
            </a: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리포트 보관함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5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아티팩트 클릭 → 대시보드형 팝업 탭 진입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기능 탭 선택 시 기능상세페이지 탭으로 이동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6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7" name="Text 3"/>
          <p:cNvSpPr/>
          <p:nvPr/>
        </p:nvSpPr>
        <p:spPr>
          <a:xfrm>
            <a:off x="502920" y="914400"/>
            <a:ext cx="8406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Page Title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8" name="Text 4"/>
          <p:cNvSpPr/>
          <p:nvPr/>
        </p:nvSpPr>
        <p:spPr>
          <a:xfrm>
            <a:off x="1344240" y="914400"/>
            <a:ext cx="214812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MY-R-003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결과책 팝업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리포트 보관함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9" name="Text 5"/>
          <p:cNvSpPr/>
          <p:nvPr/>
        </p:nvSpPr>
        <p:spPr>
          <a:xfrm>
            <a:off x="3493080" y="914400"/>
            <a:ext cx="7491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0" name="Text 6"/>
          <p:cNvSpPr/>
          <p:nvPr/>
        </p:nvSpPr>
        <p:spPr>
          <a:xfrm>
            <a:off x="4242960" y="914400"/>
            <a:ext cx="14166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1" name="Text 7"/>
          <p:cNvSpPr/>
          <p:nvPr/>
        </p:nvSpPr>
        <p:spPr>
          <a:xfrm>
            <a:off x="5660280" y="914400"/>
            <a:ext cx="8679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Path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2" name="Text 8"/>
          <p:cNvSpPr/>
          <p:nvPr/>
        </p:nvSpPr>
        <p:spPr>
          <a:xfrm>
            <a:off x="6528960" y="914400"/>
            <a:ext cx="274248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&gt;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기본 화면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&gt;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3" name="Text 9"/>
          <p:cNvSpPr/>
          <p:nvPr/>
        </p:nvSpPr>
        <p:spPr>
          <a:xfrm>
            <a:off x="9272160" y="914400"/>
            <a:ext cx="71244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Version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4" name="Text 10"/>
          <p:cNvSpPr/>
          <p:nvPr/>
        </p:nvSpPr>
        <p:spPr>
          <a:xfrm>
            <a:off x="9985320" y="914400"/>
            <a:ext cx="6393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v0.9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5" name="Text 11"/>
          <p:cNvSpPr/>
          <p:nvPr/>
        </p:nvSpPr>
        <p:spPr>
          <a:xfrm>
            <a:off x="10625400" y="914400"/>
            <a:ext cx="45648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Type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6" name="Text 12"/>
          <p:cNvSpPr/>
          <p:nvPr/>
        </p:nvSpPr>
        <p:spPr>
          <a:xfrm>
            <a:off x="11082600" y="914400"/>
            <a:ext cx="5022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7" name="Text 13"/>
          <p:cNvSpPr/>
          <p:nvPr/>
        </p:nvSpPr>
        <p:spPr>
          <a:xfrm>
            <a:off x="594360" y="1417320"/>
            <a:ext cx="6308640" cy="27360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MY-R-003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결과책 팝업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리포트 보관함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8" name="Text 14"/>
          <p:cNvSpPr/>
          <p:nvPr/>
        </p:nvSpPr>
        <p:spPr>
          <a:xfrm>
            <a:off x="594360" y="1746360"/>
            <a:ext cx="152172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일일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9" name="Text 15"/>
          <p:cNvSpPr/>
          <p:nvPr/>
        </p:nvSpPr>
        <p:spPr>
          <a:xfrm>
            <a:off x="2135160" y="1746360"/>
            <a:ext cx="152172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주간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0" name="Text 16"/>
          <p:cNvSpPr/>
          <p:nvPr/>
        </p:nvSpPr>
        <p:spPr>
          <a:xfrm>
            <a:off x="3675960" y="1746360"/>
            <a:ext cx="152172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월간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1" name="Text 17"/>
          <p:cNvSpPr/>
          <p:nvPr/>
        </p:nvSpPr>
        <p:spPr>
          <a:xfrm>
            <a:off x="5216760" y="1746360"/>
            <a:ext cx="152172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 설정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2" name="Text 18"/>
          <p:cNvSpPr/>
          <p:nvPr/>
        </p:nvSpPr>
        <p:spPr>
          <a:xfrm>
            <a:off x="594360" y="213984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리포트 목록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유형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여부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3" name="Text 19"/>
          <p:cNvSpPr/>
          <p:nvPr/>
        </p:nvSpPr>
        <p:spPr>
          <a:xfrm>
            <a:off x="3794760" y="213984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기능상세페이지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 상세 보기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4" name="Text 20"/>
          <p:cNvSpPr/>
          <p:nvPr/>
        </p:nvSpPr>
        <p:spPr>
          <a:xfrm>
            <a:off x="594360" y="285300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 미리보기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이름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내용 마스킹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5" name="Text 21"/>
          <p:cNvSpPr/>
          <p:nvPr/>
        </p:nvSpPr>
        <p:spPr>
          <a:xfrm>
            <a:off x="3794760" y="285300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액션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이미지 저장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6" name="Text 22"/>
          <p:cNvSpPr/>
          <p:nvPr/>
        </p:nvSpPr>
        <p:spPr>
          <a:xfrm>
            <a:off x="594360" y="3566160"/>
            <a:ext cx="3108240" cy="621000"/>
          </a:xfrm>
          <a:prstGeom prst="rect">
            <a:avLst/>
          </a:prstGeom>
          <a:solidFill>
            <a:srgbClr val="F8F8F8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 범위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화면과 연동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7" name="Text 23"/>
          <p:cNvSpPr/>
          <p:nvPr/>
        </p:nvSpPr>
        <p:spPr>
          <a:xfrm>
            <a:off x="3794760" y="3566160"/>
            <a:ext cx="3108240" cy="621000"/>
          </a:xfrm>
          <a:prstGeom prst="rect">
            <a:avLst/>
          </a:prstGeom>
          <a:solidFill>
            <a:srgbClr val="F8F8F8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아직 저장된 카드 없음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8" name="Shape 24"/>
          <p:cNvSpPr/>
          <p:nvPr/>
        </p:nvSpPr>
        <p:spPr>
          <a:xfrm>
            <a:off x="594360" y="1417320"/>
            <a:ext cx="6308640" cy="4251240"/>
          </a:xfrm>
          <a:prstGeom prst="rect">
            <a:avLst/>
          </a:prstGeom>
          <a:noFill/>
          <a:ln w="1016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729" name="Text 25"/>
          <p:cNvSpPr/>
          <p:nvPr/>
        </p:nvSpPr>
        <p:spPr>
          <a:xfrm>
            <a:off x="7223760" y="1417320"/>
            <a:ext cx="447984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Description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0" name="Text 26"/>
          <p:cNvSpPr/>
          <p:nvPr/>
        </p:nvSpPr>
        <p:spPr>
          <a:xfrm>
            <a:off x="7223760" y="1691640"/>
            <a:ext cx="34668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No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1" name="Text 27"/>
          <p:cNvSpPr/>
          <p:nvPr/>
        </p:nvSpPr>
        <p:spPr>
          <a:xfrm>
            <a:off x="7571160" y="1691640"/>
            <a:ext cx="306252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동작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2" name="Text 28"/>
          <p:cNvSpPr/>
          <p:nvPr/>
        </p:nvSpPr>
        <p:spPr>
          <a:xfrm>
            <a:off x="10634400" y="1691640"/>
            <a:ext cx="106920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Check Point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3" name="Text 29"/>
          <p:cNvSpPr/>
          <p:nvPr/>
        </p:nvSpPr>
        <p:spPr>
          <a:xfrm>
            <a:off x="7223760" y="208476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4" name="Text 30"/>
          <p:cNvSpPr/>
          <p:nvPr/>
        </p:nvSpPr>
        <p:spPr>
          <a:xfrm>
            <a:off x="7571160" y="208476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책상 위 결과책 클릭 시 리포트 보관함 팝업을 연다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5" name="Text 31"/>
          <p:cNvSpPr/>
          <p:nvPr/>
        </p:nvSpPr>
        <p:spPr>
          <a:xfrm>
            <a:off x="10634400" y="208476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연결 대상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6" name="Text 32"/>
          <p:cNvSpPr/>
          <p:nvPr/>
        </p:nvSpPr>
        <p:spPr>
          <a:xfrm>
            <a:off x="7223760" y="247788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7" name="Text 33"/>
          <p:cNvSpPr/>
          <p:nvPr/>
        </p:nvSpPr>
        <p:spPr>
          <a:xfrm>
            <a:off x="7571160" y="247788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주간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월간 탭으로 리포트 유형을 전환한다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8" name="Text 34"/>
          <p:cNvSpPr/>
          <p:nvPr/>
        </p:nvSpPr>
        <p:spPr>
          <a:xfrm>
            <a:off x="10634400" y="247788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P05/P06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통합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9" name="Text 35"/>
          <p:cNvSpPr/>
          <p:nvPr/>
        </p:nvSpPr>
        <p:spPr>
          <a:xfrm>
            <a:off x="7223760" y="287136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0" name="Text 36"/>
          <p:cNvSpPr/>
          <p:nvPr/>
        </p:nvSpPr>
        <p:spPr>
          <a:xfrm>
            <a:off x="7571160" y="287136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 상세 보기 클릭 시 카드 상세 화면으로 이동한다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1" name="Text 37"/>
          <p:cNvSpPr/>
          <p:nvPr/>
        </p:nvSpPr>
        <p:spPr>
          <a:xfrm>
            <a:off x="10634400" y="287136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기능상세페이지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2" name="Text 38"/>
          <p:cNvSpPr/>
          <p:nvPr/>
        </p:nvSpPr>
        <p:spPr>
          <a:xfrm>
            <a:off x="7223760" y="326448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3" name="Text 39"/>
          <p:cNvSpPr/>
          <p:nvPr/>
        </p:nvSpPr>
        <p:spPr>
          <a:xfrm>
            <a:off x="7571160" y="326448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 전 이름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내용 수준 마스킹을 미리보기로 표시한다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4" name="Text 40"/>
          <p:cNvSpPr/>
          <p:nvPr/>
        </p:nvSpPr>
        <p:spPr>
          <a:xfrm>
            <a:off x="10634400" y="326448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P18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5" name="Text 41"/>
          <p:cNvSpPr/>
          <p:nvPr/>
        </p:nvSpPr>
        <p:spPr>
          <a:xfrm>
            <a:off x="7223760" y="365760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6" name="Text 42"/>
          <p:cNvSpPr/>
          <p:nvPr/>
        </p:nvSpPr>
        <p:spPr>
          <a:xfrm>
            <a:off x="7571160" y="365760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이미지 저장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 범위 변경 버튼을 제공한다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7" name="Text 43"/>
          <p:cNvSpPr/>
          <p:nvPr/>
        </p:nvSpPr>
        <p:spPr>
          <a:xfrm>
            <a:off x="10634400" y="365760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 정책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8" name="Text 44"/>
          <p:cNvSpPr/>
          <p:nvPr/>
        </p:nvSpPr>
        <p:spPr>
          <a:xfrm>
            <a:off x="594360" y="548640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Tab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설계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9" name="Text 45"/>
          <p:cNvSpPr/>
          <p:nvPr/>
        </p:nvSpPr>
        <p:spPr>
          <a:xfrm>
            <a:off x="594360" y="5760720"/>
            <a:ext cx="132516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0" name="Text 46"/>
          <p:cNvSpPr/>
          <p:nvPr/>
        </p:nvSpPr>
        <p:spPr>
          <a:xfrm>
            <a:off x="1920240" y="5760720"/>
            <a:ext cx="356544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주요 요소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1" name="Text 47"/>
          <p:cNvSpPr/>
          <p:nvPr/>
        </p:nvSpPr>
        <p:spPr>
          <a:xfrm>
            <a:off x="5486400" y="5760720"/>
            <a:ext cx="356544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2" name="Text 48"/>
          <p:cNvSpPr/>
          <p:nvPr/>
        </p:nvSpPr>
        <p:spPr>
          <a:xfrm>
            <a:off x="9052560" y="5760720"/>
            <a:ext cx="251388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오류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3" name="Text 49"/>
          <p:cNvSpPr/>
          <p:nvPr/>
        </p:nvSpPr>
        <p:spPr>
          <a:xfrm>
            <a:off x="594360" y="598032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일일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주간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월간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4" name="Text 50"/>
          <p:cNvSpPr/>
          <p:nvPr/>
        </p:nvSpPr>
        <p:spPr>
          <a:xfrm>
            <a:off x="1920240" y="598032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기간별 카드 목록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여부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톤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5" name="Text 51"/>
          <p:cNvSpPr/>
          <p:nvPr/>
        </p:nvSpPr>
        <p:spPr>
          <a:xfrm>
            <a:off x="5486400" y="598032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 변경 시 목록 필터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6" name="Text 52"/>
          <p:cNvSpPr/>
          <p:nvPr/>
        </p:nvSpPr>
        <p:spPr>
          <a:xfrm>
            <a:off x="9052560" y="598032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 없음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대화 후 저장 안내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7" name="Text 53"/>
          <p:cNvSpPr/>
          <p:nvPr/>
        </p:nvSpPr>
        <p:spPr>
          <a:xfrm>
            <a:off x="594360" y="619956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 설정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8" name="Text 54"/>
          <p:cNvSpPr/>
          <p:nvPr/>
        </p:nvSpPr>
        <p:spPr>
          <a:xfrm>
            <a:off x="1920240" y="61995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마스킹 미리보기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 범위 칩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9" name="Text 55"/>
          <p:cNvSpPr/>
          <p:nvPr/>
        </p:nvSpPr>
        <p:spPr>
          <a:xfrm>
            <a:off x="5486400" y="61995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 범위 변경 시 즉시 미리보기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0" name="Text 56"/>
          <p:cNvSpPr/>
          <p:nvPr/>
        </p:nvSpPr>
        <p:spPr>
          <a:xfrm>
            <a:off x="9052560" y="619956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범위 미선택 시 공유 제한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1" name="Text 57"/>
          <p:cNvSpPr/>
          <p:nvPr/>
        </p:nvSpPr>
        <p:spPr>
          <a:xfrm>
            <a:off x="594360" y="641916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보기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2" name="Text 58"/>
          <p:cNvSpPr/>
          <p:nvPr/>
        </p:nvSpPr>
        <p:spPr>
          <a:xfrm>
            <a:off x="1920240" y="64191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 상세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이미지 저장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3" name="Text 59"/>
          <p:cNvSpPr/>
          <p:nvPr/>
        </p:nvSpPr>
        <p:spPr>
          <a:xfrm>
            <a:off x="5486400" y="64191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버튼 클릭 시 상세 화면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4" name="Text 60"/>
          <p:cNvSpPr/>
          <p:nvPr/>
        </p:nvSpPr>
        <p:spPr>
          <a:xfrm>
            <a:off x="9052560" y="641916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실패 토스트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5" name="PlaceHolder 1"/>
          <p:cNvSpPr>
            <a:spLocks noGrp="1"/>
          </p:cNvSpPr>
          <p:nvPr>
            <p:ph type="sldNum" idx="20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MY-R-D-003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결과카드 기능별 상세 화면설계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7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MY-R-003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의 보관함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상세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공유 기능을 구체화합니다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8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9" name="Text 3"/>
          <p:cNvSpPr/>
          <p:nvPr/>
        </p:nvSpPr>
        <p:spPr>
          <a:xfrm>
            <a:off x="594360" y="96012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요구사항별 상세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0" name="Text 4"/>
          <p:cNvSpPr/>
          <p:nvPr/>
        </p:nvSpPr>
        <p:spPr>
          <a:xfrm>
            <a:off x="594360" y="1234440"/>
            <a:ext cx="68508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1" name="Text 5"/>
          <p:cNvSpPr/>
          <p:nvPr/>
        </p:nvSpPr>
        <p:spPr>
          <a:xfrm>
            <a:off x="1280160" y="1234440"/>
            <a:ext cx="132516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2" name="Text 6"/>
          <p:cNvSpPr/>
          <p:nvPr/>
        </p:nvSpPr>
        <p:spPr>
          <a:xfrm>
            <a:off x="2606040" y="1234440"/>
            <a:ext cx="182808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화면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3" name="Text 7"/>
          <p:cNvSpPr/>
          <p:nvPr/>
        </p:nvSpPr>
        <p:spPr>
          <a:xfrm>
            <a:off x="4434840" y="1234440"/>
            <a:ext cx="265104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화면 요소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4" name="Text 8"/>
          <p:cNvSpPr/>
          <p:nvPr/>
        </p:nvSpPr>
        <p:spPr>
          <a:xfrm>
            <a:off x="7086600" y="1234440"/>
            <a:ext cx="201096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상호작용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5" name="Text 9"/>
          <p:cNvSpPr/>
          <p:nvPr/>
        </p:nvSpPr>
        <p:spPr>
          <a:xfrm>
            <a:off x="9098280" y="1234440"/>
            <a:ext cx="100512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우선순위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6" name="Text 10"/>
          <p:cNvSpPr/>
          <p:nvPr/>
        </p:nvSpPr>
        <p:spPr>
          <a:xfrm>
            <a:off x="594360" y="154548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P05/P06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통합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7" name="Text 11"/>
          <p:cNvSpPr/>
          <p:nvPr/>
        </p:nvSpPr>
        <p:spPr>
          <a:xfrm>
            <a:off x="1280160" y="154548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리포트 보관함 인덱스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+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타임라인 필터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8" name="Text 12"/>
          <p:cNvSpPr/>
          <p:nvPr/>
        </p:nvSpPr>
        <p:spPr>
          <a:xfrm>
            <a:off x="2606040" y="154548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MY-R-003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주간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월간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9" name="Text 13"/>
          <p:cNvSpPr/>
          <p:nvPr/>
        </p:nvSpPr>
        <p:spPr>
          <a:xfrm>
            <a:off x="4434840" y="154548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 목록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유형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여부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유형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버튼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0" name="Text 14"/>
          <p:cNvSpPr/>
          <p:nvPr/>
        </p:nvSpPr>
        <p:spPr>
          <a:xfrm>
            <a:off x="7086600" y="154548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필터 변경 시 목록 갱신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 상세 보기로 이동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1" name="Text 15"/>
          <p:cNvSpPr/>
          <p:nvPr/>
        </p:nvSpPr>
        <p:spPr>
          <a:xfrm>
            <a:off x="9098280" y="154548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2" name="Text 16"/>
          <p:cNvSpPr/>
          <p:nvPr/>
        </p:nvSpPr>
        <p:spPr>
          <a:xfrm>
            <a:off x="594360" y="185616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P18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3" name="Text 17"/>
          <p:cNvSpPr/>
          <p:nvPr/>
        </p:nvSpPr>
        <p:spPr>
          <a:xfrm>
            <a:off x="1280160" y="185616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결과카드 공개 범위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4" name="Text 18"/>
          <p:cNvSpPr/>
          <p:nvPr/>
        </p:nvSpPr>
        <p:spPr>
          <a:xfrm>
            <a:off x="2606040" y="185616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MY-R-003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 설정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5" name="Text 19"/>
          <p:cNvSpPr/>
          <p:nvPr/>
        </p:nvSpPr>
        <p:spPr>
          <a:xfrm>
            <a:off x="4434840" y="185616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 범위 선택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마스킹 미리보기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이미지 저장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 버튼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6" name="Text 20"/>
          <p:cNvSpPr/>
          <p:nvPr/>
        </p:nvSpPr>
        <p:spPr>
          <a:xfrm>
            <a:off x="7086600" y="185616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 범위 미선택 시 공유 제한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변경 시 미리보기 즉시 갱신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7" name="Text 21"/>
          <p:cNvSpPr/>
          <p:nvPr/>
        </p:nvSpPr>
        <p:spPr>
          <a:xfrm>
            <a:off x="9098280" y="185616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8" name="Text 22"/>
          <p:cNvSpPr/>
          <p:nvPr/>
        </p:nvSpPr>
        <p:spPr>
          <a:xfrm>
            <a:off x="594360" y="2743200"/>
            <a:ext cx="5302800" cy="236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Wireframe: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 목록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9" name="Shape 23"/>
          <p:cNvSpPr/>
          <p:nvPr/>
        </p:nvSpPr>
        <p:spPr>
          <a:xfrm>
            <a:off x="594360" y="2980800"/>
            <a:ext cx="5302800" cy="2504880"/>
          </a:xfrm>
          <a:prstGeom prst="rect">
            <a:avLst/>
          </a:prstGeom>
          <a:solidFill>
            <a:srgbClr val="FBFBF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790" name="Text 24"/>
          <p:cNvSpPr/>
          <p:nvPr/>
        </p:nvSpPr>
        <p:spPr>
          <a:xfrm>
            <a:off x="704160" y="30999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일일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주간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월간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1" name="Text 25"/>
          <p:cNvSpPr/>
          <p:nvPr/>
        </p:nvSpPr>
        <p:spPr>
          <a:xfrm>
            <a:off x="704160" y="34563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카드 행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톤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여부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2" name="Text 26"/>
          <p:cNvSpPr/>
          <p:nvPr/>
        </p:nvSpPr>
        <p:spPr>
          <a:xfrm>
            <a:off x="704160" y="38131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버튼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보기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3" name="Text 27"/>
          <p:cNvSpPr/>
          <p:nvPr/>
        </p:nvSpPr>
        <p:spPr>
          <a:xfrm>
            <a:off x="704160" y="41695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 상태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저장된 결과카드가 없어요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4" name="Text 28"/>
          <p:cNvSpPr/>
          <p:nvPr/>
        </p:nvSpPr>
        <p:spPr>
          <a:xfrm>
            <a:off x="6263640" y="2743200"/>
            <a:ext cx="5302800" cy="236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Wireframe: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 설정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5" name="Shape 29"/>
          <p:cNvSpPr/>
          <p:nvPr/>
        </p:nvSpPr>
        <p:spPr>
          <a:xfrm>
            <a:off x="6263640" y="2980800"/>
            <a:ext cx="5302800" cy="2504880"/>
          </a:xfrm>
          <a:prstGeom prst="rect">
            <a:avLst/>
          </a:prstGeom>
          <a:solidFill>
            <a:srgbClr val="FBFBF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796" name="Text 30"/>
          <p:cNvSpPr/>
          <p:nvPr/>
        </p:nvSpPr>
        <p:spPr>
          <a:xfrm>
            <a:off x="6373440" y="30999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 전 미리보기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7" name="Text 31"/>
          <p:cNvSpPr/>
          <p:nvPr/>
        </p:nvSpPr>
        <p:spPr>
          <a:xfrm>
            <a:off x="6373440" y="34563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마스킹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이름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내용 수준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8" name="Text 32"/>
          <p:cNvSpPr/>
          <p:nvPr/>
        </p:nvSpPr>
        <p:spPr>
          <a:xfrm>
            <a:off x="6373440" y="38131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버튼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이미지 저장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9" name="Text 33"/>
          <p:cNvSpPr/>
          <p:nvPr/>
        </p:nvSpPr>
        <p:spPr>
          <a:xfrm>
            <a:off x="6373440" y="41695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링크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 범위 변경 →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0" name="PlaceHolder 1"/>
          <p:cNvSpPr>
            <a:spLocks noGrp="1"/>
          </p:cNvSpPr>
          <p:nvPr>
            <p:ph type="sldNum" idx="21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MY-R-004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테라리움 팝업</a:t>
            </a: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오늘의 나 도감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2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아티팩트 클릭 → 대시보드형 팝업 탭 진입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기능 탭 선택 시 기능상세페이지 탭으로 이동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+ 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3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4" name="Text 3"/>
          <p:cNvSpPr/>
          <p:nvPr/>
        </p:nvSpPr>
        <p:spPr>
          <a:xfrm>
            <a:off x="502920" y="914400"/>
            <a:ext cx="8406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Page Title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5" name="Text 4"/>
          <p:cNvSpPr/>
          <p:nvPr/>
        </p:nvSpPr>
        <p:spPr>
          <a:xfrm>
            <a:off x="1344240" y="914400"/>
            <a:ext cx="214812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MY-R-004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테라리움 팝업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오늘의 나 도감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6" name="Text 5"/>
          <p:cNvSpPr/>
          <p:nvPr/>
        </p:nvSpPr>
        <p:spPr>
          <a:xfrm>
            <a:off x="3493080" y="914400"/>
            <a:ext cx="7491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7" name="Text 6"/>
          <p:cNvSpPr/>
          <p:nvPr/>
        </p:nvSpPr>
        <p:spPr>
          <a:xfrm>
            <a:off x="4242960" y="914400"/>
            <a:ext cx="14166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8" name="Text 7"/>
          <p:cNvSpPr/>
          <p:nvPr/>
        </p:nvSpPr>
        <p:spPr>
          <a:xfrm>
            <a:off x="5660280" y="914400"/>
            <a:ext cx="8679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Path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9" name="Text 8"/>
          <p:cNvSpPr/>
          <p:nvPr/>
        </p:nvSpPr>
        <p:spPr>
          <a:xfrm>
            <a:off x="6528960" y="914400"/>
            <a:ext cx="274248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&gt;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기본 화면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&gt;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테라리움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도감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0" name="Text 9"/>
          <p:cNvSpPr/>
          <p:nvPr/>
        </p:nvSpPr>
        <p:spPr>
          <a:xfrm>
            <a:off x="9272160" y="914400"/>
            <a:ext cx="71244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Version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1" name="Text 10"/>
          <p:cNvSpPr/>
          <p:nvPr/>
        </p:nvSpPr>
        <p:spPr>
          <a:xfrm>
            <a:off x="9985320" y="914400"/>
            <a:ext cx="6393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v0.9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2" name="Text 11"/>
          <p:cNvSpPr/>
          <p:nvPr/>
        </p:nvSpPr>
        <p:spPr>
          <a:xfrm>
            <a:off x="10625400" y="914400"/>
            <a:ext cx="45648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Type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3" name="Text 12"/>
          <p:cNvSpPr/>
          <p:nvPr/>
        </p:nvSpPr>
        <p:spPr>
          <a:xfrm>
            <a:off x="11082600" y="914400"/>
            <a:ext cx="5022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4" name="Text 13"/>
          <p:cNvSpPr/>
          <p:nvPr/>
        </p:nvSpPr>
        <p:spPr>
          <a:xfrm>
            <a:off x="594360" y="1417320"/>
            <a:ext cx="6308640" cy="27360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MY-R-004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테라리움 팝업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오늘의 나 도감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5" name="Text 14"/>
          <p:cNvSpPr/>
          <p:nvPr/>
        </p:nvSpPr>
        <p:spPr>
          <a:xfrm>
            <a:off x="594360" y="1746360"/>
            <a:ext cx="203544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획득 기록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6" name="Text 15"/>
          <p:cNvSpPr/>
          <p:nvPr/>
        </p:nvSpPr>
        <p:spPr>
          <a:xfrm>
            <a:off x="2648880" y="1746360"/>
            <a:ext cx="203544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설정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7" name="Text 16"/>
          <p:cNvSpPr/>
          <p:nvPr/>
        </p:nvSpPr>
        <p:spPr>
          <a:xfrm>
            <a:off x="4703040" y="1746360"/>
            <a:ext cx="203544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AI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가 보는 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8" name="Text 17"/>
          <p:cNvSpPr/>
          <p:nvPr/>
        </p:nvSpPr>
        <p:spPr>
          <a:xfrm>
            <a:off x="594360" y="213984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획득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작은 생물형 캐릭터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9" name="Text 18"/>
          <p:cNvSpPr/>
          <p:nvPr/>
        </p:nvSpPr>
        <p:spPr>
          <a:xfrm>
            <a:off x="3794760" y="213984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설정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기본 화면 반영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0" name="Text 19"/>
          <p:cNvSpPr/>
          <p:nvPr/>
        </p:nvSpPr>
        <p:spPr>
          <a:xfrm>
            <a:off x="594360" y="285300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날짜별 슬롯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획득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미획득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1" name="Text 20"/>
          <p:cNvSpPr/>
          <p:nvPr/>
        </p:nvSpPr>
        <p:spPr>
          <a:xfrm>
            <a:off x="3794760" y="2853000"/>
            <a:ext cx="3108240" cy="621000"/>
          </a:xfrm>
          <a:prstGeom prst="rect">
            <a:avLst/>
          </a:prstGeom>
          <a:solidFill>
            <a:srgbClr val="F8F8F8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AI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가 보는 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2P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준비중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조건 표시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2" name="Text 21"/>
          <p:cNvSpPr/>
          <p:nvPr/>
        </p:nvSpPr>
        <p:spPr>
          <a:xfrm>
            <a:off x="594360" y="3566160"/>
            <a:ext cx="3108240" cy="621000"/>
          </a:xfrm>
          <a:prstGeom prst="rect">
            <a:avLst/>
          </a:prstGeom>
          <a:solidFill>
            <a:srgbClr val="F8F8F8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도감 빈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잠금 슬롯 유지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3" name="Text 22"/>
          <p:cNvSpPr/>
          <p:nvPr/>
        </p:nvSpPr>
        <p:spPr>
          <a:xfrm>
            <a:off x="3794760" y="3566160"/>
            <a:ext cx="3108240" cy="621000"/>
          </a:xfrm>
          <a:prstGeom prst="rect">
            <a:avLst/>
          </a:prstGeom>
          <a:solidFill>
            <a:srgbClr val="F8F8F8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 조건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동의 데이터 필요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4" name="Shape 23"/>
          <p:cNvSpPr/>
          <p:nvPr/>
        </p:nvSpPr>
        <p:spPr>
          <a:xfrm>
            <a:off x="594360" y="1417320"/>
            <a:ext cx="6308640" cy="4251240"/>
          </a:xfrm>
          <a:prstGeom prst="rect">
            <a:avLst/>
          </a:prstGeom>
          <a:noFill/>
          <a:ln w="1016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825" name="Text 24"/>
          <p:cNvSpPr/>
          <p:nvPr/>
        </p:nvSpPr>
        <p:spPr>
          <a:xfrm>
            <a:off x="7223760" y="1417320"/>
            <a:ext cx="447984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Description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6" name="Text 25"/>
          <p:cNvSpPr/>
          <p:nvPr/>
        </p:nvSpPr>
        <p:spPr>
          <a:xfrm>
            <a:off x="7223760" y="1691640"/>
            <a:ext cx="34668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No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7" name="Text 26"/>
          <p:cNvSpPr/>
          <p:nvPr/>
        </p:nvSpPr>
        <p:spPr>
          <a:xfrm>
            <a:off x="7571160" y="1691640"/>
            <a:ext cx="306252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동작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8" name="Text 27"/>
          <p:cNvSpPr/>
          <p:nvPr/>
        </p:nvSpPr>
        <p:spPr>
          <a:xfrm>
            <a:off x="10634400" y="1691640"/>
            <a:ext cx="106920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Check Point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9" name="Text 28"/>
          <p:cNvSpPr/>
          <p:nvPr/>
        </p:nvSpPr>
        <p:spPr>
          <a:xfrm>
            <a:off x="7223760" y="208476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0" name="Text 29"/>
          <p:cNvSpPr/>
          <p:nvPr/>
        </p:nvSpPr>
        <p:spPr>
          <a:xfrm>
            <a:off x="7571160" y="208476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테라리움 또는 도감 클릭 시 오늘의 나 도감 팝업을 연다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1" name="Text 30"/>
          <p:cNvSpPr/>
          <p:nvPr/>
        </p:nvSpPr>
        <p:spPr>
          <a:xfrm>
            <a:off x="10634400" y="208476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연결 대상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도감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2" name="Text 31"/>
          <p:cNvSpPr/>
          <p:nvPr/>
        </p:nvSpPr>
        <p:spPr>
          <a:xfrm>
            <a:off x="7223760" y="247788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3" name="Text 32"/>
          <p:cNvSpPr/>
          <p:nvPr/>
        </p:nvSpPr>
        <p:spPr>
          <a:xfrm>
            <a:off x="7571160" y="247788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일일 리포트 이후 획득한 생물형 캐릭터를 표시한다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4" name="Text 33"/>
          <p:cNvSpPr/>
          <p:nvPr/>
        </p:nvSpPr>
        <p:spPr>
          <a:xfrm>
            <a:off x="10634400" y="247788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P07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5" name="Text 34"/>
          <p:cNvSpPr/>
          <p:nvPr/>
        </p:nvSpPr>
        <p:spPr>
          <a:xfrm>
            <a:off x="7223760" y="287136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6" name="Text 35"/>
          <p:cNvSpPr/>
          <p:nvPr/>
        </p:nvSpPr>
        <p:spPr>
          <a:xfrm>
            <a:off x="7571160" y="287136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대표로 설정 클릭 시 방 기본 화면의 대표 도감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테라리움을 갱신한다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7" name="Text 36"/>
          <p:cNvSpPr/>
          <p:nvPr/>
        </p:nvSpPr>
        <p:spPr>
          <a:xfrm>
            <a:off x="10634400" y="287136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 반영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8" name="Text 37"/>
          <p:cNvSpPr/>
          <p:nvPr/>
        </p:nvSpPr>
        <p:spPr>
          <a:xfrm>
            <a:off x="7223760" y="326448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9" name="Text 38"/>
          <p:cNvSpPr/>
          <p:nvPr/>
        </p:nvSpPr>
        <p:spPr>
          <a:xfrm>
            <a:off x="7571160" y="326448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비어 있는 슬롯은 잠금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미획득 상태로 유지한다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0" name="Text 39"/>
          <p:cNvSpPr/>
          <p:nvPr/>
        </p:nvSpPr>
        <p:spPr>
          <a:xfrm>
            <a:off x="10634400" y="326448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 상태 방지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1" name="Text 40"/>
          <p:cNvSpPr/>
          <p:nvPr/>
        </p:nvSpPr>
        <p:spPr>
          <a:xfrm>
            <a:off x="7223760" y="365760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2" name="Text 41"/>
          <p:cNvSpPr/>
          <p:nvPr/>
        </p:nvSpPr>
        <p:spPr>
          <a:xfrm>
            <a:off x="7571160" y="365760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AI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가 보는 나는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2P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전까지 준비중 문구와 조건을 표시한다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3" name="Text 42"/>
          <p:cNvSpPr/>
          <p:nvPr/>
        </p:nvSpPr>
        <p:spPr>
          <a:xfrm>
            <a:off x="10634400" y="365760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P36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4" name="Text 43"/>
          <p:cNvSpPr/>
          <p:nvPr/>
        </p:nvSpPr>
        <p:spPr>
          <a:xfrm>
            <a:off x="594360" y="548640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Tab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설계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5" name="Text 44"/>
          <p:cNvSpPr/>
          <p:nvPr/>
        </p:nvSpPr>
        <p:spPr>
          <a:xfrm>
            <a:off x="594360" y="5760720"/>
            <a:ext cx="132516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6" name="Text 45"/>
          <p:cNvSpPr/>
          <p:nvPr/>
        </p:nvSpPr>
        <p:spPr>
          <a:xfrm>
            <a:off x="1920240" y="5760720"/>
            <a:ext cx="356544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주요 요소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7" name="Text 46"/>
          <p:cNvSpPr/>
          <p:nvPr/>
        </p:nvSpPr>
        <p:spPr>
          <a:xfrm>
            <a:off x="5486400" y="5760720"/>
            <a:ext cx="356544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8" name="Text 47"/>
          <p:cNvSpPr/>
          <p:nvPr/>
        </p:nvSpPr>
        <p:spPr>
          <a:xfrm>
            <a:off x="9052560" y="5760720"/>
            <a:ext cx="251388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오류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9" name="Text 48"/>
          <p:cNvSpPr/>
          <p:nvPr/>
        </p:nvSpPr>
        <p:spPr>
          <a:xfrm>
            <a:off x="594360" y="598032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획득 기록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0" name="Text 49"/>
          <p:cNvSpPr/>
          <p:nvPr/>
        </p:nvSpPr>
        <p:spPr>
          <a:xfrm>
            <a:off x="1920240" y="598032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획득 캐릭터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날짜별 획득 이력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1" name="Text 50"/>
          <p:cNvSpPr/>
          <p:nvPr/>
        </p:nvSpPr>
        <p:spPr>
          <a:xfrm>
            <a:off x="5486400" y="598032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캐릭터 클릭 시 상세 설명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2" name="Text 51"/>
          <p:cNvSpPr/>
          <p:nvPr/>
        </p:nvSpPr>
        <p:spPr>
          <a:xfrm>
            <a:off x="9052560" y="598032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획득 없음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대화 후 열림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3" name="Text 52"/>
          <p:cNvSpPr/>
          <p:nvPr/>
        </p:nvSpPr>
        <p:spPr>
          <a:xfrm>
            <a:off x="594360" y="619956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설정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4" name="Text 53"/>
          <p:cNvSpPr/>
          <p:nvPr/>
        </p:nvSpPr>
        <p:spPr>
          <a:xfrm>
            <a:off x="1920240" y="61995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후보 목록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현재 대표 표시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5" name="Text 54"/>
          <p:cNvSpPr/>
          <p:nvPr/>
        </p:nvSpPr>
        <p:spPr>
          <a:xfrm>
            <a:off x="5486400" y="61995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대표로 설정 클릭 시 방 반영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6" name="Text 55"/>
          <p:cNvSpPr/>
          <p:nvPr/>
        </p:nvSpPr>
        <p:spPr>
          <a:xfrm>
            <a:off x="9052560" y="619956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없음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기본 도감 표시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7" name="Text 56"/>
          <p:cNvSpPr/>
          <p:nvPr/>
        </p:nvSpPr>
        <p:spPr>
          <a:xfrm>
            <a:off x="594360" y="641916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AI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가 보는 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8" name="Text 57"/>
          <p:cNvSpPr/>
          <p:nvPr/>
        </p:nvSpPr>
        <p:spPr>
          <a:xfrm>
            <a:off x="1920240" y="64191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반복 패턴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강점 문장 자리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9" name="Text 58"/>
          <p:cNvSpPr/>
          <p:nvPr/>
        </p:nvSpPr>
        <p:spPr>
          <a:xfrm>
            <a:off x="5486400" y="64191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2P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활성 시 문장 상세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0" name="Text 59"/>
          <p:cNvSpPr/>
          <p:nvPr/>
        </p:nvSpPr>
        <p:spPr>
          <a:xfrm>
            <a:off x="9052560" y="641916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 없음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 부족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잠금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1" name="PlaceHolder 1"/>
          <p:cNvSpPr>
            <a:spLocks noGrp="1"/>
          </p:cNvSpPr>
          <p:nvPr>
            <p:ph type="sldNum" idx="22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MY-R-D-004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도감 기능별 상세 화면설계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3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MY-R-004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에 포함된 오늘의 나 도감과 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AI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가 보는 나 준비 상태를 구체화합니다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4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5" name="Text 3"/>
          <p:cNvSpPr/>
          <p:nvPr/>
        </p:nvSpPr>
        <p:spPr>
          <a:xfrm>
            <a:off x="594360" y="96012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요구사항별 상세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6" name="Text 4"/>
          <p:cNvSpPr/>
          <p:nvPr/>
        </p:nvSpPr>
        <p:spPr>
          <a:xfrm>
            <a:off x="594360" y="1234440"/>
            <a:ext cx="68508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7" name="Text 5"/>
          <p:cNvSpPr/>
          <p:nvPr/>
        </p:nvSpPr>
        <p:spPr>
          <a:xfrm>
            <a:off x="1280160" y="1234440"/>
            <a:ext cx="132516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8" name="Text 6"/>
          <p:cNvSpPr/>
          <p:nvPr/>
        </p:nvSpPr>
        <p:spPr>
          <a:xfrm>
            <a:off x="2606040" y="1234440"/>
            <a:ext cx="182808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화면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9" name="Text 7"/>
          <p:cNvSpPr/>
          <p:nvPr/>
        </p:nvSpPr>
        <p:spPr>
          <a:xfrm>
            <a:off x="4434840" y="1234440"/>
            <a:ext cx="265104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화면 요소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0" name="Text 8"/>
          <p:cNvSpPr/>
          <p:nvPr/>
        </p:nvSpPr>
        <p:spPr>
          <a:xfrm>
            <a:off x="7086600" y="1234440"/>
            <a:ext cx="201096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상호작용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1" name="Text 9"/>
          <p:cNvSpPr/>
          <p:nvPr/>
        </p:nvSpPr>
        <p:spPr>
          <a:xfrm>
            <a:off x="9098280" y="1234440"/>
            <a:ext cx="100512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우선순위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2" name="Text 10"/>
          <p:cNvSpPr/>
          <p:nvPr/>
        </p:nvSpPr>
        <p:spPr>
          <a:xfrm>
            <a:off x="594360" y="154548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P07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3" name="Text 11"/>
          <p:cNvSpPr/>
          <p:nvPr/>
        </p:nvSpPr>
        <p:spPr>
          <a:xfrm>
            <a:off x="1280160" y="154548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오늘의 나 도감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4" name="Text 12"/>
          <p:cNvSpPr/>
          <p:nvPr/>
        </p:nvSpPr>
        <p:spPr>
          <a:xfrm>
            <a:off x="2606040" y="154548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MY-R-004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획득 기록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5" name="Text 13"/>
          <p:cNvSpPr/>
          <p:nvPr/>
        </p:nvSpPr>
        <p:spPr>
          <a:xfrm>
            <a:off x="4434840" y="154548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획득 캐릭터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날짜별 슬롯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획득 조건 안내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설정 버튼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6" name="Text 14"/>
          <p:cNvSpPr/>
          <p:nvPr/>
        </p:nvSpPr>
        <p:spPr>
          <a:xfrm>
            <a:off x="7086600" y="154548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일일 리포트 후 획득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미획득 슬롯은 잠금으로 유지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7" name="Text 15"/>
          <p:cNvSpPr/>
          <p:nvPr/>
        </p:nvSpPr>
        <p:spPr>
          <a:xfrm>
            <a:off x="9098280" y="154548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8" name="Text 16"/>
          <p:cNvSpPr/>
          <p:nvPr/>
        </p:nvSpPr>
        <p:spPr>
          <a:xfrm>
            <a:off x="594360" y="185616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P36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9" name="Text 17"/>
          <p:cNvSpPr/>
          <p:nvPr/>
        </p:nvSpPr>
        <p:spPr>
          <a:xfrm>
            <a:off x="1280160" y="185616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AI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가 보는 나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0" name="Text 18"/>
          <p:cNvSpPr/>
          <p:nvPr/>
        </p:nvSpPr>
        <p:spPr>
          <a:xfrm>
            <a:off x="2606040" y="185616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MY-R-004 / AI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가 보는 나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1" name="Text 19"/>
          <p:cNvSpPr/>
          <p:nvPr/>
        </p:nvSpPr>
        <p:spPr>
          <a:xfrm>
            <a:off x="4434840" y="185616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자기이해 문장 후보 영역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반복 패턴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강점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근거 기록 링크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2" name="Text 20"/>
          <p:cNvSpPr/>
          <p:nvPr/>
        </p:nvSpPr>
        <p:spPr>
          <a:xfrm>
            <a:off x="7086600" y="185616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 충분 시 활성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점수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표현 기준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3" name="Text 21"/>
          <p:cNvSpPr/>
          <p:nvPr/>
        </p:nvSpPr>
        <p:spPr>
          <a:xfrm>
            <a:off x="9098280" y="185616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4" name="Text 22"/>
          <p:cNvSpPr/>
          <p:nvPr/>
        </p:nvSpPr>
        <p:spPr>
          <a:xfrm>
            <a:off x="594360" y="2743200"/>
            <a:ext cx="5302800" cy="236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Wireframe: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날짜별 도감 슬롯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5" name="Shape 23"/>
          <p:cNvSpPr/>
          <p:nvPr/>
        </p:nvSpPr>
        <p:spPr>
          <a:xfrm>
            <a:off x="594360" y="2980800"/>
            <a:ext cx="5302800" cy="2504880"/>
          </a:xfrm>
          <a:prstGeom prst="rect">
            <a:avLst/>
          </a:prstGeom>
          <a:solidFill>
            <a:srgbClr val="FBFBF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886" name="Text 24"/>
          <p:cNvSpPr/>
          <p:nvPr/>
        </p:nvSpPr>
        <p:spPr>
          <a:xfrm>
            <a:off x="704160" y="30999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날짜별 슬롯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획득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미획득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잠금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7" name="Text 25"/>
          <p:cNvSpPr/>
          <p:nvPr/>
        </p:nvSpPr>
        <p:spPr>
          <a:xfrm>
            <a:off x="704160" y="34563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획득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이름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+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 이미지 자리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8" name="Text 26"/>
          <p:cNvSpPr/>
          <p:nvPr/>
        </p:nvSpPr>
        <p:spPr>
          <a:xfrm>
            <a:off x="704160" y="38131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버튼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대표로 설정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9" name="Text 27"/>
          <p:cNvSpPr/>
          <p:nvPr/>
        </p:nvSpPr>
        <p:spPr>
          <a:xfrm>
            <a:off x="704160" y="41695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 상태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오늘 대화 후 획득할 수 있어요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0" name="Text 28"/>
          <p:cNvSpPr/>
          <p:nvPr/>
        </p:nvSpPr>
        <p:spPr>
          <a:xfrm>
            <a:off x="6263640" y="2743200"/>
            <a:ext cx="5302800" cy="236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Wireframe: AI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가 보는 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1" name="Shape 29"/>
          <p:cNvSpPr/>
          <p:nvPr/>
        </p:nvSpPr>
        <p:spPr>
          <a:xfrm>
            <a:off x="6263640" y="2980800"/>
            <a:ext cx="5302800" cy="2504880"/>
          </a:xfrm>
          <a:prstGeom prst="rect">
            <a:avLst/>
          </a:prstGeom>
          <a:solidFill>
            <a:srgbClr val="FBFBF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892" name="Text 30"/>
          <p:cNvSpPr/>
          <p:nvPr/>
        </p:nvSpPr>
        <p:spPr>
          <a:xfrm>
            <a:off x="6373440" y="30999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준비중 배지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3" name="Text 31"/>
          <p:cNvSpPr/>
          <p:nvPr/>
        </p:nvSpPr>
        <p:spPr>
          <a:xfrm>
            <a:off x="6373440" y="34563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조건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동의 대화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+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확인 태그 누적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4" name="Text 32"/>
          <p:cNvSpPr/>
          <p:nvPr/>
        </p:nvSpPr>
        <p:spPr>
          <a:xfrm>
            <a:off x="6373440" y="38131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문장 영역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반복 패턴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강점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5" name="Text 33"/>
          <p:cNvSpPr/>
          <p:nvPr/>
        </p:nvSpPr>
        <p:spPr>
          <a:xfrm>
            <a:off x="6373440" y="41695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금지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점수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분류명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임상 판단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6" name="PlaceHolder 1"/>
          <p:cNvSpPr>
            <a:spLocks noGrp="1"/>
          </p:cNvSpPr>
          <p:nvPr>
            <p:ph type="sldNum" idx="23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MY-R-005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책장 팝업</a:t>
            </a: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AI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아카이브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8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아티팩트 클릭 → 대시보드형 팝업 탭 진입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기능 탭 선택 시 기능상세페이지 탭으로 이동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9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0" name="Text 3"/>
          <p:cNvSpPr/>
          <p:nvPr/>
        </p:nvSpPr>
        <p:spPr>
          <a:xfrm>
            <a:off x="502920" y="914400"/>
            <a:ext cx="8406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Page Title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1" name="Text 4"/>
          <p:cNvSpPr/>
          <p:nvPr/>
        </p:nvSpPr>
        <p:spPr>
          <a:xfrm>
            <a:off x="1344240" y="914400"/>
            <a:ext cx="214812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MY-R-005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책장 팝업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AI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아카이브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2" name="Text 5"/>
          <p:cNvSpPr/>
          <p:nvPr/>
        </p:nvSpPr>
        <p:spPr>
          <a:xfrm>
            <a:off x="3493080" y="914400"/>
            <a:ext cx="7491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3" name="Text 6"/>
          <p:cNvSpPr/>
          <p:nvPr/>
        </p:nvSpPr>
        <p:spPr>
          <a:xfrm>
            <a:off x="4242960" y="914400"/>
            <a:ext cx="14166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4" name="Text 7"/>
          <p:cNvSpPr/>
          <p:nvPr/>
        </p:nvSpPr>
        <p:spPr>
          <a:xfrm>
            <a:off x="5660280" y="914400"/>
            <a:ext cx="8679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Path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5" name="Text 8"/>
          <p:cNvSpPr/>
          <p:nvPr/>
        </p:nvSpPr>
        <p:spPr>
          <a:xfrm>
            <a:off x="6528960" y="914400"/>
            <a:ext cx="274248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&gt;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기본 화면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&gt;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책장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기억병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6" name="Text 9"/>
          <p:cNvSpPr/>
          <p:nvPr/>
        </p:nvSpPr>
        <p:spPr>
          <a:xfrm>
            <a:off x="9272160" y="914400"/>
            <a:ext cx="71244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Version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7" name="Text 10"/>
          <p:cNvSpPr/>
          <p:nvPr/>
        </p:nvSpPr>
        <p:spPr>
          <a:xfrm>
            <a:off x="9985320" y="914400"/>
            <a:ext cx="6393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v0.9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8" name="Text 11"/>
          <p:cNvSpPr/>
          <p:nvPr/>
        </p:nvSpPr>
        <p:spPr>
          <a:xfrm>
            <a:off x="10625400" y="914400"/>
            <a:ext cx="45648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Type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9" name="Text 12"/>
          <p:cNvSpPr/>
          <p:nvPr/>
        </p:nvSpPr>
        <p:spPr>
          <a:xfrm>
            <a:off x="11082600" y="914400"/>
            <a:ext cx="5022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0" name="Text 13"/>
          <p:cNvSpPr/>
          <p:nvPr/>
        </p:nvSpPr>
        <p:spPr>
          <a:xfrm>
            <a:off x="594360" y="1417320"/>
            <a:ext cx="6308640" cy="27360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MY-R-005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책장 팝업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AI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아카이브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1" name="Text 14"/>
          <p:cNvSpPr/>
          <p:nvPr/>
        </p:nvSpPr>
        <p:spPr>
          <a:xfrm>
            <a:off x="594360" y="1746360"/>
            <a:ext cx="203544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목록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2" name="Text 15"/>
          <p:cNvSpPr/>
          <p:nvPr/>
        </p:nvSpPr>
        <p:spPr>
          <a:xfrm>
            <a:off x="2648880" y="1746360"/>
            <a:ext cx="203544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항목 관리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3" name="Text 16"/>
          <p:cNvSpPr/>
          <p:nvPr/>
        </p:nvSpPr>
        <p:spPr>
          <a:xfrm>
            <a:off x="4703040" y="1746360"/>
            <a:ext cx="203544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활용 동의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4" name="Text 17"/>
          <p:cNvSpPr/>
          <p:nvPr/>
        </p:nvSpPr>
        <p:spPr>
          <a:xfrm>
            <a:off x="594360" y="213984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목록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사용자 정보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최근 활용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5" name="Text 18"/>
          <p:cNvSpPr/>
          <p:nvPr/>
        </p:nvSpPr>
        <p:spPr>
          <a:xfrm>
            <a:off x="3794760" y="213984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가능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개별 항목 삭제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6" name="Text 19"/>
          <p:cNvSpPr/>
          <p:nvPr/>
        </p:nvSpPr>
        <p:spPr>
          <a:xfrm>
            <a:off x="594360" y="285300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유지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다음 대화 활용 대상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7" name="Text 20"/>
          <p:cNvSpPr/>
          <p:nvPr/>
        </p:nvSpPr>
        <p:spPr>
          <a:xfrm>
            <a:off x="3794760" y="2853000"/>
            <a:ext cx="3108240" cy="621000"/>
          </a:xfrm>
          <a:prstGeom prst="rect">
            <a:avLst/>
          </a:prstGeom>
          <a:solidFill>
            <a:srgbClr val="F8F8F8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활용 동의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철회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8" name="Text 21"/>
          <p:cNvSpPr/>
          <p:nvPr/>
        </p:nvSpPr>
        <p:spPr>
          <a:xfrm>
            <a:off x="594360" y="3566160"/>
            <a:ext cx="3108240" cy="621000"/>
          </a:xfrm>
          <a:prstGeom prst="rect">
            <a:avLst/>
          </a:prstGeom>
          <a:solidFill>
            <a:srgbClr val="F8F8F8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준비중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전 자리 유지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9" name="Text 22"/>
          <p:cNvSpPr/>
          <p:nvPr/>
        </p:nvSpPr>
        <p:spPr>
          <a:xfrm>
            <a:off x="3794760" y="3566160"/>
            <a:ext cx="3108240" cy="621000"/>
          </a:xfrm>
          <a:prstGeom prst="rect">
            <a:avLst/>
          </a:prstGeom>
          <a:solidFill>
            <a:srgbClr val="F8F8F8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토스트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성공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실패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0" name="Shape 23"/>
          <p:cNvSpPr/>
          <p:nvPr/>
        </p:nvSpPr>
        <p:spPr>
          <a:xfrm>
            <a:off x="594360" y="1417320"/>
            <a:ext cx="6308640" cy="4251240"/>
          </a:xfrm>
          <a:prstGeom prst="rect">
            <a:avLst/>
          </a:prstGeom>
          <a:noFill/>
          <a:ln w="1016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921" name="Text 24"/>
          <p:cNvSpPr/>
          <p:nvPr/>
        </p:nvSpPr>
        <p:spPr>
          <a:xfrm>
            <a:off x="7223760" y="1417320"/>
            <a:ext cx="447984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Description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2" name="Text 25"/>
          <p:cNvSpPr/>
          <p:nvPr/>
        </p:nvSpPr>
        <p:spPr>
          <a:xfrm>
            <a:off x="7223760" y="1691640"/>
            <a:ext cx="34668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No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3" name="Text 26"/>
          <p:cNvSpPr/>
          <p:nvPr/>
        </p:nvSpPr>
        <p:spPr>
          <a:xfrm>
            <a:off x="7571160" y="1691640"/>
            <a:ext cx="306252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동작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4" name="Text 27"/>
          <p:cNvSpPr/>
          <p:nvPr/>
        </p:nvSpPr>
        <p:spPr>
          <a:xfrm>
            <a:off x="10634400" y="1691640"/>
            <a:ext cx="106920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Check Point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5" name="Text 28"/>
          <p:cNvSpPr/>
          <p:nvPr/>
        </p:nvSpPr>
        <p:spPr>
          <a:xfrm>
            <a:off x="7223760" y="208476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6" name="Text 29"/>
          <p:cNvSpPr/>
          <p:nvPr/>
        </p:nvSpPr>
        <p:spPr>
          <a:xfrm>
            <a:off x="7571160" y="208476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책장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기억병 클릭 시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AI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팝업을 연다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7" name="Text 30"/>
          <p:cNvSpPr/>
          <p:nvPr/>
        </p:nvSpPr>
        <p:spPr>
          <a:xfrm>
            <a:off x="10634400" y="208476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연결 대상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책장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8" name="Text 31"/>
          <p:cNvSpPr/>
          <p:nvPr/>
        </p:nvSpPr>
        <p:spPr>
          <a:xfrm>
            <a:off x="7223760" y="247788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9" name="Text 32"/>
          <p:cNvSpPr/>
          <p:nvPr/>
        </p:nvSpPr>
        <p:spPr>
          <a:xfrm>
            <a:off x="7571160" y="247788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AI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가 기억하는 사용자 정보 목록을 표시한다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0" name="Text 33"/>
          <p:cNvSpPr/>
          <p:nvPr/>
        </p:nvSpPr>
        <p:spPr>
          <a:xfrm>
            <a:off x="10634400" y="247788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P23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1" name="Text 34"/>
          <p:cNvSpPr/>
          <p:nvPr/>
        </p:nvSpPr>
        <p:spPr>
          <a:xfrm>
            <a:off x="7223760" y="287136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2" name="Text 35"/>
          <p:cNvSpPr/>
          <p:nvPr/>
        </p:nvSpPr>
        <p:spPr>
          <a:xfrm>
            <a:off x="7571160" y="287136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개별 항목을 삭제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유지로 관리하고 삭제 확인 모달을 제공한다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3" name="Text 36"/>
          <p:cNvSpPr/>
          <p:nvPr/>
        </p:nvSpPr>
        <p:spPr>
          <a:xfrm>
            <a:off x="10634400" y="287136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P23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통합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4" name="Text 37"/>
          <p:cNvSpPr/>
          <p:nvPr/>
        </p:nvSpPr>
        <p:spPr>
          <a:xfrm>
            <a:off x="7223760" y="326448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5" name="Text 38"/>
          <p:cNvSpPr/>
          <p:nvPr/>
        </p:nvSpPr>
        <p:spPr>
          <a:xfrm>
            <a:off x="7571160" y="326448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완료 또는 실패는 토스트로 안내한다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6" name="Text 39"/>
          <p:cNvSpPr/>
          <p:nvPr/>
        </p:nvSpPr>
        <p:spPr>
          <a:xfrm>
            <a:off x="10634400" y="326448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 피드백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7" name="Text 40"/>
          <p:cNvSpPr/>
          <p:nvPr/>
        </p:nvSpPr>
        <p:spPr>
          <a:xfrm>
            <a:off x="7223760" y="365760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8" name="Text 41"/>
          <p:cNvSpPr/>
          <p:nvPr/>
        </p:nvSpPr>
        <p:spPr>
          <a:xfrm>
            <a:off x="7571160" y="365760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전에는 기억병 자리와 준비중 안내를 표시한다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9" name="Text 42"/>
          <p:cNvSpPr/>
          <p:nvPr/>
        </p:nvSpPr>
        <p:spPr>
          <a:xfrm>
            <a:off x="10634400" y="365760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자연스러운 확장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0" name="Text 43"/>
          <p:cNvSpPr/>
          <p:nvPr/>
        </p:nvSpPr>
        <p:spPr>
          <a:xfrm>
            <a:off x="594360" y="548640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Tab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설계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1" name="Text 44"/>
          <p:cNvSpPr/>
          <p:nvPr/>
        </p:nvSpPr>
        <p:spPr>
          <a:xfrm>
            <a:off x="594360" y="5760720"/>
            <a:ext cx="132516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2" name="Text 45"/>
          <p:cNvSpPr/>
          <p:nvPr/>
        </p:nvSpPr>
        <p:spPr>
          <a:xfrm>
            <a:off x="1920240" y="5760720"/>
            <a:ext cx="356544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주요 요소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3" name="Text 46"/>
          <p:cNvSpPr/>
          <p:nvPr/>
        </p:nvSpPr>
        <p:spPr>
          <a:xfrm>
            <a:off x="5486400" y="5760720"/>
            <a:ext cx="356544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4" name="Text 47"/>
          <p:cNvSpPr/>
          <p:nvPr/>
        </p:nvSpPr>
        <p:spPr>
          <a:xfrm>
            <a:off x="9052560" y="5760720"/>
            <a:ext cx="251388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오류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5" name="Text 48"/>
          <p:cNvSpPr/>
          <p:nvPr/>
        </p:nvSpPr>
        <p:spPr>
          <a:xfrm>
            <a:off x="594360" y="598032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목록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6" name="Text 49"/>
          <p:cNvSpPr/>
          <p:nvPr/>
        </p:nvSpPr>
        <p:spPr>
          <a:xfrm>
            <a:off x="1920240" y="598032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항목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분류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활용 상태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생성 기준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7" name="Text 50"/>
          <p:cNvSpPr/>
          <p:nvPr/>
        </p:nvSpPr>
        <p:spPr>
          <a:xfrm>
            <a:off x="5486400" y="598032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항목 클릭 시 상세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활용 여부 표시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8" name="Text 51"/>
          <p:cNvSpPr/>
          <p:nvPr/>
        </p:nvSpPr>
        <p:spPr>
          <a:xfrm>
            <a:off x="9052560" y="598032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없음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동의 후 생성 안내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9" name="Text 52"/>
          <p:cNvSpPr/>
          <p:nvPr/>
        </p:nvSpPr>
        <p:spPr>
          <a:xfrm>
            <a:off x="594360" y="619956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항목 관리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0" name="Text 53"/>
          <p:cNvSpPr/>
          <p:nvPr/>
        </p:nvSpPr>
        <p:spPr>
          <a:xfrm>
            <a:off x="1920240" y="61995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가능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유지 버튼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확인 모달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1" name="Text 54"/>
          <p:cNvSpPr/>
          <p:nvPr/>
        </p:nvSpPr>
        <p:spPr>
          <a:xfrm>
            <a:off x="5486400" y="61995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확인 후 목록 제거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토스트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2" name="Text 55"/>
          <p:cNvSpPr/>
          <p:nvPr/>
        </p:nvSpPr>
        <p:spPr>
          <a:xfrm>
            <a:off x="9052560" y="619956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실패 시 상태 유지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3" name="Text 56"/>
          <p:cNvSpPr/>
          <p:nvPr/>
        </p:nvSpPr>
        <p:spPr>
          <a:xfrm>
            <a:off x="594360" y="641916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활용 동의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4" name="Text 57"/>
          <p:cNvSpPr/>
          <p:nvPr/>
        </p:nvSpPr>
        <p:spPr>
          <a:xfrm>
            <a:off x="1920240" y="64191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 상태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철회 안내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중지 범위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5" name="Text 58"/>
          <p:cNvSpPr/>
          <p:nvPr/>
        </p:nvSpPr>
        <p:spPr>
          <a:xfrm>
            <a:off x="5486400" y="64191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철회 클릭 시 재확인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6" name="Text 59"/>
          <p:cNvSpPr/>
          <p:nvPr/>
        </p:nvSpPr>
        <p:spPr>
          <a:xfrm>
            <a:off x="9052560" y="641916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 철회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검색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추천 중지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7" name="PlaceHolder 1"/>
          <p:cNvSpPr>
            <a:spLocks noGrp="1"/>
          </p:cNvSpPr>
          <p:nvPr>
            <p:ph type="sldNum" idx="24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MY-R-D-005 AI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기능별 상세 화면설계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9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MY-R-005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의 기억 목록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삭제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유지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활용 동의 상태를 구체화합니다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0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1" name="Text 3"/>
          <p:cNvSpPr/>
          <p:nvPr/>
        </p:nvSpPr>
        <p:spPr>
          <a:xfrm>
            <a:off x="594360" y="96012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요구사항별 상세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2" name="Text 4"/>
          <p:cNvSpPr/>
          <p:nvPr/>
        </p:nvSpPr>
        <p:spPr>
          <a:xfrm>
            <a:off x="594360" y="1234440"/>
            <a:ext cx="68508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3" name="Text 5"/>
          <p:cNvSpPr/>
          <p:nvPr/>
        </p:nvSpPr>
        <p:spPr>
          <a:xfrm>
            <a:off x="1280160" y="1234440"/>
            <a:ext cx="132516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4" name="Text 6"/>
          <p:cNvSpPr/>
          <p:nvPr/>
        </p:nvSpPr>
        <p:spPr>
          <a:xfrm>
            <a:off x="2606040" y="1234440"/>
            <a:ext cx="182808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화면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5" name="Text 7"/>
          <p:cNvSpPr/>
          <p:nvPr/>
        </p:nvSpPr>
        <p:spPr>
          <a:xfrm>
            <a:off x="4434840" y="1234440"/>
            <a:ext cx="265104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화면 요소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6" name="Text 8"/>
          <p:cNvSpPr/>
          <p:nvPr/>
        </p:nvSpPr>
        <p:spPr>
          <a:xfrm>
            <a:off x="7086600" y="1234440"/>
            <a:ext cx="201096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상호작용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7" name="Text 9"/>
          <p:cNvSpPr/>
          <p:nvPr/>
        </p:nvSpPr>
        <p:spPr>
          <a:xfrm>
            <a:off x="9098280" y="1234440"/>
            <a:ext cx="100512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우선순위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8" name="Text 10"/>
          <p:cNvSpPr/>
          <p:nvPr/>
        </p:nvSpPr>
        <p:spPr>
          <a:xfrm>
            <a:off x="594360" y="154548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P23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9" name="Text 11"/>
          <p:cNvSpPr/>
          <p:nvPr/>
        </p:nvSpPr>
        <p:spPr>
          <a:xfrm>
            <a:off x="1280160" y="154548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AI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아카이브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0" name="Text 12"/>
          <p:cNvSpPr/>
          <p:nvPr/>
        </p:nvSpPr>
        <p:spPr>
          <a:xfrm>
            <a:off x="2606040" y="154548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MY-R-005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목록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1" name="Text 13"/>
          <p:cNvSpPr/>
          <p:nvPr/>
        </p:nvSpPr>
        <p:spPr>
          <a:xfrm>
            <a:off x="4434840" y="154548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항목 리스트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분류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최근 활용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다음 대화 활용 여부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2" name="Text 14"/>
          <p:cNvSpPr/>
          <p:nvPr/>
        </p:nvSpPr>
        <p:spPr>
          <a:xfrm>
            <a:off x="7086600" y="154548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항목 클릭 시 상세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동의 기록만 기억 생성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3" name="Text 15"/>
          <p:cNvSpPr/>
          <p:nvPr/>
        </p:nvSpPr>
        <p:spPr>
          <a:xfrm>
            <a:off x="9098280" y="154548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MVP+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4" name="Text 16"/>
          <p:cNvSpPr/>
          <p:nvPr/>
        </p:nvSpPr>
        <p:spPr>
          <a:xfrm>
            <a:off x="594360" y="185616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P23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통합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5" name="Text 17"/>
          <p:cNvSpPr/>
          <p:nvPr/>
        </p:nvSpPr>
        <p:spPr>
          <a:xfrm>
            <a:off x="1280160" y="185616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항목 관리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6" name="Text 18"/>
          <p:cNvSpPr/>
          <p:nvPr/>
        </p:nvSpPr>
        <p:spPr>
          <a:xfrm>
            <a:off x="2606040" y="185616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MY-R-005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목록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7" name="Text 19"/>
          <p:cNvSpPr/>
          <p:nvPr/>
        </p:nvSpPr>
        <p:spPr>
          <a:xfrm>
            <a:off x="4434840" y="185616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유지 버튼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확인 모달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완료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실패 토스트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8" name="Text 20"/>
          <p:cNvSpPr/>
          <p:nvPr/>
        </p:nvSpPr>
        <p:spPr>
          <a:xfrm>
            <a:off x="7086600" y="185616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시 다음 대화 활용 대상에서 제외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9" name="Text 21"/>
          <p:cNvSpPr/>
          <p:nvPr/>
        </p:nvSpPr>
        <p:spPr>
          <a:xfrm>
            <a:off x="9098280" y="185616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MVP+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80" name="Text 22"/>
          <p:cNvSpPr/>
          <p:nvPr/>
        </p:nvSpPr>
        <p:spPr>
          <a:xfrm>
            <a:off x="594360" y="2743200"/>
            <a:ext cx="5302800" cy="236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Wireframe: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항목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81" name="Shape 23"/>
          <p:cNvSpPr/>
          <p:nvPr/>
        </p:nvSpPr>
        <p:spPr>
          <a:xfrm>
            <a:off x="594360" y="2980800"/>
            <a:ext cx="5302800" cy="2504880"/>
          </a:xfrm>
          <a:prstGeom prst="rect">
            <a:avLst/>
          </a:prstGeom>
          <a:solidFill>
            <a:srgbClr val="FBFBF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982" name="Text 24"/>
          <p:cNvSpPr/>
          <p:nvPr/>
        </p:nvSpPr>
        <p:spPr>
          <a:xfrm>
            <a:off x="704160" y="30999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항목명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수면 리듬 신경 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83" name="Text 25"/>
          <p:cNvSpPr/>
          <p:nvPr/>
        </p:nvSpPr>
        <p:spPr>
          <a:xfrm>
            <a:off x="704160" y="34563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유지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활용 중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가능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84" name="Text 26"/>
          <p:cNvSpPr/>
          <p:nvPr/>
        </p:nvSpPr>
        <p:spPr>
          <a:xfrm>
            <a:off x="704160" y="38131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버튼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유지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85" name="Text 27"/>
          <p:cNvSpPr/>
          <p:nvPr/>
        </p:nvSpPr>
        <p:spPr>
          <a:xfrm>
            <a:off x="704160" y="41695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생성 기준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동의 대화만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86" name="Text 28"/>
          <p:cNvSpPr/>
          <p:nvPr/>
        </p:nvSpPr>
        <p:spPr>
          <a:xfrm>
            <a:off x="6263640" y="2743200"/>
            <a:ext cx="5302800" cy="236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Wireframe: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확인 모달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87" name="Shape 29"/>
          <p:cNvSpPr/>
          <p:nvPr/>
        </p:nvSpPr>
        <p:spPr>
          <a:xfrm>
            <a:off x="6263640" y="2980800"/>
            <a:ext cx="5302800" cy="2504880"/>
          </a:xfrm>
          <a:prstGeom prst="rect">
            <a:avLst/>
          </a:prstGeom>
          <a:solidFill>
            <a:srgbClr val="FBFBF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988" name="Text 30"/>
          <p:cNvSpPr/>
          <p:nvPr/>
        </p:nvSpPr>
        <p:spPr>
          <a:xfrm>
            <a:off x="6373440" y="30999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제목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이 기억을 삭제할까요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?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89" name="Text 31"/>
          <p:cNvSpPr/>
          <p:nvPr/>
        </p:nvSpPr>
        <p:spPr>
          <a:xfrm>
            <a:off x="6373440" y="345636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본문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후 다음 대화에 활용되지 않아요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0" name="Text 32"/>
          <p:cNvSpPr/>
          <p:nvPr/>
        </p:nvSpPr>
        <p:spPr>
          <a:xfrm>
            <a:off x="6373440" y="38131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버튼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취소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1" name="Text 33"/>
          <p:cNvSpPr/>
          <p:nvPr/>
        </p:nvSpPr>
        <p:spPr>
          <a:xfrm>
            <a:off x="6373440" y="4169520"/>
            <a:ext cx="5083200" cy="29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토스트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완료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실패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2" name="PlaceHolder 1"/>
          <p:cNvSpPr>
            <a:spLocks noGrp="1"/>
          </p:cNvSpPr>
          <p:nvPr>
            <p:ph type="sldNum" idx="25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TextBox 1"/>
          <p:cNvSpPr/>
          <p:nvPr/>
        </p:nvSpPr>
        <p:spPr>
          <a:xfrm>
            <a:off x="502920" y="20124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MY-R-006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망원경 팝업</a:t>
            </a: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분석 통계 대시보드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4" name="TextBox 2"/>
          <p:cNvSpPr/>
          <p:nvPr/>
        </p:nvSpPr>
        <p:spPr>
          <a:xfrm>
            <a:off x="502920" y="548640"/>
            <a:ext cx="8777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마음 리포트와 겹치지 않도록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문장형 결과물이 아니라 누적 데이터 기반 통계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·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근거 화면으로 시각화합니다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5" name="TextBox 3"/>
          <p:cNvSpPr/>
          <p:nvPr/>
        </p:nvSpPr>
        <p:spPr>
          <a:xfrm>
            <a:off x="9235440" y="228600"/>
            <a:ext cx="2513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6" name="TextBox 4"/>
          <p:cNvSpPr/>
          <p:nvPr/>
        </p:nvSpPr>
        <p:spPr>
          <a:xfrm>
            <a:off x="11475720" y="649224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22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7" name="Rectangle 5"/>
          <p:cNvSpPr/>
          <p:nvPr/>
        </p:nvSpPr>
        <p:spPr>
          <a:xfrm>
            <a:off x="502920" y="914400"/>
            <a:ext cx="840600" cy="3103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Page Title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8" name="Rectangle 6"/>
          <p:cNvSpPr/>
          <p:nvPr/>
        </p:nvSpPr>
        <p:spPr>
          <a:xfrm>
            <a:off x="1344240" y="914400"/>
            <a:ext cx="2148120" cy="3103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MY-R-006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망원경 팝업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분석 통계 대시보드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9" name="Rectangle 7"/>
          <p:cNvSpPr/>
          <p:nvPr/>
        </p:nvSpPr>
        <p:spPr>
          <a:xfrm>
            <a:off x="3493080" y="914400"/>
            <a:ext cx="749160" cy="3103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Screen 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00" name="Rectangle 8"/>
          <p:cNvSpPr/>
          <p:nvPr/>
        </p:nvSpPr>
        <p:spPr>
          <a:xfrm>
            <a:off x="4242960" y="914400"/>
            <a:ext cx="1416600" cy="3103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MY-R-006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01" name="Rectangle 9"/>
          <p:cNvSpPr/>
          <p:nvPr/>
        </p:nvSpPr>
        <p:spPr>
          <a:xfrm>
            <a:off x="5660280" y="914400"/>
            <a:ext cx="867960" cy="3103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Screen Path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02" name="Rectangle 10"/>
          <p:cNvSpPr/>
          <p:nvPr/>
        </p:nvSpPr>
        <p:spPr>
          <a:xfrm>
            <a:off x="6528960" y="914400"/>
            <a:ext cx="2605320" cy="3103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&gt;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방 기본 화면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&gt;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망원경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돋보기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03" name="Rectangle 11"/>
          <p:cNvSpPr/>
          <p:nvPr/>
        </p:nvSpPr>
        <p:spPr>
          <a:xfrm>
            <a:off x="9135000" y="914400"/>
            <a:ext cx="685080" cy="3103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Version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04" name="Rectangle 12"/>
          <p:cNvSpPr/>
          <p:nvPr/>
        </p:nvSpPr>
        <p:spPr>
          <a:xfrm>
            <a:off x="9820800" y="914400"/>
            <a:ext cx="639360" cy="3103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05" name="Rectangle 13"/>
          <p:cNvSpPr/>
          <p:nvPr/>
        </p:nvSpPr>
        <p:spPr>
          <a:xfrm>
            <a:off x="10460880" y="914400"/>
            <a:ext cx="502200" cy="3103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Type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06" name="Rectangle 14"/>
          <p:cNvSpPr/>
          <p:nvPr/>
        </p:nvSpPr>
        <p:spPr>
          <a:xfrm>
            <a:off x="10963800" y="914400"/>
            <a:ext cx="502200" cy="3103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07" name="Rectangle 15"/>
          <p:cNvSpPr/>
          <p:nvPr/>
        </p:nvSpPr>
        <p:spPr>
          <a:xfrm>
            <a:off x="594360" y="1417320"/>
            <a:ext cx="5988600" cy="3702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08" name="Rectangle 16"/>
          <p:cNvSpPr/>
          <p:nvPr/>
        </p:nvSpPr>
        <p:spPr>
          <a:xfrm>
            <a:off x="594360" y="1417320"/>
            <a:ext cx="5988600" cy="30096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MY-R-006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분석 통계 대시보드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09" name="Rounded Rectangle 17"/>
          <p:cNvSpPr/>
          <p:nvPr/>
        </p:nvSpPr>
        <p:spPr>
          <a:xfrm>
            <a:off x="777240" y="1847160"/>
            <a:ext cx="1233720" cy="2552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기준선 변화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10" name="Rounded Rectangle 18"/>
          <p:cNvSpPr/>
          <p:nvPr/>
        </p:nvSpPr>
        <p:spPr>
          <a:xfrm>
            <a:off x="2103120" y="1847160"/>
            <a:ext cx="1416600" cy="25524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-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11" name="Rounded Rectangle 19"/>
          <p:cNvSpPr/>
          <p:nvPr/>
        </p:nvSpPr>
        <p:spPr>
          <a:xfrm>
            <a:off x="3611880" y="1847160"/>
            <a:ext cx="1233720" cy="2552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회복 반응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12" name="Rounded Rectangle 20"/>
          <p:cNvSpPr/>
          <p:nvPr/>
        </p:nvSpPr>
        <p:spPr>
          <a:xfrm>
            <a:off x="4937760" y="1847160"/>
            <a:ext cx="1233720" cy="2552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근거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범위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13" name="Rectangle 21"/>
          <p:cNvSpPr/>
          <p:nvPr/>
        </p:nvSpPr>
        <p:spPr>
          <a:xfrm>
            <a:off x="777240" y="2267640"/>
            <a:ext cx="1782360" cy="56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최근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 변화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+18%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14" name="Rectangle 22"/>
          <p:cNvSpPr/>
          <p:nvPr/>
        </p:nvSpPr>
        <p:spPr>
          <a:xfrm>
            <a:off x="2697480" y="2267640"/>
            <a:ext cx="1782360" cy="56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평소 기준선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잔잔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42% /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긴장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22%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15" name="Rectangle 23"/>
          <p:cNvSpPr/>
          <p:nvPr/>
        </p:nvSpPr>
        <p:spPr>
          <a:xfrm>
            <a:off x="4617720" y="2267640"/>
            <a:ext cx="1599480" cy="56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데이터 범위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동의 기록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18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16" name="Rectangle 24"/>
          <p:cNvSpPr/>
          <p:nvPr/>
        </p:nvSpPr>
        <p:spPr>
          <a:xfrm>
            <a:off x="777240" y="3017520"/>
            <a:ext cx="2422440" cy="169092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P33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기준선 대비 변화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17" name="Rectangle 25"/>
          <p:cNvSpPr/>
          <p:nvPr/>
        </p:nvSpPr>
        <p:spPr>
          <a:xfrm>
            <a:off x="960120" y="4023360"/>
            <a:ext cx="182160" cy="25524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18" name="Rectangle 26"/>
          <p:cNvSpPr/>
          <p:nvPr/>
        </p:nvSpPr>
        <p:spPr>
          <a:xfrm>
            <a:off x="1344240" y="3776400"/>
            <a:ext cx="182160" cy="50220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19" name="Rectangle 27"/>
          <p:cNvSpPr/>
          <p:nvPr/>
        </p:nvSpPr>
        <p:spPr>
          <a:xfrm>
            <a:off x="1728360" y="3931920"/>
            <a:ext cx="182160" cy="34668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20" name="Rectangle 28"/>
          <p:cNvSpPr/>
          <p:nvPr/>
        </p:nvSpPr>
        <p:spPr>
          <a:xfrm>
            <a:off x="2112120" y="3593520"/>
            <a:ext cx="182160" cy="68508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21" name="Rectangle 29"/>
          <p:cNvSpPr/>
          <p:nvPr/>
        </p:nvSpPr>
        <p:spPr>
          <a:xfrm>
            <a:off x="2496240" y="3712320"/>
            <a:ext cx="182160" cy="56628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22" name="TextBox 30"/>
          <p:cNvSpPr/>
          <p:nvPr/>
        </p:nvSpPr>
        <p:spPr>
          <a:xfrm>
            <a:off x="932760" y="4553640"/>
            <a:ext cx="2056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전체 평균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vs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최근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 비교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이상 신호 배지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23" name="Rectangle 31"/>
          <p:cNvSpPr/>
          <p:nvPr/>
        </p:nvSpPr>
        <p:spPr>
          <a:xfrm>
            <a:off x="3383280" y="3017520"/>
            <a:ext cx="1690920" cy="169092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P34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-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 매트릭스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24" name="Rectangle 32"/>
          <p:cNvSpPr/>
          <p:nvPr/>
        </p:nvSpPr>
        <p:spPr>
          <a:xfrm>
            <a:off x="3584520" y="3502080"/>
            <a:ext cx="319320" cy="22788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25" name="Rectangle 33"/>
          <p:cNvSpPr/>
          <p:nvPr/>
        </p:nvSpPr>
        <p:spPr>
          <a:xfrm>
            <a:off x="3968640" y="3502080"/>
            <a:ext cx="319320" cy="227880"/>
          </a:xfrm>
          <a:prstGeom prst="rect">
            <a:avLst/>
          </a:prstGeom>
          <a:solidFill>
            <a:srgbClr val="D1FAE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26" name="Rectangle 34"/>
          <p:cNvSpPr/>
          <p:nvPr/>
        </p:nvSpPr>
        <p:spPr>
          <a:xfrm>
            <a:off x="4352400" y="3502080"/>
            <a:ext cx="319320" cy="227880"/>
          </a:xfrm>
          <a:prstGeom prst="rect">
            <a:avLst/>
          </a:prstGeom>
          <a:solidFill>
            <a:srgbClr val="FEF3C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27" name="Rectangle 35"/>
          <p:cNvSpPr/>
          <p:nvPr/>
        </p:nvSpPr>
        <p:spPr>
          <a:xfrm>
            <a:off x="3584520" y="3803760"/>
            <a:ext cx="319320" cy="227880"/>
          </a:xfrm>
          <a:prstGeom prst="rect">
            <a:avLst/>
          </a:prstGeom>
          <a:solidFill>
            <a:srgbClr val="D1FAE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28" name="Rectangle 36"/>
          <p:cNvSpPr/>
          <p:nvPr/>
        </p:nvSpPr>
        <p:spPr>
          <a:xfrm>
            <a:off x="3968640" y="3803760"/>
            <a:ext cx="319320" cy="227880"/>
          </a:xfrm>
          <a:prstGeom prst="rect">
            <a:avLst/>
          </a:prstGeom>
          <a:solidFill>
            <a:srgbClr val="FEF3C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29" name="Rectangle 37"/>
          <p:cNvSpPr/>
          <p:nvPr/>
        </p:nvSpPr>
        <p:spPr>
          <a:xfrm>
            <a:off x="4352400" y="3803760"/>
            <a:ext cx="319320" cy="227880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30" name="Rectangle 38"/>
          <p:cNvSpPr/>
          <p:nvPr/>
        </p:nvSpPr>
        <p:spPr>
          <a:xfrm>
            <a:off x="3584520" y="4105800"/>
            <a:ext cx="319320" cy="227880"/>
          </a:xfrm>
          <a:prstGeom prst="rect">
            <a:avLst/>
          </a:prstGeom>
          <a:solidFill>
            <a:srgbClr val="FEF3C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31" name="Rectangle 39"/>
          <p:cNvSpPr/>
          <p:nvPr/>
        </p:nvSpPr>
        <p:spPr>
          <a:xfrm>
            <a:off x="3968640" y="4105800"/>
            <a:ext cx="319320" cy="227880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32" name="Rectangle 40"/>
          <p:cNvSpPr/>
          <p:nvPr/>
        </p:nvSpPr>
        <p:spPr>
          <a:xfrm>
            <a:off x="4352400" y="4105800"/>
            <a:ext cx="319320" cy="22788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33" name="TextBox 41"/>
          <p:cNvSpPr/>
          <p:nvPr/>
        </p:nvSpPr>
        <p:spPr>
          <a:xfrm>
            <a:off x="3547800" y="4526280"/>
            <a:ext cx="13251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×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 빈도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34" name="Rectangle 42"/>
          <p:cNvSpPr/>
          <p:nvPr/>
        </p:nvSpPr>
        <p:spPr>
          <a:xfrm>
            <a:off x="5257800" y="3017520"/>
            <a:ext cx="1142280" cy="169092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P35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회복 반응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35" name="TextBox 43"/>
          <p:cNvSpPr/>
          <p:nvPr/>
        </p:nvSpPr>
        <p:spPr>
          <a:xfrm>
            <a:off x="5376600" y="3447360"/>
            <a:ext cx="456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산책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36" name="Rectangle 44"/>
          <p:cNvSpPr/>
          <p:nvPr/>
        </p:nvSpPr>
        <p:spPr>
          <a:xfrm>
            <a:off x="5806440" y="3438000"/>
            <a:ext cx="593640" cy="127440"/>
          </a:xfrm>
          <a:prstGeom prst="rect">
            <a:avLst/>
          </a:prstGeom>
          <a:solidFill>
            <a:srgbClr val="D1FAE5"/>
          </a:solidFill>
          <a:ln w="762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37" name="TextBox 45"/>
          <p:cNvSpPr/>
          <p:nvPr/>
        </p:nvSpPr>
        <p:spPr>
          <a:xfrm>
            <a:off x="5376600" y="3758040"/>
            <a:ext cx="456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위로카드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38" name="Rectangle 46"/>
          <p:cNvSpPr/>
          <p:nvPr/>
        </p:nvSpPr>
        <p:spPr>
          <a:xfrm>
            <a:off x="5806440" y="3749040"/>
            <a:ext cx="822240" cy="127440"/>
          </a:xfrm>
          <a:prstGeom prst="rect">
            <a:avLst/>
          </a:prstGeom>
          <a:solidFill>
            <a:srgbClr val="D1FAE5"/>
          </a:solidFill>
          <a:ln w="762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39" name="TextBox 47"/>
          <p:cNvSpPr/>
          <p:nvPr/>
        </p:nvSpPr>
        <p:spPr>
          <a:xfrm>
            <a:off x="5376600" y="4069080"/>
            <a:ext cx="456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대화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0" name="Rectangle 48"/>
          <p:cNvSpPr/>
          <p:nvPr/>
        </p:nvSpPr>
        <p:spPr>
          <a:xfrm>
            <a:off x="5806440" y="4060080"/>
            <a:ext cx="456480" cy="127440"/>
          </a:xfrm>
          <a:prstGeom prst="rect">
            <a:avLst/>
          </a:prstGeom>
          <a:solidFill>
            <a:srgbClr val="D1FAE5"/>
          </a:solidFill>
          <a:ln w="762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041" name="TextBox 49"/>
          <p:cNvSpPr/>
          <p:nvPr/>
        </p:nvSpPr>
        <p:spPr>
          <a:xfrm>
            <a:off x="5358240" y="4526280"/>
            <a:ext cx="8679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도움 반응률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2" name="Rectangle 50"/>
          <p:cNvSpPr/>
          <p:nvPr/>
        </p:nvSpPr>
        <p:spPr>
          <a:xfrm>
            <a:off x="6812280" y="1417320"/>
            <a:ext cx="452556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Description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3" name="Rectangle 51"/>
          <p:cNvSpPr/>
          <p:nvPr/>
        </p:nvSpPr>
        <p:spPr>
          <a:xfrm>
            <a:off x="6812280" y="1673280"/>
            <a:ext cx="346680" cy="38340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No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4" name="Rectangle 52"/>
          <p:cNvSpPr/>
          <p:nvPr/>
        </p:nvSpPr>
        <p:spPr>
          <a:xfrm>
            <a:off x="7159680" y="1673280"/>
            <a:ext cx="3044160" cy="38340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기능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동작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5" name="Rectangle 53"/>
          <p:cNvSpPr/>
          <p:nvPr/>
        </p:nvSpPr>
        <p:spPr>
          <a:xfrm>
            <a:off x="10204560" y="1673280"/>
            <a:ext cx="1133280" cy="38340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Check Point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6" name="Rectangle 54"/>
          <p:cNvSpPr/>
          <p:nvPr/>
        </p:nvSpPr>
        <p:spPr>
          <a:xfrm>
            <a:off x="6812280" y="2057400"/>
            <a:ext cx="34668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7" name="Rectangle 55"/>
          <p:cNvSpPr/>
          <p:nvPr/>
        </p:nvSpPr>
        <p:spPr>
          <a:xfrm>
            <a:off x="7159680" y="2057400"/>
            <a:ext cx="304416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망원경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돋보기 클릭 시 분석 통계 팝업을 연다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8" name="Rectangle 56"/>
          <p:cNvSpPr/>
          <p:nvPr/>
        </p:nvSpPr>
        <p:spPr>
          <a:xfrm>
            <a:off x="10204560" y="2057400"/>
            <a:ext cx="113328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MY-R-006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9" name="Rectangle 57"/>
          <p:cNvSpPr/>
          <p:nvPr/>
        </p:nvSpPr>
        <p:spPr>
          <a:xfrm>
            <a:off x="6812280" y="2441520"/>
            <a:ext cx="34668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0" name="Rectangle 58"/>
          <p:cNvSpPr/>
          <p:nvPr/>
        </p:nvSpPr>
        <p:spPr>
          <a:xfrm>
            <a:off x="7159680" y="2441520"/>
            <a:ext cx="304416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평소 기준선과 최근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 흐름을 비교해 변화 카드를 표시한다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1" name="Rectangle 59"/>
          <p:cNvSpPr/>
          <p:nvPr/>
        </p:nvSpPr>
        <p:spPr>
          <a:xfrm>
            <a:off x="10204560" y="2441520"/>
            <a:ext cx="113328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P33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2" name="Rectangle 60"/>
          <p:cNvSpPr/>
          <p:nvPr/>
        </p:nvSpPr>
        <p:spPr>
          <a:xfrm>
            <a:off x="6812280" y="2825640"/>
            <a:ext cx="34668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3" name="Rectangle 61"/>
          <p:cNvSpPr/>
          <p:nvPr/>
        </p:nvSpPr>
        <p:spPr>
          <a:xfrm>
            <a:off x="7159680" y="2825640"/>
            <a:ext cx="304416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 라벨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 키워드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시간대를 매트릭스로 시각화한다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4" name="Rectangle 62"/>
          <p:cNvSpPr/>
          <p:nvPr/>
        </p:nvSpPr>
        <p:spPr>
          <a:xfrm>
            <a:off x="10204560" y="2825640"/>
            <a:ext cx="113328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P34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5" name="Rectangle 63"/>
          <p:cNvSpPr/>
          <p:nvPr/>
        </p:nvSpPr>
        <p:spPr>
          <a:xfrm>
            <a:off x="6812280" y="3209400"/>
            <a:ext cx="34668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6" name="Rectangle 64"/>
          <p:cNvSpPr/>
          <p:nvPr/>
        </p:nvSpPr>
        <p:spPr>
          <a:xfrm>
            <a:off x="7159680" y="3209400"/>
            <a:ext cx="304416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사용자가 다시 본 카드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대화와 이후 감정 변화를 통계로 연결한다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7" name="Rectangle 65"/>
          <p:cNvSpPr/>
          <p:nvPr/>
        </p:nvSpPr>
        <p:spPr>
          <a:xfrm>
            <a:off x="10204560" y="3209400"/>
            <a:ext cx="113328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P35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8" name="Rectangle 66"/>
          <p:cNvSpPr/>
          <p:nvPr/>
        </p:nvSpPr>
        <p:spPr>
          <a:xfrm>
            <a:off x="6812280" y="3593520"/>
            <a:ext cx="34668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9" name="Rectangle 67"/>
          <p:cNvSpPr/>
          <p:nvPr/>
        </p:nvSpPr>
        <p:spPr>
          <a:xfrm>
            <a:off x="7159680" y="3593520"/>
            <a:ext cx="304416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리포트 본문을 새로 생성하지 않고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근거 기록과 데이터 범위를 표시한다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0" name="Rectangle 68"/>
          <p:cNvSpPr/>
          <p:nvPr/>
        </p:nvSpPr>
        <p:spPr>
          <a:xfrm>
            <a:off x="10204560" y="3593520"/>
            <a:ext cx="113328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중복 방지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1" name="Rectangle 69"/>
          <p:cNvSpPr/>
          <p:nvPr/>
        </p:nvSpPr>
        <p:spPr>
          <a:xfrm>
            <a:off x="594360" y="5321880"/>
            <a:ext cx="107434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Tab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상세 설계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2" name="Rectangle 70"/>
          <p:cNvSpPr/>
          <p:nvPr/>
        </p:nvSpPr>
        <p:spPr>
          <a:xfrm>
            <a:off x="594360" y="5577840"/>
            <a:ext cx="1233720" cy="218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3" name="Rectangle 71"/>
          <p:cNvSpPr/>
          <p:nvPr/>
        </p:nvSpPr>
        <p:spPr>
          <a:xfrm>
            <a:off x="1828800" y="5577840"/>
            <a:ext cx="3336840" cy="218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주요 요소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4" name="Rectangle 72"/>
          <p:cNvSpPr/>
          <p:nvPr/>
        </p:nvSpPr>
        <p:spPr>
          <a:xfrm>
            <a:off x="5166360" y="5577840"/>
            <a:ext cx="3245400" cy="218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동작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5" name="Rectangle 73"/>
          <p:cNvSpPr/>
          <p:nvPr/>
        </p:nvSpPr>
        <p:spPr>
          <a:xfrm>
            <a:off x="8412480" y="5577840"/>
            <a:ext cx="2925360" cy="21888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빈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오류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6" name="Rectangle 74"/>
          <p:cNvSpPr/>
          <p:nvPr/>
        </p:nvSpPr>
        <p:spPr>
          <a:xfrm>
            <a:off x="594360" y="5797440"/>
            <a:ext cx="1233720" cy="282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기준선 변화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7" name="Rectangle 75"/>
          <p:cNvSpPr/>
          <p:nvPr/>
        </p:nvSpPr>
        <p:spPr>
          <a:xfrm>
            <a:off x="1828800" y="5797440"/>
            <a:ext cx="3336840" cy="282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최근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/30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 토글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평소 기준선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증가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감소 신호 카드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8" name="Rectangle 76"/>
          <p:cNvSpPr/>
          <p:nvPr/>
        </p:nvSpPr>
        <p:spPr>
          <a:xfrm>
            <a:off x="5166360" y="5797440"/>
            <a:ext cx="3245400" cy="282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기간 토글 시 차트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카드 갱신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9" name="Rectangle 77"/>
          <p:cNvSpPr/>
          <p:nvPr/>
        </p:nvSpPr>
        <p:spPr>
          <a:xfrm>
            <a:off x="8412480" y="5797440"/>
            <a:ext cx="2925360" cy="282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기록 부족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최소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 안내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0" name="Rectangle 78"/>
          <p:cNvSpPr/>
          <p:nvPr/>
        </p:nvSpPr>
        <p:spPr>
          <a:xfrm>
            <a:off x="594360" y="6080760"/>
            <a:ext cx="1233720" cy="282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-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1" name="Rectangle 79"/>
          <p:cNvSpPr/>
          <p:nvPr/>
        </p:nvSpPr>
        <p:spPr>
          <a:xfrm>
            <a:off x="1828800" y="6080760"/>
            <a:ext cx="3336840" cy="282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×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 매트릭스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시간대 필터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관련 기록 개수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2" name="Rectangle 80"/>
          <p:cNvSpPr/>
          <p:nvPr/>
        </p:nvSpPr>
        <p:spPr>
          <a:xfrm>
            <a:off x="5166360" y="6080760"/>
            <a:ext cx="3245400" cy="282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셀 클릭 시 관련 기록 목록 필터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3" name="Rectangle 81"/>
          <p:cNvSpPr/>
          <p:nvPr/>
        </p:nvSpPr>
        <p:spPr>
          <a:xfrm>
            <a:off x="8412480" y="6080760"/>
            <a:ext cx="2925360" cy="282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동의 없음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잠금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4" name="Rectangle 82"/>
          <p:cNvSpPr/>
          <p:nvPr/>
        </p:nvSpPr>
        <p:spPr>
          <a:xfrm>
            <a:off x="594360" y="6364080"/>
            <a:ext cx="1233720" cy="282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회복 반응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5" name="Rectangle 83"/>
          <p:cNvSpPr/>
          <p:nvPr/>
        </p:nvSpPr>
        <p:spPr>
          <a:xfrm>
            <a:off x="1828800" y="6364080"/>
            <a:ext cx="3336840" cy="282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저장 카드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다시 본 대화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긍정 반응과 이후 변화율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6" name="Rectangle 84"/>
          <p:cNvSpPr/>
          <p:nvPr/>
        </p:nvSpPr>
        <p:spPr>
          <a:xfrm>
            <a:off x="5166360" y="6364080"/>
            <a:ext cx="3245400" cy="282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항목 클릭 시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RAG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근거 기록 표시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7" name="Rectangle 85"/>
          <p:cNvSpPr/>
          <p:nvPr/>
        </p:nvSpPr>
        <p:spPr>
          <a:xfrm>
            <a:off x="8412480" y="6364080"/>
            <a:ext cx="2925360" cy="282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반응 데이터 부족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준비중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TextBox 1"/>
          <p:cNvSpPr/>
          <p:nvPr/>
        </p:nvSpPr>
        <p:spPr>
          <a:xfrm>
            <a:off x="502920" y="20124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MY-R-D-006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분석 기능별 상세 화면설계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9" name="TextBox 2"/>
          <p:cNvSpPr/>
          <p:nvPr/>
        </p:nvSpPr>
        <p:spPr>
          <a:xfrm>
            <a:off x="502920" y="548640"/>
            <a:ext cx="8777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P33~P35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를 챗봇형 검색이 아니라 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ML/RAG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기반 통계 기능으로 재정의하고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기능별 와이어프레임을 구체화합니다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80" name="TextBox 3"/>
          <p:cNvSpPr/>
          <p:nvPr/>
        </p:nvSpPr>
        <p:spPr>
          <a:xfrm>
            <a:off x="9235440" y="228600"/>
            <a:ext cx="2513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81" name="TextBox 4"/>
          <p:cNvSpPr/>
          <p:nvPr/>
        </p:nvSpPr>
        <p:spPr>
          <a:xfrm>
            <a:off x="11475720" y="649224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23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82" name="Rectangle 5"/>
          <p:cNvSpPr/>
          <p:nvPr/>
        </p:nvSpPr>
        <p:spPr>
          <a:xfrm>
            <a:off x="594360" y="932760"/>
            <a:ext cx="1088064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요구사항별 상세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83" name="Rectangle 6"/>
          <p:cNvSpPr/>
          <p:nvPr/>
        </p:nvSpPr>
        <p:spPr>
          <a:xfrm>
            <a:off x="594360" y="1188720"/>
            <a:ext cx="547920" cy="29196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84" name="Rectangle 7"/>
          <p:cNvSpPr/>
          <p:nvPr/>
        </p:nvSpPr>
        <p:spPr>
          <a:xfrm>
            <a:off x="1143000" y="1188720"/>
            <a:ext cx="1325160" cy="29196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85" name="Rectangle 8"/>
          <p:cNvSpPr/>
          <p:nvPr/>
        </p:nvSpPr>
        <p:spPr>
          <a:xfrm>
            <a:off x="2468880" y="1188720"/>
            <a:ext cx="1599480" cy="29196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화면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탭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86" name="Rectangle 9"/>
          <p:cNvSpPr/>
          <p:nvPr/>
        </p:nvSpPr>
        <p:spPr>
          <a:xfrm>
            <a:off x="4069080" y="1188720"/>
            <a:ext cx="2559600" cy="29196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화면 요소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87" name="Rectangle 10"/>
          <p:cNvSpPr/>
          <p:nvPr/>
        </p:nvSpPr>
        <p:spPr>
          <a:xfrm>
            <a:off x="6629400" y="1188720"/>
            <a:ext cx="2468160" cy="29196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상호작용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88" name="Rectangle 11"/>
          <p:cNvSpPr/>
          <p:nvPr/>
        </p:nvSpPr>
        <p:spPr>
          <a:xfrm>
            <a:off x="9098280" y="1188720"/>
            <a:ext cx="730800" cy="29196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우선순위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89" name="Rectangle 12"/>
          <p:cNvSpPr/>
          <p:nvPr/>
        </p:nvSpPr>
        <p:spPr>
          <a:xfrm>
            <a:off x="594360" y="1481400"/>
            <a:ext cx="54792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P33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0" name="Rectangle 13"/>
          <p:cNvSpPr/>
          <p:nvPr/>
        </p:nvSpPr>
        <p:spPr>
          <a:xfrm>
            <a:off x="1143000" y="1481400"/>
            <a:ext cx="132516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개인 마음 기준선 대비 변화 감지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1" name="Rectangle 14"/>
          <p:cNvSpPr/>
          <p:nvPr/>
        </p:nvSpPr>
        <p:spPr>
          <a:xfrm>
            <a:off x="2468880" y="1481400"/>
            <a:ext cx="159948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MY-R-006 /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기준선 변화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2" name="Rectangle 15"/>
          <p:cNvSpPr/>
          <p:nvPr/>
        </p:nvSpPr>
        <p:spPr>
          <a:xfrm>
            <a:off x="4069080" y="1481400"/>
            <a:ext cx="255960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기준선 카드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최근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7/30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 추이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이상 신호 배지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3" name="Rectangle 16"/>
          <p:cNvSpPr/>
          <p:nvPr/>
        </p:nvSpPr>
        <p:spPr>
          <a:xfrm>
            <a:off x="6629400" y="1481400"/>
            <a:ext cx="246816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최근 기간 토글 시 차트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카드 갱신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.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분류명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점수 금지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4" name="Rectangle 17"/>
          <p:cNvSpPr/>
          <p:nvPr/>
        </p:nvSpPr>
        <p:spPr>
          <a:xfrm>
            <a:off x="9098280" y="1481400"/>
            <a:ext cx="73080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MVP+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5" name="Rectangle 18"/>
          <p:cNvSpPr/>
          <p:nvPr/>
        </p:nvSpPr>
        <p:spPr>
          <a:xfrm>
            <a:off x="594360" y="1920240"/>
            <a:ext cx="54792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P34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6" name="Rectangle 19"/>
          <p:cNvSpPr/>
          <p:nvPr/>
        </p:nvSpPr>
        <p:spPr>
          <a:xfrm>
            <a:off x="1143000" y="1920240"/>
            <a:ext cx="132516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-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 연결 매트릭스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7" name="Rectangle 20"/>
          <p:cNvSpPr/>
          <p:nvPr/>
        </p:nvSpPr>
        <p:spPr>
          <a:xfrm>
            <a:off x="2468880" y="1920240"/>
            <a:ext cx="159948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MY-R-006 /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-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8" name="Rectangle 21"/>
          <p:cNvSpPr/>
          <p:nvPr/>
        </p:nvSpPr>
        <p:spPr>
          <a:xfrm>
            <a:off x="4069080" y="1920240"/>
            <a:ext cx="255960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×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 히트맵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시간대 필터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관련 기록 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9" name="Rectangle 22"/>
          <p:cNvSpPr/>
          <p:nvPr/>
        </p:nvSpPr>
        <p:spPr>
          <a:xfrm>
            <a:off x="6629400" y="1920240"/>
            <a:ext cx="246816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셀 클릭 시 관련 기록 목록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/RAG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근거 보기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00" name="Rectangle 23"/>
          <p:cNvSpPr/>
          <p:nvPr/>
        </p:nvSpPr>
        <p:spPr>
          <a:xfrm>
            <a:off x="9098280" y="1920240"/>
            <a:ext cx="73080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MVP+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01" name="Rectangle 24"/>
          <p:cNvSpPr/>
          <p:nvPr/>
        </p:nvSpPr>
        <p:spPr>
          <a:xfrm>
            <a:off x="594360" y="2359080"/>
            <a:ext cx="54792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P35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02" name="Rectangle 25"/>
          <p:cNvSpPr/>
          <p:nvPr/>
        </p:nvSpPr>
        <p:spPr>
          <a:xfrm>
            <a:off x="1143000" y="2359080"/>
            <a:ext cx="132516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회복 반응 효과 통계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03" name="Rectangle 26"/>
          <p:cNvSpPr/>
          <p:nvPr/>
        </p:nvSpPr>
        <p:spPr>
          <a:xfrm>
            <a:off x="2468880" y="2359080"/>
            <a:ext cx="159948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MY-R-006 /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회복 반응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04" name="Rectangle 27"/>
          <p:cNvSpPr/>
          <p:nvPr/>
        </p:nvSpPr>
        <p:spPr>
          <a:xfrm>
            <a:off x="4069080" y="2359080"/>
            <a:ext cx="255960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콘텐츠 유형별 반응률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전후 감정 변화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근거 기록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05" name="Rectangle 28"/>
          <p:cNvSpPr/>
          <p:nvPr/>
        </p:nvSpPr>
        <p:spPr>
          <a:xfrm>
            <a:off x="6629400" y="2359080"/>
            <a:ext cx="246816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저장 카드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다시 본 대화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긍정 반응 기반 통계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06" name="Rectangle 29"/>
          <p:cNvSpPr/>
          <p:nvPr/>
        </p:nvSpPr>
        <p:spPr>
          <a:xfrm>
            <a:off x="9098280" y="2359080"/>
            <a:ext cx="730800" cy="43812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2P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07" name="Rectangle 30"/>
          <p:cNvSpPr/>
          <p:nvPr/>
        </p:nvSpPr>
        <p:spPr>
          <a:xfrm>
            <a:off x="594360" y="3035880"/>
            <a:ext cx="333684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상세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Wireframe: P33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기준선 변화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08" name="Rectangle 31"/>
          <p:cNvSpPr/>
          <p:nvPr/>
        </p:nvSpPr>
        <p:spPr>
          <a:xfrm>
            <a:off x="594360" y="3291840"/>
            <a:ext cx="3336840" cy="242244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09" name="Rectangle 32"/>
          <p:cNvSpPr/>
          <p:nvPr/>
        </p:nvSpPr>
        <p:spPr>
          <a:xfrm>
            <a:off x="4206240" y="3035880"/>
            <a:ext cx="333684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상세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Wireframe: P34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-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 매트릭스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10" name="Rectangle 33"/>
          <p:cNvSpPr/>
          <p:nvPr/>
        </p:nvSpPr>
        <p:spPr>
          <a:xfrm>
            <a:off x="4206240" y="3291840"/>
            <a:ext cx="3336840" cy="242244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11" name="Rectangle 34"/>
          <p:cNvSpPr/>
          <p:nvPr/>
        </p:nvSpPr>
        <p:spPr>
          <a:xfrm>
            <a:off x="7818120" y="3035880"/>
            <a:ext cx="333684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상세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Wireframe: P35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회복 반응 통계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12" name="Rectangle 35"/>
          <p:cNvSpPr/>
          <p:nvPr/>
        </p:nvSpPr>
        <p:spPr>
          <a:xfrm>
            <a:off x="7818120" y="3291840"/>
            <a:ext cx="3336840" cy="242244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13" name="Rectangle 36"/>
          <p:cNvSpPr/>
          <p:nvPr/>
        </p:nvSpPr>
        <p:spPr>
          <a:xfrm>
            <a:off x="749880" y="3456360"/>
            <a:ext cx="3016800" cy="3834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최근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 긴장 신호가 평소보다 높아요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14" name="Rectangle 37"/>
          <p:cNvSpPr/>
          <p:nvPr/>
        </p:nvSpPr>
        <p:spPr>
          <a:xfrm>
            <a:off x="887040" y="4553640"/>
            <a:ext cx="200520" cy="22788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15" name="Rectangle 38"/>
          <p:cNvSpPr/>
          <p:nvPr/>
        </p:nvSpPr>
        <p:spPr>
          <a:xfrm>
            <a:off x="1271160" y="4370760"/>
            <a:ext cx="200520" cy="41076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16" name="Rectangle 39"/>
          <p:cNvSpPr/>
          <p:nvPr/>
        </p:nvSpPr>
        <p:spPr>
          <a:xfrm>
            <a:off x="1654920" y="4471560"/>
            <a:ext cx="200520" cy="31032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17" name="Rectangle 40"/>
          <p:cNvSpPr/>
          <p:nvPr/>
        </p:nvSpPr>
        <p:spPr>
          <a:xfrm>
            <a:off x="2039040" y="4142160"/>
            <a:ext cx="200520" cy="63936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18" name="Rectangle 41"/>
          <p:cNvSpPr/>
          <p:nvPr/>
        </p:nvSpPr>
        <p:spPr>
          <a:xfrm>
            <a:off x="2423160" y="4251960"/>
            <a:ext cx="200520" cy="52956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19" name="Rectangle 42"/>
          <p:cNvSpPr/>
          <p:nvPr/>
        </p:nvSpPr>
        <p:spPr>
          <a:xfrm>
            <a:off x="2807280" y="4069080"/>
            <a:ext cx="200520" cy="71244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20" name="TextBox 43"/>
          <p:cNvSpPr/>
          <p:nvPr/>
        </p:nvSpPr>
        <p:spPr>
          <a:xfrm>
            <a:off x="795600" y="4992480"/>
            <a:ext cx="27424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평소 평균선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최근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증가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감소 배지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21" name="Rectangle 44"/>
          <p:cNvSpPr/>
          <p:nvPr/>
        </p:nvSpPr>
        <p:spPr>
          <a:xfrm>
            <a:off x="887040" y="5330880"/>
            <a:ext cx="1233720" cy="273600"/>
          </a:xfrm>
          <a:prstGeom prst="rect">
            <a:avLst/>
          </a:prstGeom>
          <a:solidFill>
            <a:srgbClr val="FEE2E2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증가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긴장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+18%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22" name="Rectangle 45"/>
          <p:cNvSpPr/>
          <p:nvPr/>
        </p:nvSpPr>
        <p:spPr>
          <a:xfrm>
            <a:off x="2258640" y="5330880"/>
            <a:ext cx="1233720" cy="273600"/>
          </a:xfrm>
          <a:prstGeom prst="rect">
            <a:avLst/>
          </a:prstGeom>
          <a:solidFill>
            <a:srgbClr val="D1FAE5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감소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무기력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-7%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23" name="TextBox 46"/>
          <p:cNvSpPr/>
          <p:nvPr/>
        </p:nvSpPr>
        <p:spPr>
          <a:xfrm>
            <a:off x="4507920" y="3456360"/>
            <a:ext cx="2559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필터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최근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30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저녁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저장 대화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24" name="TextBox 47"/>
          <p:cNvSpPr/>
          <p:nvPr/>
        </p:nvSpPr>
        <p:spPr>
          <a:xfrm>
            <a:off x="5047560" y="3730680"/>
            <a:ext cx="502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면접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25" name="TextBox 48"/>
          <p:cNvSpPr/>
          <p:nvPr/>
        </p:nvSpPr>
        <p:spPr>
          <a:xfrm>
            <a:off x="5577840" y="3730680"/>
            <a:ext cx="502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관계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26" name="TextBox 49"/>
          <p:cNvSpPr/>
          <p:nvPr/>
        </p:nvSpPr>
        <p:spPr>
          <a:xfrm>
            <a:off x="6108120" y="3730680"/>
            <a:ext cx="502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업무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27" name="TextBox 50"/>
          <p:cNvSpPr/>
          <p:nvPr/>
        </p:nvSpPr>
        <p:spPr>
          <a:xfrm>
            <a:off x="4416480" y="4023360"/>
            <a:ext cx="5479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긴장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28" name="TextBox 51"/>
          <p:cNvSpPr/>
          <p:nvPr/>
        </p:nvSpPr>
        <p:spPr>
          <a:xfrm>
            <a:off x="4416480" y="4407480"/>
            <a:ext cx="5479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서운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29" name="TextBox 52"/>
          <p:cNvSpPr/>
          <p:nvPr/>
        </p:nvSpPr>
        <p:spPr>
          <a:xfrm>
            <a:off x="4416480" y="4791600"/>
            <a:ext cx="5479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잔잔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0" name="Rectangle 53"/>
          <p:cNvSpPr/>
          <p:nvPr/>
        </p:nvSpPr>
        <p:spPr>
          <a:xfrm>
            <a:off x="5047560" y="3977640"/>
            <a:ext cx="456480" cy="27360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3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1" name="Rectangle 54"/>
          <p:cNvSpPr/>
          <p:nvPr/>
        </p:nvSpPr>
        <p:spPr>
          <a:xfrm>
            <a:off x="5577840" y="3977640"/>
            <a:ext cx="456480" cy="273600"/>
          </a:xfrm>
          <a:prstGeom prst="rect">
            <a:avLst/>
          </a:prstGeom>
          <a:solidFill>
            <a:srgbClr val="D1FAE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4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2" name="Rectangle 55"/>
          <p:cNvSpPr/>
          <p:nvPr/>
        </p:nvSpPr>
        <p:spPr>
          <a:xfrm>
            <a:off x="6108120" y="3977640"/>
            <a:ext cx="456480" cy="273600"/>
          </a:xfrm>
          <a:prstGeom prst="rect">
            <a:avLst/>
          </a:prstGeom>
          <a:solidFill>
            <a:srgbClr val="FEF3C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5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3" name="Rectangle 56"/>
          <p:cNvSpPr/>
          <p:nvPr/>
        </p:nvSpPr>
        <p:spPr>
          <a:xfrm>
            <a:off x="5047560" y="4361760"/>
            <a:ext cx="456480" cy="273600"/>
          </a:xfrm>
          <a:prstGeom prst="rect">
            <a:avLst/>
          </a:prstGeom>
          <a:solidFill>
            <a:srgbClr val="D1FAE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4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4" name="Rectangle 57"/>
          <p:cNvSpPr/>
          <p:nvPr/>
        </p:nvSpPr>
        <p:spPr>
          <a:xfrm>
            <a:off x="5577840" y="4361760"/>
            <a:ext cx="456480" cy="273600"/>
          </a:xfrm>
          <a:prstGeom prst="rect">
            <a:avLst/>
          </a:prstGeom>
          <a:solidFill>
            <a:srgbClr val="FEF3C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5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5" name="Rectangle 58"/>
          <p:cNvSpPr/>
          <p:nvPr/>
        </p:nvSpPr>
        <p:spPr>
          <a:xfrm>
            <a:off x="6108120" y="4361760"/>
            <a:ext cx="456480" cy="273600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6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6" name="Rectangle 59"/>
          <p:cNvSpPr/>
          <p:nvPr/>
        </p:nvSpPr>
        <p:spPr>
          <a:xfrm>
            <a:off x="5047560" y="4745880"/>
            <a:ext cx="456480" cy="273600"/>
          </a:xfrm>
          <a:prstGeom prst="rect">
            <a:avLst/>
          </a:prstGeom>
          <a:solidFill>
            <a:srgbClr val="FEF3C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5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7" name="Rectangle 60"/>
          <p:cNvSpPr/>
          <p:nvPr/>
        </p:nvSpPr>
        <p:spPr>
          <a:xfrm>
            <a:off x="5577840" y="4745880"/>
            <a:ext cx="456480" cy="273600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6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8" name="Rectangle 61"/>
          <p:cNvSpPr/>
          <p:nvPr/>
        </p:nvSpPr>
        <p:spPr>
          <a:xfrm>
            <a:off x="6108120" y="4745880"/>
            <a:ext cx="456480" cy="27360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9" name="Rectangle 62"/>
          <p:cNvSpPr/>
          <p:nvPr/>
        </p:nvSpPr>
        <p:spPr>
          <a:xfrm>
            <a:off x="4535280" y="5330880"/>
            <a:ext cx="2651040" cy="273600"/>
          </a:xfrm>
          <a:prstGeom prst="rect">
            <a:avLst/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셀 클릭 → 관련 기록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6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건 필터링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40" name="TextBox 63"/>
          <p:cNvSpPr/>
          <p:nvPr/>
        </p:nvSpPr>
        <p:spPr>
          <a:xfrm>
            <a:off x="8110800" y="3456360"/>
            <a:ext cx="26510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도움 반응 기준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저장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다시보기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긍정 표시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41" name="TextBox 64"/>
          <p:cNvSpPr/>
          <p:nvPr/>
        </p:nvSpPr>
        <p:spPr>
          <a:xfrm>
            <a:off x="8110800" y="3867840"/>
            <a:ext cx="7765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산책 힌트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42" name="Rectangle 65"/>
          <p:cNvSpPr/>
          <p:nvPr/>
        </p:nvSpPr>
        <p:spPr>
          <a:xfrm>
            <a:off x="8933760" y="3877200"/>
            <a:ext cx="1279440" cy="145440"/>
          </a:xfrm>
          <a:prstGeom prst="rect">
            <a:avLst/>
          </a:prstGeom>
          <a:solidFill>
            <a:srgbClr val="D1FAE5"/>
          </a:solidFill>
          <a:ln w="762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43" name="TextBox 66"/>
          <p:cNvSpPr/>
          <p:nvPr/>
        </p:nvSpPr>
        <p:spPr>
          <a:xfrm>
            <a:off x="10305360" y="38404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72%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44" name="TextBox 67"/>
          <p:cNvSpPr/>
          <p:nvPr/>
        </p:nvSpPr>
        <p:spPr>
          <a:xfrm>
            <a:off x="8110800" y="4251960"/>
            <a:ext cx="7765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위로 카드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45" name="Rectangle 68"/>
          <p:cNvSpPr/>
          <p:nvPr/>
        </p:nvSpPr>
        <p:spPr>
          <a:xfrm>
            <a:off x="8933760" y="4260960"/>
            <a:ext cx="1005120" cy="145440"/>
          </a:xfrm>
          <a:prstGeom prst="rect">
            <a:avLst/>
          </a:prstGeom>
          <a:solidFill>
            <a:srgbClr val="D1FAE5"/>
          </a:solidFill>
          <a:ln w="762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46" name="TextBox 69"/>
          <p:cNvSpPr/>
          <p:nvPr/>
        </p:nvSpPr>
        <p:spPr>
          <a:xfrm>
            <a:off x="10305360" y="422460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61%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47" name="TextBox 70"/>
          <p:cNvSpPr/>
          <p:nvPr/>
        </p:nvSpPr>
        <p:spPr>
          <a:xfrm>
            <a:off x="8110800" y="4636080"/>
            <a:ext cx="7765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짧은 대화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48" name="Rectangle 71"/>
          <p:cNvSpPr/>
          <p:nvPr/>
        </p:nvSpPr>
        <p:spPr>
          <a:xfrm>
            <a:off x="8933760" y="4645080"/>
            <a:ext cx="685080" cy="145440"/>
          </a:xfrm>
          <a:prstGeom prst="rect">
            <a:avLst/>
          </a:prstGeom>
          <a:solidFill>
            <a:srgbClr val="D1FAE5"/>
          </a:solidFill>
          <a:ln w="762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49" name="TextBox 72"/>
          <p:cNvSpPr/>
          <p:nvPr/>
        </p:nvSpPr>
        <p:spPr>
          <a:xfrm>
            <a:off x="10305360" y="460872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44%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50" name="Rectangle 73"/>
          <p:cNvSpPr/>
          <p:nvPr/>
        </p:nvSpPr>
        <p:spPr>
          <a:xfrm>
            <a:off x="8110800" y="5148000"/>
            <a:ext cx="2651040" cy="456480"/>
          </a:xfrm>
          <a:prstGeom prst="rect">
            <a:avLst/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근거 보기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유사 기록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3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건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+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이후 감정 변화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TextBox 1"/>
          <p:cNvSpPr/>
          <p:nvPr/>
        </p:nvSpPr>
        <p:spPr>
          <a:xfrm>
            <a:off x="502920" y="20124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MY-R-D-006A P33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기준선 변화 감지 상세 와이어프레임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52" name="TextBox 2"/>
          <p:cNvSpPr/>
          <p:nvPr/>
        </p:nvSpPr>
        <p:spPr>
          <a:xfrm>
            <a:off x="502920" y="548640"/>
            <a:ext cx="8777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개인별 평소 감정 분포와 최근 흐름을 비교해 “평소의 나와 최근의 나”를 통계로 확인합니다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53" name="TextBox 3"/>
          <p:cNvSpPr/>
          <p:nvPr/>
        </p:nvSpPr>
        <p:spPr>
          <a:xfrm>
            <a:off x="9235440" y="228600"/>
            <a:ext cx="2513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54" name="TextBox 4"/>
          <p:cNvSpPr/>
          <p:nvPr/>
        </p:nvSpPr>
        <p:spPr>
          <a:xfrm>
            <a:off x="11475720" y="649224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24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55" name="Rectangle 5"/>
          <p:cNvSpPr/>
          <p:nvPr/>
        </p:nvSpPr>
        <p:spPr>
          <a:xfrm>
            <a:off x="640080" y="987480"/>
            <a:ext cx="10972080" cy="543996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56" name="Rectangle 6"/>
          <p:cNvSpPr/>
          <p:nvPr/>
        </p:nvSpPr>
        <p:spPr>
          <a:xfrm>
            <a:off x="640080" y="987480"/>
            <a:ext cx="10972080" cy="3650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기준선 변화 탭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57" name="Rounded Rectangle 7"/>
          <p:cNvSpPr/>
          <p:nvPr/>
        </p:nvSpPr>
        <p:spPr>
          <a:xfrm>
            <a:off x="868680" y="1572840"/>
            <a:ext cx="1005120" cy="2552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최근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58" name="Rounded Rectangle 8"/>
          <p:cNvSpPr/>
          <p:nvPr/>
        </p:nvSpPr>
        <p:spPr>
          <a:xfrm>
            <a:off x="1965960" y="1572840"/>
            <a:ext cx="1005120" cy="2552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최근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30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59" name="Rounded Rectangle 9"/>
          <p:cNvSpPr/>
          <p:nvPr/>
        </p:nvSpPr>
        <p:spPr>
          <a:xfrm>
            <a:off x="3063240" y="1572840"/>
            <a:ext cx="1188000" cy="2552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전체 기준선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60" name="Rectangle 10"/>
          <p:cNvSpPr/>
          <p:nvPr/>
        </p:nvSpPr>
        <p:spPr>
          <a:xfrm>
            <a:off x="868680" y="2103120"/>
            <a:ext cx="2148120" cy="529560"/>
          </a:xfrm>
          <a:prstGeom prst="rect">
            <a:avLst/>
          </a:prstGeom>
          <a:solidFill>
            <a:srgbClr val="FEE2E2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가장 증가한 신호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긴장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+18% ·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평소 대비 증가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61" name="Rectangle 11"/>
          <p:cNvSpPr/>
          <p:nvPr/>
        </p:nvSpPr>
        <p:spPr>
          <a:xfrm>
            <a:off x="868680" y="2788920"/>
            <a:ext cx="2148120" cy="529560"/>
          </a:xfrm>
          <a:prstGeom prst="rect">
            <a:avLst/>
          </a:prstGeom>
          <a:solidFill>
            <a:srgbClr val="D1FAE5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가장 안정된 신호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잔잔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42% ·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기준선 유지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62" name="Rectangle 12"/>
          <p:cNvSpPr/>
          <p:nvPr/>
        </p:nvSpPr>
        <p:spPr>
          <a:xfrm>
            <a:off x="868680" y="3474720"/>
            <a:ext cx="2148120" cy="529560"/>
          </a:xfrm>
          <a:prstGeom prst="rect">
            <a:avLst/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데이터 범위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동의 기록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18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건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시크릿 제외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63" name="Rectangle 13"/>
          <p:cNvSpPr/>
          <p:nvPr/>
        </p:nvSpPr>
        <p:spPr>
          <a:xfrm>
            <a:off x="3337560" y="1920240"/>
            <a:ext cx="4662720" cy="2788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 신호 추이 그래프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64" name="Rectangle 14"/>
          <p:cNvSpPr/>
          <p:nvPr/>
        </p:nvSpPr>
        <p:spPr>
          <a:xfrm>
            <a:off x="3703320" y="2468880"/>
            <a:ext cx="3885480" cy="8280"/>
          </a:xfrm>
          <a:prstGeom prst="rect">
            <a:avLst/>
          </a:prstGeom>
          <a:solidFill>
            <a:srgbClr val="D1D5DB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65" name="Rectangle 15"/>
          <p:cNvSpPr/>
          <p:nvPr/>
        </p:nvSpPr>
        <p:spPr>
          <a:xfrm>
            <a:off x="3703320" y="2880360"/>
            <a:ext cx="3885480" cy="8280"/>
          </a:xfrm>
          <a:prstGeom prst="rect">
            <a:avLst/>
          </a:prstGeom>
          <a:solidFill>
            <a:srgbClr val="D1D5DB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66" name="Rectangle 16"/>
          <p:cNvSpPr/>
          <p:nvPr/>
        </p:nvSpPr>
        <p:spPr>
          <a:xfrm>
            <a:off x="3703320" y="3291840"/>
            <a:ext cx="3885480" cy="8280"/>
          </a:xfrm>
          <a:prstGeom prst="rect">
            <a:avLst/>
          </a:prstGeom>
          <a:solidFill>
            <a:srgbClr val="D1D5DB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67" name="Rectangle 17"/>
          <p:cNvSpPr/>
          <p:nvPr/>
        </p:nvSpPr>
        <p:spPr>
          <a:xfrm>
            <a:off x="3703320" y="3703320"/>
            <a:ext cx="3885480" cy="8280"/>
          </a:xfrm>
          <a:prstGeom prst="rect">
            <a:avLst/>
          </a:prstGeom>
          <a:solidFill>
            <a:srgbClr val="D1D5DB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68" name="Rectangle 18"/>
          <p:cNvSpPr/>
          <p:nvPr/>
        </p:nvSpPr>
        <p:spPr>
          <a:xfrm>
            <a:off x="3794760" y="3877200"/>
            <a:ext cx="200520" cy="32832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69" name="Rectangle 19"/>
          <p:cNvSpPr/>
          <p:nvPr/>
        </p:nvSpPr>
        <p:spPr>
          <a:xfrm>
            <a:off x="4297680" y="3730680"/>
            <a:ext cx="200520" cy="47484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70" name="Rectangle 20"/>
          <p:cNvSpPr/>
          <p:nvPr/>
        </p:nvSpPr>
        <p:spPr>
          <a:xfrm>
            <a:off x="4800600" y="3822120"/>
            <a:ext cx="200520" cy="38340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71" name="Rectangle 21"/>
          <p:cNvSpPr/>
          <p:nvPr/>
        </p:nvSpPr>
        <p:spPr>
          <a:xfrm>
            <a:off x="5303520" y="3557160"/>
            <a:ext cx="200520" cy="64836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72" name="Rectangle 22"/>
          <p:cNvSpPr/>
          <p:nvPr/>
        </p:nvSpPr>
        <p:spPr>
          <a:xfrm>
            <a:off x="5806440" y="3657600"/>
            <a:ext cx="200520" cy="54792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73" name="Rectangle 23"/>
          <p:cNvSpPr/>
          <p:nvPr/>
        </p:nvSpPr>
        <p:spPr>
          <a:xfrm>
            <a:off x="6309360" y="3401640"/>
            <a:ext cx="200520" cy="80388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74" name="Rectangle 24"/>
          <p:cNvSpPr/>
          <p:nvPr/>
        </p:nvSpPr>
        <p:spPr>
          <a:xfrm>
            <a:off x="6812280" y="3593520"/>
            <a:ext cx="200520" cy="612000"/>
          </a:xfrm>
          <a:prstGeom prst="rect">
            <a:avLst/>
          </a:prstGeom>
          <a:solidFill>
            <a:srgbClr val="DBEAFE"/>
          </a:solidFill>
          <a:ln w="762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75" name="TextBox 25"/>
          <p:cNvSpPr/>
          <p:nvPr/>
        </p:nvSpPr>
        <p:spPr>
          <a:xfrm>
            <a:off x="3749040" y="4462200"/>
            <a:ext cx="3931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월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화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수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목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금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토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76" name="Rectangle 26"/>
          <p:cNvSpPr/>
          <p:nvPr/>
        </p:nvSpPr>
        <p:spPr>
          <a:xfrm>
            <a:off x="3703320" y="2331720"/>
            <a:ext cx="3931200" cy="200520"/>
          </a:xfrm>
          <a:prstGeom prst="rect">
            <a:avLst/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평소 기준선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77" name="Rectangle 27"/>
          <p:cNvSpPr/>
          <p:nvPr/>
        </p:nvSpPr>
        <p:spPr>
          <a:xfrm>
            <a:off x="8321040" y="1920240"/>
            <a:ext cx="3016800" cy="2788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선택 신호 상세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78" name="TextBox 28"/>
          <p:cNvSpPr/>
          <p:nvPr/>
        </p:nvSpPr>
        <p:spPr>
          <a:xfrm>
            <a:off x="8549640" y="2468880"/>
            <a:ext cx="2651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선택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긴장 신호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79" name="TextBox 29"/>
          <p:cNvSpPr/>
          <p:nvPr/>
        </p:nvSpPr>
        <p:spPr>
          <a:xfrm>
            <a:off x="8549640" y="2834640"/>
            <a:ext cx="2651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최근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5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회 관측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평소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3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80" name="TextBox 30"/>
          <p:cNvSpPr/>
          <p:nvPr/>
        </p:nvSpPr>
        <p:spPr>
          <a:xfrm>
            <a:off x="8549640" y="3182040"/>
            <a:ext cx="2651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관련 시간대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저녁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18~23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81" name="TextBox 31"/>
          <p:cNvSpPr/>
          <p:nvPr/>
        </p:nvSpPr>
        <p:spPr>
          <a:xfrm>
            <a:off x="8549640" y="3529440"/>
            <a:ext cx="2651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관련 상황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마감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면접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연락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82" name="Rectangle 32"/>
          <p:cNvSpPr/>
          <p:nvPr/>
        </p:nvSpPr>
        <p:spPr>
          <a:xfrm>
            <a:off x="8549640" y="3950280"/>
            <a:ext cx="2376720" cy="365040"/>
          </a:xfrm>
          <a:prstGeom prst="rect">
            <a:avLst/>
          </a:prstGeom>
          <a:solidFill>
            <a:srgbClr val="DBEAFE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관련 기록 보기 →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MY-R-002/003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83" name="Rectangle 33"/>
          <p:cNvSpPr/>
          <p:nvPr/>
        </p:nvSpPr>
        <p:spPr>
          <a:xfrm>
            <a:off x="868680" y="5230440"/>
            <a:ext cx="10469160" cy="593640"/>
          </a:xfrm>
          <a:prstGeom prst="rect">
            <a:avLst/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예외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기록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 미만이면 “기록이 충분히 쌓이면 보여드릴게요” 안내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시크릿챗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동의 철회 기록은 제외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·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점수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증가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감소 신호로 표시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TextBox 1"/>
          <p:cNvSpPr/>
          <p:nvPr/>
        </p:nvSpPr>
        <p:spPr>
          <a:xfrm>
            <a:off x="502920" y="20124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MY-R-D-006B P34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</a:t>
            </a: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-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 연결 매트릭스 상세 와이어프레임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85" name="TextBox 2"/>
          <p:cNvSpPr/>
          <p:nvPr/>
        </p:nvSpPr>
        <p:spPr>
          <a:xfrm>
            <a:off x="502920" y="548640"/>
            <a:ext cx="8777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감정 라벨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·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상황 키워드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·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시간대를 교차 분석해 사용자가 반복 패턴을 직접 탐색합니다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86" name="TextBox 3"/>
          <p:cNvSpPr/>
          <p:nvPr/>
        </p:nvSpPr>
        <p:spPr>
          <a:xfrm>
            <a:off x="9235440" y="228600"/>
            <a:ext cx="2513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87" name="TextBox 4"/>
          <p:cNvSpPr/>
          <p:nvPr/>
        </p:nvSpPr>
        <p:spPr>
          <a:xfrm>
            <a:off x="11475720" y="649224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25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88" name="Rectangle 5"/>
          <p:cNvSpPr/>
          <p:nvPr/>
        </p:nvSpPr>
        <p:spPr>
          <a:xfrm>
            <a:off x="640080" y="987480"/>
            <a:ext cx="10972080" cy="543996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189" name="Rectangle 6"/>
          <p:cNvSpPr/>
          <p:nvPr/>
        </p:nvSpPr>
        <p:spPr>
          <a:xfrm>
            <a:off x="640080" y="987480"/>
            <a:ext cx="10972080" cy="3650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-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 연결 매트릭스 탭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0" name="Rounded Rectangle 7"/>
          <p:cNvSpPr/>
          <p:nvPr/>
        </p:nvSpPr>
        <p:spPr>
          <a:xfrm>
            <a:off x="868680" y="1572840"/>
            <a:ext cx="1279440" cy="2552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기간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30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일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1" name="Rounded Rectangle 8"/>
          <p:cNvSpPr/>
          <p:nvPr/>
        </p:nvSpPr>
        <p:spPr>
          <a:xfrm>
            <a:off x="2240280" y="1572840"/>
            <a:ext cx="1279440" cy="2552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시간대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전체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2" name="Rounded Rectangle 9"/>
          <p:cNvSpPr/>
          <p:nvPr/>
        </p:nvSpPr>
        <p:spPr>
          <a:xfrm>
            <a:off x="3611880" y="1572840"/>
            <a:ext cx="1325160" cy="2552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전체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3" name="Rounded Rectangle 10"/>
          <p:cNvSpPr/>
          <p:nvPr/>
        </p:nvSpPr>
        <p:spPr>
          <a:xfrm>
            <a:off x="5029200" y="1572840"/>
            <a:ext cx="1416600" cy="2552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전체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4" name="Rectangle 11"/>
          <p:cNvSpPr/>
          <p:nvPr/>
        </p:nvSpPr>
        <p:spPr>
          <a:xfrm>
            <a:off x="868680" y="2057400"/>
            <a:ext cx="5851440" cy="319968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매트릭스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감정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×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상황 키워드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5" name="TextBox 12"/>
          <p:cNvSpPr/>
          <p:nvPr/>
        </p:nvSpPr>
        <p:spPr>
          <a:xfrm>
            <a:off x="1965960" y="2514600"/>
            <a:ext cx="6393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면접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6" name="TextBox 13"/>
          <p:cNvSpPr/>
          <p:nvPr/>
        </p:nvSpPr>
        <p:spPr>
          <a:xfrm>
            <a:off x="2715840" y="2514600"/>
            <a:ext cx="6393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관계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7" name="TextBox 14"/>
          <p:cNvSpPr/>
          <p:nvPr/>
        </p:nvSpPr>
        <p:spPr>
          <a:xfrm>
            <a:off x="3465720" y="2514600"/>
            <a:ext cx="6393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업무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8" name="TextBox 15"/>
          <p:cNvSpPr/>
          <p:nvPr/>
        </p:nvSpPr>
        <p:spPr>
          <a:xfrm>
            <a:off x="4215240" y="2514600"/>
            <a:ext cx="6393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수면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9" name="TextBox 16"/>
          <p:cNvSpPr/>
          <p:nvPr/>
        </p:nvSpPr>
        <p:spPr>
          <a:xfrm>
            <a:off x="4965120" y="2514600"/>
            <a:ext cx="6393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가족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0" name="TextBox 17"/>
          <p:cNvSpPr/>
          <p:nvPr/>
        </p:nvSpPr>
        <p:spPr>
          <a:xfrm>
            <a:off x="1143000" y="2853000"/>
            <a:ext cx="6393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긴장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1" name="TextBox 18"/>
          <p:cNvSpPr/>
          <p:nvPr/>
        </p:nvSpPr>
        <p:spPr>
          <a:xfrm>
            <a:off x="1143000" y="3246120"/>
            <a:ext cx="6393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서운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2" name="TextBox 19"/>
          <p:cNvSpPr/>
          <p:nvPr/>
        </p:nvSpPr>
        <p:spPr>
          <a:xfrm>
            <a:off x="1143000" y="3639240"/>
            <a:ext cx="6393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무기력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3" name="TextBox 20"/>
          <p:cNvSpPr/>
          <p:nvPr/>
        </p:nvSpPr>
        <p:spPr>
          <a:xfrm>
            <a:off x="1143000" y="4032360"/>
            <a:ext cx="6393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잔잔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4" name="TextBox 21"/>
          <p:cNvSpPr/>
          <p:nvPr/>
        </p:nvSpPr>
        <p:spPr>
          <a:xfrm>
            <a:off x="1143000" y="4425840"/>
            <a:ext cx="6393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기쁨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5" name="Rectangle 22"/>
          <p:cNvSpPr/>
          <p:nvPr/>
        </p:nvSpPr>
        <p:spPr>
          <a:xfrm>
            <a:off x="1920240" y="2788920"/>
            <a:ext cx="547920" cy="291960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6" name="Rectangle 23"/>
          <p:cNvSpPr/>
          <p:nvPr/>
        </p:nvSpPr>
        <p:spPr>
          <a:xfrm>
            <a:off x="2670120" y="2788920"/>
            <a:ext cx="547920" cy="29196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7" name="Rectangle 24"/>
          <p:cNvSpPr/>
          <p:nvPr/>
        </p:nvSpPr>
        <p:spPr>
          <a:xfrm>
            <a:off x="3420000" y="2788920"/>
            <a:ext cx="547920" cy="291960"/>
          </a:xfrm>
          <a:prstGeom prst="rect">
            <a:avLst/>
          </a:prstGeom>
          <a:solidFill>
            <a:srgbClr val="FEF3C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8" name="Rectangle 25"/>
          <p:cNvSpPr/>
          <p:nvPr/>
        </p:nvSpPr>
        <p:spPr>
          <a:xfrm>
            <a:off x="4169520" y="2788920"/>
            <a:ext cx="547920" cy="29196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9" name="Rectangle 26"/>
          <p:cNvSpPr/>
          <p:nvPr/>
        </p:nvSpPr>
        <p:spPr>
          <a:xfrm>
            <a:off x="4919400" y="2788920"/>
            <a:ext cx="547920" cy="29196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0" name="Rectangle 27"/>
          <p:cNvSpPr/>
          <p:nvPr/>
        </p:nvSpPr>
        <p:spPr>
          <a:xfrm>
            <a:off x="1920240" y="3182040"/>
            <a:ext cx="547920" cy="29196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1" name="Rectangle 28"/>
          <p:cNvSpPr/>
          <p:nvPr/>
        </p:nvSpPr>
        <p:spPr>
          <a:xfrm>
            <a:off x="2670120" y="3182040"/>
            <a:ext cx="547920" cy="291960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2" name="Rectangle 29"/>
          <p:cNvSpPr/>
          <p:nvPr/>
        </p:nvSpPr>
        <p:spPr>
          <a:xfrm>
            <a:off x="3420000" y="3182040"/>
            <a:ext cx="547920" cy="29196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3" name="Rectangle 30"/>
          <p:cNvSpPr/>
          <p:nvPr/>
        </p:nvSpPr>
        <p:spPr>
          <a:xfrm>
            <a:off x="4169520" y="3182040"/>
            <a:ext cx="547920" cy="291960"/>
          </a:xfrm>
          <a:prstGeom prst="rect">
            <a:avLst/>
          </a:prstGeom>
          <a:solidFill>
            <a:srgbClr val="D1FAE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4" name="Rectangle 31"/>
          <p:cNvSpPr/>
          <p:nvPr/>
        </p:nvSpPr>
        <p:spPr>
          <a:xfrm>
            <a:off x="4919400" y="3182040"/>
            <a:ext cx="547920" cy="291960"/>
          </a:xfrm>
          <a:prstGeom prst="rect">
            <a:avLst/>
          </a:prstGeom>
          <a:solidFill>
            <a:srgbClr val="D1FAE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5" name="Rectangle 32"/>
          <p:cNvSpPr/>
          <p:nvPr/>
        </p:nvSpPr>
        <p:spPr>
          <a:xfrm>
            <a:off x="1920240" y="3575160"/>
            <a:ext cx="547920" cy="29196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6" name="Rectangle 33"/>
          <p:cNvSpPr/>
          <p:nvPr/>
        </p:nvSpPr>
        <p:spPr>
          <a:xfrm>
            <a:off x="2670120" y="3575160"/>
            <a:ext cx="547920" cy="29196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7" name="Rectangle 34"/>
          <p:cNvSpPr/>
          <p:nvPr/>
        </p:nvSpPr>
        <p:spPr>
          <a:xfrm>
            <a:off x="3420000" y="3575160"/>
            <a:ext cx="547920" cy="291960"/>
          </a:xfrm>
          <a:prstGeom prst="rect">
            <a:avLst/>
          </a:prstGeom>
          <a:solidFill>
            <a:srgbClr val="FEF3C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8" name="Rectangle 35"/>
          <p:cNvSpPr/>
          <p:nvPr/>
        </p:nvSpPr>
        <p:spPr>
          <a:xfrm>
            <a:off x="4169520" y="3575160"/>
            <a:ext cx="547920" cy="291960"/>
          </a:xfrm>
          <a:prstGeom prst="rect">
            <a:avLst/>
          </a:prstGeom>
          <a:solidFill>
            <a:srgbClr val="FEE2E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9" name="Rectangle 36"/>
          <p:cNvSpPr/>
          <p:nvPr/>
        </p:nvSpPr>
        <p:spPr>
          <a:xfrm>
            <a:off x="4919400" y="3575160"/>
            <a:ext cx="547920" cy="29196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20" name="Rectangle 37"/>
          <p:cNvSpPr/>
          <p:nvPr/>
        </p:nvSpPr>
        <p:spPr>
          <a:xfrm>
            <a:off x="1920240" y="3968640"/>
            <a:ext cx="547920" cy="291960"/>
          </a:xfrm>
          <a:prstGeom prst="rect">
            <a:avLst/>
          </a:prstGeom>
          <a:solidFill>
            <a:srgbClr val="D1FAE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21" name="Rectangle 38"/>
          <p:cNvSpPr/>
          <p:nvPr/>
        </p:nvSpPr>
        <p:spPr>
          <a:xfrm>
            <a:off x="2670120" y="3968640"/>
            <a:ext cx="547920" cy="29196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22" name="Rectangle 39"/>
          <p:cNvSpPr/>
          <p:nvPr/>
        </p:nvSpPr>
        <p:spPr>
          <a:xfrm>
            <a:off x="3420000" y="3968640"/>
            <a:ext cx="547920" cy="29196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23" name="Rectangle 40"/>
          <p:cNvSpPr/>
          <p:nvPr/>
        </p:nvSpPr>
        <p:spPr>
          <a:xfrm>
            <a:off x="4169520" y="3968640"/>
            <a:ext cx="547920" cy="29196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24" name="Rectangle 41"/>
          <p:cNvSpPr/>
          <p:nvPr/>
        </p:nvSpPr>
        <p:spPr>
          <a:xfrm>
            <a:off x="4919400" y="3968640"/>
            <a:ext cx="547920" cy="291960"/>
          </a:xfrm>
          <a:prstGeom prst="rect">
            <a:avLst/>
          </a:prstGeom>
          <a:solidFill>
            <a:srgbClr val="FEF3C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25" name="Rectangle 42"/>
          <p:cNvSpPr/>
          <p:nvPr/>
        </p:nvSpPr>
        <p:spPr>
          <a:xfrm>
            <a:off x="1920240" y="4361760"/>
            <a:ext cx="547920" cy="29196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26" name="Rectangle 43"/>
          <p:cNvSpPr/>
          <p:nvPr/>
        </p:nvSpPr>
        <p:spPr>
          <a:xfrm>
            <a:off x="2670120" y="4361760"/>
            <a:ext cx="547920" cy="291960"/>
          </a:xfrm>
          <a:prstGeom prst="rect">
            <a:avLst/>
          </a:prstGeom>
          <a:solidFill>
            <a:srgbClr val="D1FAE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27" name="Rectangle 44"/>
          <p:cNvSpPr/>
          <p:nvPr/>
        </p:nvSpPr>
        <p:spPr>
          <a:xfrm>
            <a:off x="3420000" y="4361760"/>
            <a:ext cx="547920" cy="29196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28" name="Rectangle 45"/>
          <p:cNvSpPr/>
          <p:nvPr/>
        </p:nvSpPr>
        <p:spPr>
          <a:xfrm>
            <a:off x="4169520" y="4361760"/>
            <a:ext cx="547920" cy="291960"/>
          </a:xfrm>
          <a:prstGeom prst="rect">
            <a:avLst/>
          </a:prstGeom>
          <a:solidFill>
            <a:srgbClr val="F3F4F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29" name="Rectangle 46"/>
          <p:cNvSpPr/>
          <p:nvPr/>
        </p:nvSpPr>
        <p:spPr>
          <a:xfrm>
            <a:off x="4919400" y="4361760"/>
            <a:ext cx="547920" cy="291960"/>
          </a:xfrm>
          <a:prstGeom prst="rect">
            <a:avLst/>
          </a:prstGeom>
          <a:solidFill>
            <a:srgbClr val="FEF3C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30" name="TextBox 47"/>
          <p:cNvSpPr/>
          <p:nvPr/>
        </p:nvSpPr>
        <p:spPr>
          <a:xfrm>
            <a:off x="1828800" y="4937760"/>
            <a:ext cx="4205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숫자는 관련 기록 수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.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진한 셀일수록 자주 함께 나타난 조합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31" name="Rectangle 48"/>
          <p:cNvSpPr/>
          <p:nvPr/>
        </p:nvSpPr>
        <p:spPr>
          <a:xfrm>
            <a:off x="7040880" y="2057400"/>
            <a:ext cx="4205520" cy="319968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선택 셀 상세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긴장 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×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면접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32" name="Rectangle 49"/>
          <p:cNvSpPr/>
          <p:nvPr/>
        </p:nvSpPr>
        <p:spPr>
          <a:xfrm>
            <a:off x="7315200" y="2633400"/>
            <a:ext cx="3611160" cy="31032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관련 기록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8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33" name="Rectangle 50"/>
          <p:cNvSpPr/>
          <p:nvPr/>
        </p:nvSpPr>
        <p:spPr>
          <a:xfrm>
            <a:off x="7315200" y="3072240"/>
            <a:ext cx="3611160" cy="310320"/>
          </a:xfrm>
          <a:prstGeom prst="rect">
            <a:avLst/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주로 나타난 시간대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밤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21~24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34" name="Rectangle 51"/>
          <p:cNvSpPr/>
          <p:nvPr/>
        </p:nvSpPr>
        <p:spPr>
          <a:xfrm>
            <a:off x="7315200" y="3511440"/>
            <a:ext cx="3611160" cy="31032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대표 키워드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준비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결과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비교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35" name="Rectangle 52"/>
          <p:cNvSpPr/>
          <p:nvPr/>
        </p:nvSpPr>
        <p:spPr>
          <a:xfrm>
            <a:off x="7315200" y="3950280"/>
            <a:ext cx="3611160" cy="310320"/>
          </a:xfrm>
          <a:prstGeom prst="rect">
            <a:avLst/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연결 화면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기록 날짜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리포트 카드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대화 요약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36" name="Rectangle 53"/>
          <p:cNvSpPr/>
          <p:nvPr/>
        </p:nvSpPr>
        <p:spPr>
          <a:xfrm>
            <a:off x="7315200" y="4572000"/>
            <a:ext cx="1599480" cy="346680"/>
          </a:xfrm>
          <a:prstGeom prst="rect">
            <a:avLst/>
          </a:prstGeom>
          <a:solidFill>
            <a:srgbClr val="DBEAFE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관련 기록 보기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37" name="Rectangle 54"/>
          <p:cNvSpPr/>
          <p:nvPr/>
        </p:nvSpPr>
        <p:spPr>
          <a:xfrm>
            <a:off x="9098280" y="4572000"/>
            <a:ext cx="1599480" cy="346680"/>
          </a:xfrm>
          <a:prstGeom prst="rect">
            <a:avLst/>
          </a:prstGeom>
          <a:solidFill>
            <a:srgbClr val="D1FAE5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필터 저장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38" name="Rectangle 55"/>
          <p:cNvSpPr/>
          <p:nvPr/>
        </p:nvSpPr>
        <p:spPr>
          <a:xfrm>
            <a:off x="868680" y="5504760"/>
            <a:ext cx="10377720" cy="529560"/>
          </a:xfrm>
          <a:prstGeom prst="rect">
            <a:avLst/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중복 방지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주간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월간 리포트처럼 문장으로 요약하지 않음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.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사용자가 직접 셀을 눌러 패턴과 근거 기록을 탐색하는 통계 화면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TextBox 1"/>
          <p:cNvSpPr/>
          <p:nvPr/>
        </p:nvSpPr>
        <p:spPr>
          <a:xfrm>
            <a:off x="502920" y="20124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MY-R-D-006C P35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회복 반응 효과 통계 상세 와이어프레임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0" name="TextBox 2"/>
          <p:cNvSpPr/>
          <p:nvPr/>
        </p:nvSpPr>
        <p:spPr>
          <a:xfrm>
            <a:off x="502920" y="548640"/>
            <a:ext cx="8777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RAG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로 근거 기록을 연결하고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, ML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로 전후 감정 변화 추이를 비교합니다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1" name="TextBox 3"/>
          <p:cNvSpPr/>
          <p:nvPr/>
        </p:nvSpPr>
        <p:spPr>
          <a:xfrm>
            <a:off x="9235440" y="228600"/>
            <a:ext cx="2513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2" name="TextBox 4"/>
          <p:cNvSpPr/>
          <p:nvPr/>
        </p:nvSpPr>
        <p:spPr>
          <a:xfrm>
            <a:off x="11475720" y="649224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3" name="Rectangle 5"/>
          <p:cNvSpPr/>
          <p:nvPr/>
        </p:nvSpPr>
        <p:spPr>
          <a:xfrm>
            <a:off x="640080" y="987480"/>
            <a:ext cx="10972080" cy="543996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244" name="Rectangle 6"/>
          <p:cNvSpPr/>
          <p:nvPr/>
        </p:nvSpPr>
        <p:spPr>
          <a:xfrm>
            <a:off x="640080" y="987480"/>
            <a:ext cx="10972080" cy="3650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회복 반응 효과 통계 탭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5" name="Rounded Rectangle 7"/>
          <p:cNvSpPr/>
          <p:nvPr/>
        </p:nvSpPr>
        <p:spPr>
          <a:xfrm>
            <a:off x="868680" y="1572840"/>
            <a:ext cx="1508040" cy="2552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데이터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저장 카드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6" name="Rounded Rectangle 8"/>
          <p:cNvSpPr/>
          <p:nvPr/>
        </p:nvSpPr>
        <p:spPr>
          <a:xfrm>
            <a:off x="2468880" y="1572840"/>
            <a:ext cx="1416600" cy="2552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다시 본 대화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7" name="Rounded Rectangle 9"/>
          <p:cNvSpPr/>
          <p:nvPr/>
        </p:nvSpPr>
        <p:spPr>
          <a:xfrm>
            <a:off x="3977640" y="1572840"/>
            <a:ext cx="1370880" cy="2552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긍정 반응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8" name="Rounded Rectangle 10"/>
          <p:cNvSpPr/>
          <p:nvPr/>
        </p:nvSpPr>
        <p:spPr>
          <a:xfrm>
            <a:off x="5440680" y="1572840"/>
            <a:ext cx="1416600" cy="2552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이후 감정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9" name="Rectangle 11"/>
          <p:cNvSpPr/>
          <p:nvPr/>
        </p:nvSpPr>
        <p:spPr>
          <a:xfrm>
            <a:off x="868680" y="2011680"/>
            <a:ext cx="3702600" cy="32454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콘텐츠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행동별 도움 반응률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50" name="TextBox 12"/>
          <p:cNvSpPr/>
          <p:nvPr/>
        </p:nvSpPr>
        <p:spPr>
          <a:xfrm>
            <a:off x="1143000" y="2615040"/>
            <a:ext cx="9594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산책 힌트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51" name="Rectangle 13"/>
          <p:cNvSpPr/>
          <p:nvPr/>
        </p:nvSpPr>
        <p:spPr>
          <a:xfrm>
            <a:off x="2212920" y="2633400"/>
            <a:ext cx="2010960" cy="163800"/>
          </a:xfrm>
          <a:prstGeom prst="rect">
            <a:avLst/>
          </a:prstGeom>
          <a:solidFill>
            <a:srgbClr val="D1FAE5"/>
          </a:solidFill>
          <a:ln w="762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252" name="TextBox 14"/>
          <p:cNvSpPr/>
          <p:nvPr/>
        </p:nvSpPr>
        <p:spPr>
          <a:xfrm>
            <a:off x="4069080" y="2578680"/>
            <a:ext cx="3193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72%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53" name="TextBox 15"/>
          <p:cNvSpPr/>
          <p:nvPr/>
        </p:nvSpPr>
        <p:spPr>
          <a:xfrm>
            <a:off x="1143000" y="3090600"/>
            <a:ext cx="9594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위로 카드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54" name="Rectangle 16"/>
          <p:cNvSpPr/>
          <p:nvPr/>
        </p:nvSpPr>
        <p:spPr>
          <a:xfrm>
            <a:off x="2212920" y="3108960"/>
            <a:ext cx="1645200" cy="163800"/>
          </a:xfrm>
          <a:prstGeom prst="rect">
            <a:avLst/>
          </a:prstGeom>
          <a:solidFill>
            <a:srgbClr val="D1FAE5"/>
          </a:solidFill>
          <a:ln w="762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255" name="TextBox 17"/>
          <p:cNvSpPr/>
          <p:nvPr/>
        </p:nvSpPr>
        <p:spPr>
          <a:xfrm>
            <a:off x="4069080" y="3054240"/>
            <a:ext cx="3193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61%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56" name="TextBox 18"/>
          <p:cNvSpPr/>
          <p:nvPr/>
        </p:nvSpPr>
        <p:spPr>
          <a:xfrm>
            <a:off x="1143000" y="3566160"/>
            <a:ext cx="9594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짧은 대화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57" name="Rectangle 19"/>
          <p:cNvSpPr/>
          <p:nvPr/>
        </p:nvSpPr>
        <p:spPr>
          <a:xfrm>
            <a:off x="2212920" y="3584520"/>
            <a:ext cx="1142280" cy="163800"/>
          </a:xfrm>
          <a:prstGeom prst="rect">
            <a:avLst/>
          </a:prstGeom>
          <a:solidFill>
            <a:srgbClr val="FEF3C7"/>
          </a:solidFill>
          <a:ln w="762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258" name="TextBox 20"/>
          <p:cNvSpPr/>
          <p:nvPr/>
        </p:nvSpPr>
        <p:spPr>
          <a:xfrm>
            <a:off x="4069080" y="3529440"/>
            <a:ext cx="3193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44%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59" name="TextBox 21"/>
          <p:cNvSpPr/>
          <p:nvPr/>
        </p:nvSpPr>
        <p:spPr>
          <a:xfrm>
            <a:off x="1143000" y="4041720"/>
            <a:ext cx="9594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호흡 안내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60" name="Rectangle 22"/>
          <p:cNvSpPr/>
          <p:nvPr/>
        </p:nvSpPr>
        <p:spPr>
          <a:xfrm>
            <a:off x="2212920" y="4060080"/>
            <a:ext cx="867960" cy="163800"/>
          </a:xfrm>
          <a:prstGeom prst="rect">
            <a:avLst/>
          </a:prstGeom>
          <a:solidFill>
            <a:srgbClr val="F3F4F6"/>
          </a:solidFill>
          <a:ln w="762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Malgun Gothic"/>
            </a:endParaRPr>
          </a:p>
        </p:txBody>
      </p:sp>
      <p:sp>
        <p:nvSpPr>
          <p:cNvPr id="1261" name="TextBox 23"/>
          <p:cNvSpPr/>
          <p:nvPr/>
        </p:nvSpPr>
        <p:spPr>
          <a:xfrm>
            <a:off x="4069080" y="4005000"/>
            <a:ext cx="3193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33%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62" name="Rectangle 24"/>
          <p:cNvSpPr/>
          <p:nvPr/>
        </p:nvSpPr>
        <p:spPr>
          <a:xfrm>
            <a:off x="4892040" y="2011680"/>
            <a:ext cx="2925360" cy="32454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전후 감정 변화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63" name="TextBox 25"/>
          <p:cNvSpPr/>
          <p:nvPr/>
        </p:nvSpPr>
        <p:spPr>
          <a:xfrm>
            <a:off x="5166360" y="2606040"/>
            <a:ext cx="23310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선택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산책 힌트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64" name="Rectangle 26"/>
          <p:cNvSpPr/>
          <p:nvPr/>
        </p:nvSpPr>
        <p:spPr>
          <a:xfrm>
            <a:off x="5303520" y="3063240"/>
            <a:ext cx="639360" cy="1096560"/>
          </a:xfrm>
          <a:prstGeom prst="rect">
            <a:avLst/>
          </a:prstGeom>
          <a:solidFill>
            <a:srgbClr val="FEE2E2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긴장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65" name="Rectangle 27"/>
          <p:cNvSpPr/>
          <p:nvPr/>
        </p:nvSpPr>
        <p:spPr>
          <a:xfrm>
            <a:off x="6492240" y="3520440"/>
            <a:ext cx="639360" cy="639360"/>
          </a:xfrm>
          <a:prstGeom prst="rect">
            <a:avLst/>
          </a:prstGeom>
          <a:solidFill>
            <a:srgbClr val="D1FAE5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잔잔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cxnSp>
        <p:nvCxnSpPr>
          <p:cNvPr id="1266" name="Connector 28"/>
          <p:cNvCxnSpPr/>
          <p:nvPr/>
        </p:nvCxnSpPr>
        <p:spPr>
          <a:xfrm>
            <a:off x="5989320" y="3703320"/>
            <a:ext cx="457920" cy="720"/>
          </a:xfrm>
          <a:prstGeom prst="straightConnector1">
            <a:avLst/>
          </a:prstGeom>
          <a:ln w="15240">
            <a:solidFill>
              <a:srgbClr val="B8B8B8"/>
            </a:solidFill>
            <a:round/>
          </a:ln>
        </p:spPr>
      </p:cxnSp>
      <p:sp>
        <p:nvSpPr>
          <p:cNvPr id="1267" name="TextBox 29"/>
          <p:cNvSpPr/>
          <p:nvPr/>
        </p:nvSpPr>
        <p:spPr>
          <a:xfrm>
            <a:off x="5303520" y="4498920"/>
            <a:ext cx="2331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이후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24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시간 감정 변화 추정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68" name="Rectangle 30"/>
          <p:cNvSpPr/>
          <p:nvPr/>
        </p:nvSpPr>
        <p:spPr>
          <a:xfrm>
            <a:off x="8138160" y="2011680"/>
            <a:ext cx="3245400" cy="32454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RAG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근거 기록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69" name="Rectangle 31"/>
          <p:cNvSpPr/>
          <p:nvPr/>
        </p:nvSpPr>
        <p:spPr>
          <a:xfrm>
            <a:off x="8394120" y="2597040"/>
            <a:ext cx="2696760" cy="383400"/>
          </a:xfrm>
          <a:prstGeom prst="rect">
            <a:avLst/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6/12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대화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산책 후 안정 표현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70" name="Rectangle 32"/>
          <p:cNvSpPr/>
          <p:nvPr/>
        </p:nvSpPr>
        <p:spPr>
          <a:xfrm>
            <a:off x="8394120" y="3127320"/>
            <a:ext cx="2696760" cy="383400"/>
          </a:xfrm>
          <a:prstGeom prst="rect">
            <a:avLst/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6/15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카드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“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작게 움직이기” 저장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71" name="Rectangle 33"/>
          <p:cNvSpPr/>
          <p:nvPr/>
        </p:nvSpPr>
        <p:spPr>
          <a:xfrm>
            <a:off x="8394120" y="3657600"/>
            <a:ext cx="2696760" cy="383400"/>
          </a:xfrm>
          <a:prstGeom prst="rect">
            <a:avLst/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6/17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대화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비슷한 상황 재등장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72" name="Rectangle 34"/>
          <p:cNvSpPr/>
          <p:nvPr/>
        </p:nvSpPr>
        <p:spPr>
          <a:xfrm>
            <a:off x="8394120" y="4480560"/>
            <a:ext cx="1188000" cy="346680"/>
          </a:xfrm>
          <a:prstGeom prst="rect">
            <a:avLst/>
          </a:prstGeom>
          <a:solidFill>
            <a:srgbClr val="DBEAFE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근거 보기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73" name="Rectangle 35"/>
          <p:cNvSpPr/>
          <p:nvPr/>
        </p:nvSpPr>
        <p:spPr>
          <a:xfrm>
            <a:off x="9784080" y="4480560"/>
            <a:ext cx="1188000" cy="346680"/>
          </a:xfrm>
          <a:prstGeom prst="rect">
            <a:avLst/>
          </a:prstGeom>
          <a:solidFill>
            <a:srgbClr val="FEE2E2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분석 제외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74" name="Rectangle 36"/>
          <p:cNvSpPr/>
          <p:nvPr/>
        </p:nvSpPr>
        <p:spPr>
          <a:xfrm>
            <a:off x="868680" y="5504760"/>
            <a:ext cx="10514880" cy="529560"/>
          </a:xfrm>
          <a:prstGeom prst="rect">
            <a:avLst/>
          </a:prstGeom>
          <a:solidFill>
            <a:srgbClr val="F3F4F6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36720" rIns="36720" bIns="36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상태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예외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반응 데이터가 부족하면 준비중 표시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.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추천을 새로 생성하지 않고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사용자가 실제로 활용한 기록과 이후 변화만 통계화한다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전체화면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76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아티팩트 클릭 → 대시보드형 팝업 탭 진입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기능 탭 선택 시 기능상세페이지 탭으로 이동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+ 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77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78" name="Text 3"/>
          <p:cNvSpPr/>
          <p:nvPr/>
        </p:nvSpPr>
        <p:spPr>
          <a:xfrm>
            <a:off x="502920" y="914400"/>
            <a:ext cx="8406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Page Title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79" name="Text 4"/>
          <p:cNvSpPr/>
          <p:nvPr/>
        </p:nvSpPr>
        <p:spPr>
          <a:xfrm>
            <a:off x="1344240" y="914400"/>
            <a:ext cx="214812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전체화면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0" name="Text 5"/>
          <p:cNvSpPr/>
          <p:nvPr/>
        </p:nvSpPr>
        <p:spPr>
          <a:xfrm>
            <a:off x="3493080" y="914400"/>
            <a:ext cx="7491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1" name="Text 6"/>
          <p:cNvSpPr/>
          <p:nvPr/>
        </p:nvSpPr>
        <p:spPr>
          <a:xfrm>
            <a:off x="4242960" y="914400"/>
            <a:ext cx="14166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2" name="Text 7"/>
          <p:cNvSpPr/>
          <p:nvPr/>
        </p:nvSpPr>
        <p:spPr>
          <a:xfrm>
            <a:off x="5660280" y="914400"/>
            <a:ext cx="8679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Path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3" name="Text 8"/>
          <p:cNvSpPr/>
          <p:nvPr/>
        </p:nvSpPr>
        <p:spPr>
          <a:xfrm>
            <a:off x="6528960" y="914400"/>
            <a:ext cx="274248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마이페이지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&gt;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 기본 화면 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&gt; 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설정문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스위치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4" name="Text 9"/>
          <p:cNvSpPr/>
          <p:nvPr/>
        </p:nvSpPr>
        <p:spPr>
          <a:xfrm>
            <a:off x="9272160" y="914400"/>
            <a:ext cx="71244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Version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5" name="Text 10"/>
          <p:cNvSpPr/>
          <p:nvPr/>
        </p:nvSpPr>
        <p:spPr>
          <a:xfrm>
            <a:off x="9985320" y="914400"/>
            <a:ext cx="63936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v0.9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6" name="Text 11"/>
          <p:cNvSpPr/>
          <p:nvPr/>
        </p:nvSpPr>
        <p:spPr>
          <a:xfrm>
            <a:off x="10625400" y="914400"/>
            <a:ext cx="45648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Type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7" name="Text 12"/>
          <p:cNvSpPr/>
          <p:nvPr/>
        </p:nvSpPr>
        <p:spPr>
          <a:xfrm>
            <a:off x="11082600" y="914400"/>
            <a:ext cx="502200" cy="328320"/>
          </a:xfrm>
          <a:prstGeom prst="rect">
            <a:avLst/>
          </a:prstGeom>
          <a:solidFill>
            <a:srgbClr val="F0F0F0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수정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8" name="Text 13"/>
          <p:cNvSpPr/>
          <p:nvPr/>
        </p:nvSpPr>
        <p:spPr>
          <a:xfrm>
            <a:off x="594360" y="1417320"/>
            <a:ext cx="6308640" cy="27360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전체화면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9" name="Text 14"/>
          <p:cNvSpPr/>
          <p:nvPr/>
        </p:nvSpPr>
        <p:spPr>
          <a:xfrm>
            <a:off x="594360" y="1746360"/>
            <a:ext cx="100800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0" name="Text 15"/>
          <p:cNvSpPr/>
          <p:nvPr/>
        </p:nvSpPr>
        <p:spPr>
          <a:xfrm>
            <a:off x="1621440" y="1746360"/>
            <a:ext cx="100800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알림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1" name="Text 16"/>
          <p:cNvSpPr/>
          <p:nvPr/>
        </p:nvSpPr>
        <p:spPr>
          <a:xfrm>
            <a:off x="2648880" y="1746360"/>
            <a:ext cx="100800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공개범위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2" name="Text 17"/>
          <p:cNvSpPr/>
          <p:nvPr/>
        </p:nvSpPr>
        <p:spPr>
          <a:xfrm>
            <a:off x="3675960" y="1746360"/>
            <a:ext cx="100800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언어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테마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3" name="Text 18"/>
          <p:cNvSpPr/>
          <p:nvPr/>
        </p:nvSpPr>
        <p:spPr>
          <a:xfrm>
            <a:off x="4703040" y="1746360"/>
            <a:ext cx="100800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데이터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4" name="Text 19"/>
          <p:cNvSpPr/>
          <p:nvPr/>
        </p:nvSpPr>
        <p:spPr>
          <a:xfrm>
            <a:off x="5730120" y="1746360"/>
            <a:ext cx="1008000" cy="273600"/>
          </a:xfrm>
          <a:prstGeom prst="rect">
            <a:avLst/>
          </a:prstGeom>
          <a:solidFill>
            <a:srgbClr val="F4F4F4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5" name="Text 20"/>
          <p:cNvSpPr/>
          <p:nvPr/>
        </p:nvSpPr>
        <p:spPr>
          <a:xfrm>
            <a:off x="594360" y="213984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 기본값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비저장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ON/OFF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6" name="Text 21"/>
          <p:cNvSpPr/>
          <p:nvPr/>
        </p:nvSpPr>
        <p:spPr>
          <a:xfrm>
            <a:off x="3794760" y="213984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알림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운세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주간 카드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7" name="Text 22"/>
          <p:cNvSpPr/>
          <p:nvPr/>
        </p:nvSpPr>
        <p:spPr>
          <a:xfrm>
            <a:off x="594360" y="285300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 범위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마스킹 수준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8" name="Text 23"/>
          <p:cNvSpPr/>
          <p:nvPr/>
        </p:nvSpPr>
        <p:spPr>
          <a:xfrm>
            <a:off x="3794760" y="2853000"/>
            <a:ext cx="310824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언어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테마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한국어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영어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라이트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다크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9" name="Text 24"/>
          <p:cNvSpPr/>
          <p:nvPr/>
        </p:nvSpPr>
        <p:spPr>
          <a:xfrm>
            <a:off x="594360" y="3566160"/>
            <a:ext cx="3108240" cy="621000"/>
          </a:xfrm>
          <a:prstGeom prst="rect">
            <a:avLst/>
          </a:prstGeom>
          <a:solidFill>
            <a:srgbClr val="F8F8F8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데이터 삭제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탈퇴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확인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0" name="Text 25"/>
          <p:cNvSpPr/>
          <p:nvPr/>
        </p:nvSpPr>
        <p:spPr>
          <a:xfrm>
            <a:off x="3794760" y="3566160"/>
            <a:ext cx="3108240" cy="621000"/>
          </a:xfrm>
          <a:prstGeom prst="rect">
            <a:avLst/>
          </a:prstGeom>
          <a:solidFill>
            <a:srgbClr val="F8F8F8"/>
          </a:solidFill>
          <a:ln w="635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ML/RAG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확인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철회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1" name="Shape 26"/>
          <p:cNvSpPr/>
          <p:nvPr/>
        </p:nvSpPr>
        <p:spPr>
          <a:xfrm>
            <a:off x="594360" y="1417320"/>
            <a:ext cx="6308640" cy="4251240"/>
          </a:xfrm>
          <a:prstGeom prst="rect">
            <a:avLst/>
          </a:prstGeom>
          <a:noFill/>
          <a:ln w="1016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Malgun Gothic"/>
            </a:endParaRPr>
          </a:p>
        </p:txBody>
      </p:sp>
      <p:sp>
        <p:nvSpPr>
          <p:cNvPr id="1302" name="Text 27"/>
          <p:cNvSpPr/>
          <p:nvPr/>
        </p:nvSpPr>
        <p:spPr>
          <a:xfrm>
            <a:off x="7223760" y="1417320"/>
            <a:ext cx="447984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Description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3" name="Text 28"/>
          <p:cNvSpPr/>
          <p:nvPr/>
        </p:nvSpPr>
        <p:spPr>
          <a:xfrm>
            <a:off x="7223760" y="1691640"/>
            <a:ext cx="34668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No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4" name="Text 29"/>
          <p:cNvSpPr/>
          <p:nvPr/>
        </p:nvSpPr>
        <p:spPr>
          <a:xfrm>
            <a:off x="7571160" y="1691640"/>
            <a:ext cx="306252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동작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5" name="Text 30"/>
          <p:cNvSpPr/>
          <p:nvPr/>
        </p:nvSpPr>
        <p:spPr>
          <a:xfrm>
            <a:off x="10634400" y="1691640"/>
            <a:ext cx="1069200" cy="3924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Check Point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6" name="Text 31"/>
          <p:cNvSpPr/>
          <p:nvPr/>
        </p:nvSpPr>
        <p:spPr>
          <a:xfrm>
            <a:off x="7223760" y="208476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7" name="Text 32"/>
          <p:cNvSpPr/>
          <p:nvPr/>
        </p:nvSpPr>
        <p:spPr>
          <a:xfrm>
            <a:off x="7571160" y="208476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스위치 클릭 시 방을 가리는 전체화면 설정을 연다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8" name="Text 33"/>
          <p:cNvSpPr/>
          <p:nvPr/>
        </p:nvSpPr>
        <p:spPr>
          <a:xfrm>
            <a:off x="10634400" y="208476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설정만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full overlay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9" name="Text 34"/>
          <p:cNvSpPr/>
          <p:nvPr/>
        </p:nvSpPr>
        <p:spPr>
          <a:xfrm>
            <a:off x="7223760" y="247788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0" name="Text 35"/>
          <p:cNvSpPr/>
          <p:nvPr/>
        </p:nvSpPr>
        <p:spPr>
          <a:xfrm>
            <a:off x="7571160" y="247788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시크릿챗 기본값을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ON/OFF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로 변경한다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1" name="Text 36"/>
          <p:cNvSpPr/>
          <p:nvPr/>
        </p:nvSpPr>
        <p:spPr>
          <a:xfrm>
            <a:off x="10634400" y="247788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P16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2" name="Text 37"/>
          <p:cNvSpPr/>
          <p:nvPr/>
        </p:nvSpPr>
        <p:spPr>
          <a:xfrm>
            <a:off x="7223760" y="287136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3" name="Text 38"/>
          <p:cNvSpPr/>
          <p:nvPr/>
        </p:nvSpPr>
        <p:spPr>
          <a:xfrm>
            <a:off x="7571160" y="287136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마음 알람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운세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주간 카드 알림과 시간대를 설정한다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4" name="Text 39"/>
          <p:cNvSpPr/>
          <p:nvPr/>
        </p:nvSpPr>
        <p:spPr>
          <a:xfrm>
            <a:off x="10634400" y="287136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P17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5" name="Text 40"/>
          <p:cNvSpPr/>
          <p:nvPr/>
        </p:nvSpPr>
        <p:spPr>
          <a:xfrm>
            <a:off x="7223760" y="326448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6" name="Text 41"/>
          <p:cNvSpPr/>
          <p:nvPr/>
        </p:nvSpPr>
        <p:spPr>
          <a:xfrm>
            <a:off x="7571160" y="326448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결과카드 공개 범위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언어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테마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탈퇴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데이터 삭제를 제공한다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7" name="Text 42"/>
          <p:cNvSpPr/>
          <p:nvPr/>
        </p:nvSpPr>
        <p:spPr>
          <a:xfrm>
            <a:off x="10634400" y="326448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P18/P19/P21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8" name="Text 43"/>
          <p:cNvSpPr/>
          <p:nvPr/>
        </p:nvSpPr>
        <p:spPr>
          <a:xfrm>
            <a:off x="7223760" y="3657600"/>
            <a:ext cx="34668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9" name="Text 44"/>
          <p:cNvSpPr/>
          <p:nvPr/>
        </p:nvSpPr>
        <p:spPr>
          <a:xfrm>
            <a:off x="7571160" y="3657600"/>
            <a:ext cx="306252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척도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/ML/RAG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활용 동의 확인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철회와 설정 즉시 반영 토스트를 제공한다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0" name="Text 45"/>
          <p:cNvSpPr/>
          <p:nvPr/>
        </p:nvSpPr>
        <p:spPr>
          <a:xfrm>
            <a:off x="10634400" y="3657600"/>
            <a:ext cx="1069200" cy="392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P20/P25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1" name="Text 46"/>
          <p:cNvSpPr/>
          <p:nvPr/>
        </p:nvSpPr>
        <p:spPr>
          <a:xfrm>
            <a:off x="594360" y="548640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Tab 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상세 설계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2" name="Text 47"/>
          <p:cNvSpPr/>
          <p:nvPr/>
        </p:nvSpPr>
        <p:spPr>
          <a:xfrm>
            <a:off x="594360" y="5760720"/>
            <a:ext cx="132516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3" name="Text 48"/>
          <p:cNvSpPr/>
          <p:nvPr/>
        </p:nvSpPr>
        <p:spPr>
          <a:xfrm>
            <a:off x="1920240" y="5760720"/>
            <a:ext cx="356544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주요 요소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4" name="Text 49"/>
          <p:cNvSpPr/>
          <p:nvPr/>
        </p:nvSpPr>
        <p:spPr>
          <a:xfrm>
            <a:off x="5486400" y="5760720"/>
            <a:ext cx="356544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동작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5" name="Text 50"/>
          <p:cNvSpPr/>
          <p:nvPr/>
        </p:nvSpPr>
        <p:spPr>
          <a:xfrm>
            <a:off x="9052560" y="5760720"/>
            <a:ext cx="2513880" cy="2188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빈</a:t>
            </a: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오류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6" name="Text 51"/>
          <p:cNvSpPr/>
          <p:nvPr/>
        </p:nvSpPr>
        <p:spPr>
          <a:xfrm>
            <a:off x="594360" y="598032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알림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7" name="Text 52"/>
          <p:cNvSpPr/>
          <p:nvPr/>
        </p:nvSpPr>
        <p:spPr>
          <a:xfrm>
            <a:off x="1920240" y="598032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스위치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시간대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알림 유형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8" name="Text 53"/>
          <p:cNvSpPr/>
          <p:nvPr/>
        </p:nvSpPr>
        <p:spPr>
          <a:xfrm>
            <a:off x="5486400" y="598032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변경 즉시 토스트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9" name="Text 54"/>
          <p:cNvSpPr/>
          <p:nvPr/>
        </p:nvSpPr>
        <p:spPr>
          <a:xfrm>
            <a:off x="9052560" y="598032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권한 없음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OS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안내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0" name="Text 55"/>
          <p:cNvSpPr/>
          <p:nvPr/>
        </p:nvSpPr>
        <p:spPr>
          <a:xfrm>
            <a:off x="594360" y="619956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테마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1" name="Text 56"/>
          <p:cNvSpPr/>
          <p:nvPr/>
        </p:nvSpPr>
        <p:spPr>
          <a:xfrm>
            <a:off x="1920240" y="61995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 범위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마스킹 미리보기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언어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테마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2" name="Text 57"/>
          <p:cNvSpPr/>
          <p:nvPr/>
        </p:nvSpPr>
        <p:spPr>
          <a:xfrm>
            <a:off x="5486400" y="61995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변경 즉시 미리보기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3" name="Text 58"/>
          <p:cNvSpPr/>
          <p:nvPr/>
        </p:nvSpPr>
        <p:spPr>
          <a:xfrm>
            <a:off x="9052560" y="619956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미선택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: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기본값 유지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4" name="Text 59"/>
          <p:cNvSpPr/>
          <p:nvPr/>
        </p:nvSpPr>
        <p:spPr>
          <a:xfrm>
            <a:off x="594360" y="6419160"/>
            <a:ext cx="132516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데이터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5" name="Text 60"/>
          <p:cNvSpPr/>
          <p:nvPr/>
        </p:nvSpPr>
        <p:spPr>
          <a:xfrm>
            <a:off x="1920240" y="64191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탈퇴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ML/RAG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 확인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철회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6" name="Text 61"/>
          <p:cNvSpPr/>
          <p:nvPr/>
        </p:nvSpPr>
        <p:spPr>
          <a:xfrm>
            <a:off x="5486400" y="6419160"/>
            <a:ext cx="356544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재확인 후 처리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7" name="Text 62"/>
          <p:cNvSpPr/>
          <p:nvPr/>
        </p:nvSpPr>
        <p:spPr>
          <a:xfrm>
            <a:off x="9052560" y="6419160"/>
            <a:ext cx="2513880" cy="21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철회 시 관련 기능 중지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8" name="PlaceHolder 1"/>
          <p:cNvSpPr>
            <a:spLocks noGrp="1"/>
          </p:cNvSpPr>
          <p:nvPr>
            <p:ph type="sldNum" idx="26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MY-R-D-007 </a:t>
            </a: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기능별 상세 화면설계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0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MY-R-007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에 포함된 설정 기능을 개별 화면 요소 기준으로 구체화합니다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1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2" name="Text 3"/>
          <p:cNvSpPr/>
          <p:nvPr/>
        </p:nvSpPr>
        <p:spPr>
          <a:xfrm>
            <a:off x="594360" y="96012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요구사항별 상세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3" name="Text 4"/>
          <p:cNvSpPr/>
          <p:nvPr/>
        </p:nvSpPr>
        <p:spPr>
          <a:xfrm>
            <a:off x="594360" y="1234440"/>
            <a:ext cx="68508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ID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4" name="Text 5"/>
          <p:cNvSpPr/>
          <p:nvPr/>
        </p:nvSpPr>
        <p:spPr>
          <a:xfrm>
            <a:off x="1280160" y="1234440"/>
            <a:ext cx="132516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5" name="Text 6"/>
          <p:cNvSpPr/>
          <p:nvPr/>
        </p:nvSpPr>
        <p:spPr>
          <a:xfrm>
            <a:off x="2606040" y="1234440"/>
            <a:ext cx="182808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화면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탭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6" name="Text 7"/>
          <p:cNvSpPr/>
          <p:nvPr/>
        </p:nvSpPr>
        <p:spPr>
          <a:xfrm>
            <a:off x="4434840" y="1234440"/>
            <a:ext cx="265104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화면 요소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7" name="Text 8"/>
          <p:cNvSpPr/>
          <p:nvPr/>
        </p:nvSpPr>
        <p:spPr>
          <a:xfrm>
            <a:off x="7086600" y="1234440"/>
            <a:ext cx="201096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상호작용</a:t>
            </a:r>
            <a:r>
              <a:rPr lang="en-US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8" name="Text 9"/>
          <p:cNvSpPr/>
          <p:nvPr/>
        </p:nvSpPr>
        <p:spPr>
          <a:xfrm>
            <a:off x="9098280" y="1234440"/>
            <a:ext cx="1005120" cy="3103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우선순위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9" name="Text 10"/>
          <p:cNvSpPr/>
          <p:nvPr/>
        </p:nvSpPr>
        <p:spPr>
          <a:xfrm>
            <a:off x="594360" y="154548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P16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50" name="Text 11"/>
          <p:cNvSpPr/>
          <p:nvPr/>
        </p:nvSpPr>
        <p:spPr>
          <a:xfrm>
            <a:off x="1280160" y="154548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시크릿챗 기본 설정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51" name="Text 12"/>
          <p:cNvSpPr/>
          <p:nvPr/>
        </p:nvSpPr>
        <p:spPr>
          <a:xfrm>
            <a:off x="2606040" y="154548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52" name="Text 13"/>
          <p:cNvSpPr/>
          <p:nvPr/>
        </p:nvSpPr>
        <p:spPr>
          <a:xfrm>
            <a:off x="4434840" y="154548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 비저장 기본값 토글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적용 범위 설명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53" name="Text 14"/>
          <p:cNvSpPr/>
          <p:nvPr/>
        </p:nvSpPr>
        <p:spPr>
          <a:xfrm>
            <a:off x="7086600" y="154548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ON/OFF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변경 시 즉시 반영 토스트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54" name="Text 15"/>
          <p:cNvSpPr/>
          <p:nvPr/>
        </p:nvSpPr>
        <p:spPr>
          <a:xfrm>
            <a:off x="9098280" y="154548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55" name="Text 16"/>
          <p:cNvSpPr/>
          <p:nvPr/>
        </p:nvSpPr>
        <p:spPr>
          <a:xfrm>
            <a:off x="594360" y="185616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P17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56" name="Text 17"/>
          <p:cNvSpPr/>
          <p:nvPr/>
        </p:nvSpPr>
        <p:spPr>
          <a:xfrm>
            <a:off x="1280160" y="185616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알림 수신 설정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57" name="Text 18"/>
          <p:cNvSpPr/>
          <p:nvPr/>
        </p:nvSpPr>
        <p:spPr>
          <a:xfrm>
            <a:off x="2606040" y="185616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알림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58" name="Text 19"/>
          <p:cNvSpPr/>
          <p:nvPr/>
        </p:nvSpPr>
        <p:spPr>
          <a:xfrm>
            <a:off x="4434840" y="185616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알림 유형별 토글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시간대 선택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OS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권한 상태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59" name="Text 20"/>
          <p:cNvSpPr/>
          <p:nvPr/>
        </p:nvSpPr>
        <p:spPr>
          <a:xfrm>
            <a:off x="7086600" y="185616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권한 없음은 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OS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안내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변경 즉시 반영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0" name="Text 21"/>
          <p:cNvSpPr/>
          <p:nvPr/>
        </p:nvSpPr>
        <p:spPr>
          <a:xfrm>
            <a:off x="9098280" y="185616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1" name="Text 22"/>
          <p:cNvSpPr/>
          <p:nvPr/>
        </p:nvSpPr>
        <p:spPr>
          <a:xfrm>
            <a:off x="594360" y="216720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P18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2" name="Text 23"/>
          <p:cNvSpPr/>
          <p:nvPr/>
        </p:nvSpPr>
        <p:spPr>
          <a:xfrm>
            <a:off x="1280160" y="216720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결과카드 공개 범위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3" name="Text 24"/>
          <p:cNvSpPr/>
          <p:nvPr/>
        </p:nvSpPr>
        <p:spPr>
          <a:xfrm>
            <a:off x="2606040" y="216720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공개범위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4" name="Text 25"/>
          <p:cNvSpPr/>
          <p:nvPr/>
        </p:nvSpPr>
        <p:spPr>
          <a:xfrm>
            <a:off x="4434840" y="216720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이름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날짜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내용 수준 선택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 미리보기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5" name="Text 26"/>
          <p:cNvSpPr/>
          <p:nvPr/>
        </p:nvSpPr>
        <p:spPr>
          <a:xfrm>
            <a:off x="7086600" y="216720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MY-R-003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 미리보기와 연동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6" name="Text 27"/>
          <p:cNvSpPr/>
          <p:nvPr/>
        </p:nvSpPr>
        <p:spPr>
          <a:xfrm>
            <a:off x="9098280" y="216720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7" name="Text 28"/>
          <p:cNvSpPr/>
          <p:nvPr/>
        </p:nvSpPr>
        <p:spPr>
          <a:xfrm>
            <a:off x="594360" y="247788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P19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8" name="Text 29"/>
          <p:cNvSpPr/>
          <p:nvPr/>
        </p:nvSpPr>
        <p:spPr>
          <a:xfrm>
            <a:off x="1280160" y="247788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언어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테마 설정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9" name="Text 30"/>
          <p:cNvSpPr/>
          <p:nvPr/>
        </p:nvSpPr>
        <p:spPr>
          <a:xfrm>
            <a:off x="2606040" y="247788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언어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테마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0" name="Text 31"/>
          <p:cNvSpPr/>
          <p:nvPr/>
        </p:nvSpPr>
        <p:spPr>
          <a:xfrm>
            <a:off x="4434840" y="247788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언어 선택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라이트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다크 선택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즉시 미리보기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1" name="Text 32"/>
          <p:cNvSpPr/>
          <p:nvPr/>
        </p:nvSpPr>
        <p:spPr>
          <a:xfrm>
            <a:off x="7086600" y="247788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적용 실패 시 기존 설정 유지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2" name="Text 33"/>
          <p:cNvSpPr/>
          <p:nvPr/>
        </p:nvSpPr>
        <p:spPr>
          <a:xfrm>
            <a:off x="9098280" y="247788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3" name="Text 34"/>
          <p:cNvSpPr/>
          <p:nvPr/>
        </p:nvSpPr>
        <p:spPr>
          <a:xfrm>
            <a:off x="594360" y="278892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P20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4" name="Text 35"/>
          <p:cNvSpPr/>
          <p:nvPr/>
        </p:nvSpPr>
        <p:spPr>
          <a:xfrm>
            <a:off x="1280160" y="278892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즉시 반영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5" name="Text 36"/>
          <p:cNvSpPr/>
          <p:nvPr/>
        </p:nvSpPr>
        <p:spPr>
          <a:xfrm>
            <a:off x="2606040" y="278892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공통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6" name="Text 37"/>
          <p:cNvSpPr/>
          <p:nvPr/>
        </p:nvSpPr>
        <p:spPr>
          <a:xfrm>
            <a:off x="4434840" y="278892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저장 버튼 없이 즉시 반영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성공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실패 토스트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7" name="Text 38"/>
          <p:cNvSpPr/>
          <p:nvPr/>
        </p:nvSpPr>
        <p:spPr>
          <a:xfrm>
            <a:off x="7086600" y="278892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페이지 이동 없이 상태 유지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8" name="Text 39"/>
          <p:cNvSpPr/>
          <p:nvPr/>
        </p:nvSpPr>
        <p:spPr>
          <a:xfrm>
            <a:off x="9098280" y="278892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9" name="Text 40"/>
          <p:cNvSpPr/>
          <p:nvPr/>
        </p:nvSpPr>
        <p:spPr>
          <a:xfrm>
            <a:off x="594360" y="309996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P21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80" name="Text 41"/>
          <p:cNvSpPr/>
          <p:nvPr/>
        </p:nvSpPr>
        <p:spPr>
          <a:xfrm>
            <a:off x="1280160" y="309996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계정 탈퇴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데이터 삭제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81" name="Text 42"/>
          <p:cNvSpPr/>
          <p:nvPr/>
        </p:nvSpPr>
        <p:spPr>
          <a:xfrm>
            <a:off x="2606040" y="309996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데이터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82" name="Text 43"/>
          <p:cNvSpPr/>
          <p:nvPr/>
        </p:nvSpPr>
        <p:spPr>
          <a:xfrm>
            <a:off x="4434840" y="309996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범위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재확인 문구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요청 버튼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83" name="Text 44"/>
          <p:cNvSpPr/>
          <p:nvPr/>
        </p:nvSpPr>
        <p:spPr>
          <a:xfrm>
            <a:off x="7086600" y="309996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복구 불가 안내 후 실행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84" name="Text 45"/>
          <p:cNvSpPr/>
          <p:nvPr/>
        </p:nvSpPr>
        <p:spPr>
          <a:xfrm>
            <a:off x="9098280" y="309996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85" name="Text 46"/>
          <p:cNvSpPr/>
          <p:nvPr/>
        </p:nvSpPr>
        <p:spPr>
          <a:xfrm>
            <a:off x="594360" y="3410640"/>
            <a:ext cx="685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86" name="Text 47"/>
          <p:cNvSpPr/>
          <p:nvPr/>
        </p:nvSpPr>
        <p:spPr>
          <a:xfrm>
            <a:off x="1280160" y="3410640"/>
            <a:ext cx="13251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척도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/ML/RAG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활용 동의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87" name="Text 48"/>
          <p:cNvSpPr/>
          <p:nvPr/>
        </p:nvSpPr>
        <p:spPr>
          <a:xfrm>
            <a:off x="2606040" y="3410640"/>
            <a:ext cx="182808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MY-R-007 /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88" name="Text 49"/>
          <p:cNvSpPr/>
          <p:nvPr/>
        </p:nvSpPr>
        <p:spPr>
          <a:xfrm>
            <a:off x="4434840" y="3410640"/>
            <a:ext cx="265104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 상태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철회 버튼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 중지 범위 안내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89" name="Text 50"/>
          <p:cNvSpPr/>
          <p:nvPr/>
        </p:nvSpPr>
        <p:spPr>
          <a:xfrm>
            <a:off x="7086600" y="3410640"/>
            <a:ext cx="201096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철회 시 리포트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추천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검색 보정 중지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0" name="Text 51"/>
          <p:cNvSpPr/>
          <p:nvPr/>
        </p:nvSpPr>
        <p:spPr>
          <a:xfrm>
            <a:off x="9098280" y="3410640"/>
            <a:ext cx="1005120" cy="31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MVP+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1" name="Text 52"/>
          <p:cNvSpPr/>
          <p:nvPr/>
        </p:nvSpPr>
        <p:spPr>
          <a:xfrm>
            <a:off x="594360" y="544068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Check Point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2" name="Text 53"/>
          <p:cNvSpPr/>
          <p:nvPr/>
        </p:nvSpPr>
        <p:spPr>
          <a:xfrm>
            <a:off x="594360" y="5751720"/>
            <a:ext cx="10972080" cy="255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□ 설정 화면은 항상 전체화면이어야 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3" name="Text 54"/>
          <p:cNvSpPr/>
          <p:nvPr/>
        </p:nvSpPr>
        <p:spPr>
          <a:xfrm>
            <a:off x="594360" y="6026040"/>
            <a:ext cx="10972080" cy="255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□ 위험 작업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(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탈퇴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 철회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)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은 재확인을 요구한다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4" name="Text 55"/>
          <p:cNvSpPr/>
          <p:nvPr/>
        </p:nvSpPr>
        <p:spPr>
          <a:xfrm>
            <a:off x="594360" y="6300360"/>
            <a:ext cx="10972080" cy="255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□ 변경 결과는 토스트로 즉시 안내한다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5" name="PlaceHolder 1"/>
          <p:cNvSpPr>
            <a:spLocks noGrp="1"/>
          </p:cNvSpPr>
          <p:nvPr>
            <p:ph type="sldNum" idx="27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검증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7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필수 입력 항목과 유효성 체크를 화면 단위로 정의합니다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8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9" name="Text 3"/>
          <p:cNvSpPr/>
          <p:nvPr/>
        </p:nvSpPr>
        <p:spPr>
          <a:xfrm>
            <a:off x="594360" y="987480"/>
            <a:ext cx="1828080" cy="456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필수 입력 항목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0" name="Text 4"/>
          <p:cNvSpPr/>
          <p:nvPr/>
        </p:nvSpPr>
        <p:spPr>
          <a:xfrm>
            <a:off x="2423160" y="987480"/>
            <a:ext cx="2056680" cy="456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상황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1" name="Text 5"/>
          <p:cNvSpPr/>
          <p:nvPr/>
        </p:nvSpPr>
        <p:spPr>
          <a:xfrm>
            <a:off x="4480560" y="987480"/>
            <a:ext cx="3108240" cy="456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문구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2" name="Text 6"/>
          <p:cNvSpPr/>
          <p:nvPr/>
        </p:nvSpPr>
        <p:spPr>
          <a:xfrm>
            <a:off x="7589520" y="987480"/>
            <a:ext cx="3976920" cy="45648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처리 시나리오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3" name="Text 7"/>
          <p:cNvSpPr/>
          <p:nvPr/>
        </p:nvSpPr>
        <p:spPr>
          <a:xfrm>
            <a:off x="594360" y="1444680"/>
            <a:ext cx="182808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결과카드 공개 범위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4" name="Text 8"/>
          <p:cNvSpPr/>
          <p:nvPr/>
        </p:nvSpPr>
        <p:spPr>
          <a:xfrm>
            <a:off x="2423160" y="1444680"/>
            <a:ext cx="205668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공유 버튼 클릭 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5" name="Text 9"/>
          <p:cNvSpPr/>
          <p:nvPr/>
        </p:nvSpPr>
        <p:spPr>
          <a:xfrm>
            <a:off x="4480560" y="1444680"/>
            <a:ext cx="310824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 범위를 선택해 주세요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6" name="Text 10"/>
          <p:cNvSpPr/>
          <p:nvPr/>
        </p:nvSpPr>
        <p:spPr>
          <a:xfrm>
            <a:off x="7589520" y="1444680"/>
            <a:ext cx="3976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공개 범위 선택 후 공유 시트 노출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7" name="Text 11"/>
          <p:cNvSpPr/>
          <p:nvPr/>
        </p:nvSpPr>
        <p:spPr>
          <a:xfrm>
            <a:off x="594360" y="1901880"/>
            <a:ext cx="182808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시크릿챗 기본값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8" name="Text 12"/>
          <p:cNvSpPr/>
          <p:nvPr/>
        </p:nvSpPr>
        <p:spPr>
          <a:xfrm>
            <a:off x="2423160" y="1901880"/>
            <a:ext cx="205668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변경 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9" name="Text 13"/>
          <p:cNvSpPr/>
          <p:nvPr/>
        </p:nvSpPr>
        <p:spPr>
          <a:xfrm>
            <a:off x="4480560" y="1901880"/>
            <a:ext cx="310824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설정을 변경할까요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?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0" name="Text 14"/>
          <p:cNvSpPr/>
          <p:nvPr/>
        </p:nvSpPr>
        <p:spPr>
          <a:xfrm>
            <a:off x="7589520" y="1901880"/>
            <a:ext cx="3976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확인 후 즉시 반영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토스트 표시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1" name="Text 15"/>
          <p:cNvSpPr/>
          <p:nvPr/>
        </p:nvSpPr>
        <p:spPr>
          <a:xfrm>
            <a:off x="594360" y="2359080"/>
            <a:ext cx="182808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계정 삭제 확인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2" name="Text 16"/>
          <p:cNvSpPr/>
          <p:nvPr/>
        </p:nvSpPr>
        <p:spPr>
          <a:xfrm>
            <a:off x="2423160" y="2359080"/>
            <a:ext cx="205668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탈퇴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데이터 삭제 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3" name="Text 17"/>
          <p:cNvSpPr/>
          <p:nvPr/>
        </p:nvSpPr>
        <p:spPr>
          <a:xfrm>
            <a:off x="4480560" y="2359080"/>
            <a:ext cx="310824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후 복구할 수 없습니다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4" name="Text 18"/>
          <p:cNvSpPr/>
          <p:nvPr/>
        </p:nvSpPr>
        <p:spPr>
          <a:xfrm>
            <a:off x="7589520" y="2359080"/>
            <a:ext cx="3976920" cy="456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재확인 후 삭제 요청 처리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5" name="Text 19"/>
          <p:cNvSpPr/>
          <p:nvPr/>
        </p:nvSpPr>
        <p:spPr>
          <a:xfrm>
            <a:off x="594360" y="3108960"/>
            <a:ext cx="1828080" cy="4381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유효성 체크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6" name="Text 20"/>
          <p:cNvSpPr/>
          <p:nvPr/>
        </p:nvSpPr>
        <p:spPr>
          <a:xfrm>
            <a:off x="2423160" y="3108960"/>
            <a:ext cx="2056680" cy="4381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상황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7" name="Text 21"/>
          <p:cNvSpPr/>
          <p:nvPr/>
        </p:nvSpPr>
        <p:spPr>
          <a:xfrm>
            <a:off x="4480560" y="3108960"/>
            <a:ext cx="3108240" cy="4381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문구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8" name="Text 22"/>
          <p:cNvSpPr/>
          <p:nvPr/>
        </p:nvSpPr>
        <p:spPr>
          <a:xfrm>
            <a:off x="7589520" y="3108960"/>
            <a:ext cx="3976920" cy="43812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처리 시나리오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9" name="Text 23"/>
          <p:cNvSpPr/>
          <p:nvPr/>
        </p:nvSpPr>
        <p:spPr>
          <a:xfrm>
            <a:off x="594360" y="3547800"/>
            <a:ext cx="182808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데이터 부족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0" name="Text 24"/>
          <p:cNvSpPr/>
          <p:nvPr/>
        </p:nvSpPr>
        <p:spPr>
          <a:xfrm>
            <a:off x="2423160" y="3547800"/>
            <a:ext cx="205668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분석 통계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/AI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가 보는 나 진입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1" name="Text 25"/>
          <p:cNvSpPr/>
          <p:nvPr/>
        </p:nvSpPr>
        <p:spPr>
          <a:xfrm>
            <a:off x="4480560" y="3547800"/>
            <a:ext cx="310824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기록이 충분히 쌓이면 통계로 보여드릴게요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2" name="Text 26"/>
          <p:cNvSpPr/>
          <p:nvPr/>
        </p:nvSpPr>
        <p:spPr>
          <a:xfrm>
            <a:off x="7589520" y="3547800"/>
            <a:ext cx="397692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잠금 유지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 유도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CTA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노출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3" name="Text 27"/>
          <p:cNvSpPr/>
          <p:nvPr/>
        </p:nvSpPr>
        <p:spPr>
          <a:xfrm>
            <a:off x="594360" y="3986640"/>
            <a:ext cx="182808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목록 결과 없음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4" name="Text 28"/>
          <p:cNvSpPr/>
          <p:nvPr/>
        </p:nvSpPr>
        <p:spPr>
          <a:xfrm>
            <a:off x="2423160" y="3986640"/>
            <a:ext cx="205668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기록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보관함 조회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5" name="Text 29"/>
          <p:cNvSpPr/>
          <p:nvPr/>
        </p:nvSpPr>
        <p:spPr>
          <a:xfrm>
            <a:off x="4480560" y="3986640"/>
            <a:ext cx="310824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조건에 맞는 기록이 없습니다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6" name="Text 30"/>
          <p:cNvSpPr/>
          <p:nvPr/>
        </p:nvSpPr>
        <p:spPr>
          <a:xfrm>
            <a:off x="7589520" y="3986640"/>
            <a:ext cx="397692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필터 해제 또는 조건 변경 안내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//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7" name="Text 31"/>
          <p:cNvSpPr/>
          <p:nvPr/>
        </p:nvSpPr>
        <p:spPr>
          <a:xfrm>
            <a:off x="594360" y="4425840"/>
            <a:ext cx="182808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실패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8" name="Text 32"/>
          <p:cNvSpPr/>
          <p:nvPr/>
        </p:nvSpPr>
        <p:spPr>
          <a:xfrm>
            <a:off x="2423160" y="4425840"/>
            <a:ext cx="205668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기억 삭제 요청 실패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9" name="Text 33"/>
          <p:cNvSpPr/>
          <p:nvPr/>
        </p:nvSpPr>
        <p:spPr>
          <a:xfrm>
            <a:off x="4480560" y="4425840"/>
            <a:ext cx="310824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삭제에 실패했어요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다시 시도해 주세요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30" name="Text 34"/>
          <p:cNvSpPr/>
          <p:nvPr/>
        </p:nvSpPr>
        <p:spPr>
          <a:xfrm>
            <a:off x="7589520" y="4425840"/>
            <a:ext cx="397692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기존 유지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재시도 가능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31" name="Text 35"/>
          <p:cNvSpPr/>
          <p:nvPr/>
        </p:nvSpPr>
        <p:spPr>
          <a:xfrm>
            <a:off x="594360" y="4864680"/>
            <a:ext cx="182808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 철회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32" name="Text 36"/>
          <p:cNvSpPr/>
          <p:nvPr/>
        </p:nvSpPr>
        <p:spPr>
          <a:xfrm>
            <a:off x="2423160" y="4864680"/>
            <a:ext cx="205668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ML/RAG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활용 동의 철회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33" name="Text 37"/>
          <p:cNvSpPr/>
          <p:nvPr/>
        </p:nvSpPr>
        <p:spPr>
          <a:xfrm>
            <a:off x="4480560" y="4864680"/>
            <a:ext cx="310824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동의가 철회되어 관련 기능이 중지됩니다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34" name="Text 38"/>
          <p:cNvSpPr/>
          <p:nvPr/>
        </p:nvSpPr>
        <p:spPr>
          <a:xfrm>
            <a:off x="7589520" y="4864680"/>
            <a:ext cx="3976920" cy="438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분석 통계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/RAG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근거 연결 중지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35" name="PlaceHolder 1"/>
          <p:cNvSpPr>
            <a:spLocks noGrp="1"/>
          </p:cNvSpPr>
          <p:nvPr>
            <p:ph type="sldNum" idx="28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Text 0"/>
          <p:cNvSpPr/>
          <p:nvPr/>
        </p:nvSpPr>
        <p:spPr>
          <a:xfrm>
            <a:off x="502920" y="201240"/>
            <a:ext cx="804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최종 검수 체크리스트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37" name="Text 1"/>
          <p:cNvSpPr/>
          <p:nvPr/>
        </p:nvSpPr>
        <p:spPr>
          <a:xfrm>
            <a:off x="502920" y="530280"/>
            <a:ext cx="8777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v0.9 </a:t>
            </a:r>
            <a:r>
              <a:rPr lang="ko-KR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수정 요청 반영 여부를 확인합니다</a:t>
            </a:r>
            <a:r>
              <a:rPr lang="en-US" sz="860" b="0" u="none" strike="noStrike">
                <a:solidFill>
                  <a:srgbClr val="666666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38" name="Text 2"/>
          <p:cNvSpPr/>
          <p:nvPr/>
        </p:nvSpPr>
        <p:spPr>
          <a:xfrm>
            <a:off x="9217080" y="228600"/>
            <a:ext cx="2513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ko-KR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마이페이지 화면설계서 </a:t>
            </a:r>
            <a:r>
              <a:rPr lang="en-US" sz="870" b="0" u="none" strike="noStrike">
                <a:solidFill>
                  <a:srgbClr val="111111"/>
                </a:solidFill>
                <a:effectLst/>
                <a:uFillTx/>
                <a:latin typeface="Malgun Gothic"/>
              </a:rPr>
              <a:t>v0.9.1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39" name="Text 3"/>
          <p:cNvSpPr/>
          <p:nvPr/>
        </p:nvSpPr>
        <p:spPr>
          <a:xfrm>
            <a:off x="594360" y="1005840"/>
            <a:ext cx="547920" cy="4932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No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40" name="Text 4"/>
          <p:cNvSpPr/>
          <p:nvPr/>
        </p:nvSpPr>
        <p:spPr>
          <a:xfrm>
            <a:off x="1143000" y="1005840"/>
            <a:ext cx="2193840" cy="4932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항목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41" name="Text 5"/>
          <p:cNvSpPr/>
          <p:nvPr/>
        </p:nvSpPr>
        <p:spPr>
          <a:xfrm>
            <a:off x="3337560" y="1005840"/>
            <a:ext cx="7040160" cy="4932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확인 기준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42" name="Text 6"/>
          <p:cNvSpPr/>
          <p:nvPr/>
        </p:nvSpPr>
        <p:spPr>
          <a:xfrm>
            <a:off x="10378440" y="1005840"/>
            <a:ext cx="1096560" cy="4932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결과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43" name="Text 7"/>
          <p:cNvSpPr/>
          <p:nvPr/>
        </p:nvSpPr>
        <p:spPr>
          <a:xfrm>
            <a:off x="594360" y="1499760"/>
            <a:ext cx="54792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1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44" name="Text 8"/>
          <p:cNvSpPr/>
          <p:nvPr/>
        </p:nvSpPr>
        <p:spPr>
          <a:xfrm>
            <a:off x="1143000" y="1499760"/>
            <a:ext cx="219384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3D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형 메인 와이어프레임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45" name="Text 9"/>
          <p:cNvSpPr/>
          <p:nvPr/>
        </p:nvSpPr>
        <p:spPr>
          <a:xfrm>
            <a:off x="3337560" y="1499760"/>
            <a:ext cx="704016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MY-R-000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이 벽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바닥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중앙 책상 구조로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3D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방처럼 보이는가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46" name="Text 10"/>
          <p:cNvSpPr/>
          <p:nvPr/>
        </p:nvSpPr>
        <p:spPr>
          <a:xfrm>
            <a:off x="10378440" y="1499760"/>
            <a:ext cx="109656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반영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47" name="Text 11"/>
          <p:cNvSpPr/>
          <p:nvPr/>
        </p:nvSpPr>
        <p:spPr>
          <a:xfrm>
            <a:off x="594360" y="1993320"/>
            <a:ext cx="54792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2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48" name="Text 12"/>
          <p:cNvSpPr/>
          <p:nvPr/>
        </p:nvSpPr>
        <p:spPr>
          <a:xfrm>
            <a:off x="1143000" y="1993320"/>
            <a:ext cx="219384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문서형 유지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49" name="Text 13"/>
          <p:cNvSpPr/>
          <p:nvPr/>
        </p:nvSpPr>
        <p:spPr>
          <a:xfrm>
            <a:off x="3337560" y="1993320"/>
            <a:ext cx="704016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일러스트 시안이 아니라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Screen ID, Path, Description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중심인가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0" name="Text 14"/>
          <p:cNvSpPr/>
          <p:nvPr/>
        </p:nvSpPr>
        <p:spPr>
          <a:xfrm>
            <a:off x="10378440" y="1993320"/>
            <a:ext cx="109656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반영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1" name="Text 15"/>
          <p:cNvSpPr/>
          <p:nvPr/>
        </p:nvSpPr>
        <p:spPr>
          <a:xfrm>
            <a:off x="594360" y="2487240"/>
            <a:ext cx="54792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2" name="Text 16"/>
          <p:cNvSpPr/>
          <p:nvPr/>
        </p:nvSpPr>
        <p:spPr>
          <a:xfrm>
            <a:off x="1143000" y="2487240"/>
            <a:ext cx="219384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팝업 탭 대시보드화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3" name="Text 17"/>
          <p:cNvSpPr/>
          <p:nvPr/>
        </p:nvSpPr>
        <p:spPr>
          <a:xfrm>
            <a:off x="3337560" y="2487240"/>
            <a:ext cx="704016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각 팝업 탭에서 기능 상태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요약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KPI,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목록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/CTA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를 확인할 수 있는가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4" name="Text 18"/>
          <p:cNvSpPr/>
          <p:nvPr/>
        </p:nvSpPr>
        <p:spPr>
          <a:xfrm>
            <a:off x="10378440" y="2487240"/>
            <a:ext cx="109656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반영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5" name="Text 19"/>
          <p:cNvSpPr/>
          <p:nvPr/>
        </p:nvSpPr>
        <p:spPr>
          <a:xfrm>
            <a:off x="594360" y="2980800"/>
            <a:ext cx="54792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4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6" name="Text 20"/>
          <p:cNvSpPr/>
          <p:nvPr/>
        </p:nvSpPr>
        <p:spPr>
          <a:xfrm>
            <a:off x="1143000" y="2980800"/>
            <a:ext cx="219384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기능별 화면설계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7" name="Text 21"/>
          <p:cNvSpPr/>
          <p:nvPr/>
        </p:nvSpPr>
        <p:spPr>
          <a:xfrm>
            <a:off x="3337560" y="2980800"/>
            <a:ext cx="704016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요구사항 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P01~P36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이 화면 요소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동작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예외로 구체화되어 있는가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8" name="Text 22"/>
          <p:cNvSpPr/>
          <p:nvPr/>
        </p:nvSpPr>
        <p:spPr>
          <a:xfrm>
            <a:off x="10378440" y="2980800"/>
            <a:ext cx="109656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반영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9" name="Text 23"/>
          <p:cNvSpPr/>
          <p:nvPr/>
        </p:nvSpPr>
        <p:spPr>
          <a:xfrm>
            <a:off x="594360" y="3474720"/>
            <a:ext cx="54792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5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0" name="Text 24"/>
          <p:cNvSpPr/>
          <p:nvPr/>
        </p:nvSpPr>
        <p:spPr>
          <a:xfrm>
            <a:off x="1143000" y="3474720"/>
            <a:ext cx="219384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 예외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1" name="Text 25"/>
          <p:cNvSpPr/>
          <p:nvPr/>
        </p:nvSpPr>
        <p:spPr>
          <a:xfrm>
            <a:off x="3337560" y="3474720"/>
            <a:ext cx="704016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설정만 전체화면 오버레이로 정의되어 있는가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2" name="Text 26"/>
          <p:cNvSpPr/>
          <p:nvPr/>
        </p:nvSpPr>
        <p:spPr>
          <a:xfrm>
            <a:off x="10378440" y="3474720"/>
            <a:ext cx="109656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반영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3" name="Text 27"/>
          <p:cNvSpPr/>
          <p:nvPr/>
        </p:nvSpPr>
        <p:spPr>
          <a:xfrm>
            <a:off x="594360" y="3968640"/>
            <a:ext cx="54792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6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4" name="Text 28"/>
          <p:cNvSpPr/>
          <p:nvPr/>
        </p:nvSpPr>
        <p:spPr>
          <a:xfrm>
            <a:off x="1143000" y="3968640"/>
            <a:ext cx="219384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확장 상태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5" name="Text 29"/>
          <p:cNvSpPr/>
          <p:nvPr/>
        </p:nvSpPr>
        <p:spPr>
          <a:xfrm>
            <a:off x="3337560" y="3968640"/>
            <a:ext cx="704016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MVP+·2P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기능이 아티팩트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/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잠금 상태로 자연스럽게 남아 있는가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6" name="Text 30"/>
          <p:cNvSpPr/>
          <p:nvPr/>
        </p:nvSpPr>
        <p:spPr>
          <a:xfrm>
            <a:off x="10378440" y="3968640"/>
            <a:ext cx="109656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반영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7" name="Text 31"/>
          <p:cNvSpPr/>
          <p:nvPr/>
        </p:nvSpPr>
        <p:spPr>
          <a:xfrm>
            <a:off x="594360" y="4462200"/>
            <a:ext cx="54792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8" name="Text 32"/>
          <p:cNvSpPr/>
          <p:nvPr/>
        </p:nvSpPr>
        <p:spPr>
          <a:xfrm>
            <a:off x="1143000" y="4462200"/>
            <a:ext cx="219384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안전 정책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9" name="Text 33"/>
          <p:cNvSpPr/>
          <p:nvPr/>
        </p:nvSpPr>
        <p:spPr>
          <a:xfrm>
            <a:off x="3337560" y="4462200"/>
            <a:ext cx="704016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시크릿챗 비저장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완화 표현</a:t>
            </a:r>
            <a:r>
              <a:rPr lang="en-US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삭제 상태 안내가 포함되어 있는가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70" name="Text 34"/>
          <p:cNvSpPr/>
          <p:nvPr/>
        </p:nvSpPr>
        <p:spPr>
          <a:xfrm>
            <a:off x="10378440" y="4462200"/>
            <a:ext cx="1096560" cy="49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반영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71" name="Text 35"/>
          <p:cNvSpPr/>
          <p:nvPr/>
        </p:nvSpPr>
        <p:spPr>
          <a:xfrm>
            <a:off x="594360" y="5166360"/>
            <a:ext cx="10972080" cy="255240"/>
          </a:xfrm>
          <a:prstGeom prst="rect">
            <a:avLst/>
          </a:prstGeom>
          <a:solidFill>
            <a:srgbClr val="E5E7EB"/>
          </a:solidFill>
          <a:ln w="762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20" b="1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산출물 기준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72" name="Text 36"/>
          <p:cNvSpPr/>
          <p:nvPr/>
        </p:nvSpPr>
        <p:spPr>
          <a:xfrm>
            <a:off x="594360" y="5486400"/>
            <a:ext cx="10972080" cy="3834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본 문서는 디자인 최종안이 아니라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구현 협업자가 화면 구조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동작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상태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정책을 확인하기 위한 화면설계서입니다</a:t>
            </a:r>
            <a:r>
              <a:rPr lang="en-US" sz="6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73" name="PlaceHolder 1"/>
          <p:cNvSpPr>
            <a:spLocks noGrp="1"/>
          </p:cNvSpPr>
          <p:nvPr>
            <p:ph type="sldNum" idx="29"/>
          </p:nvPr>
        </p:nvSpPr>
        <p:spPr>
          <a:xfrm>
            <a:off x="1147572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111111"/>
                </a:solidFill>
                <a:effectLst/>
                <a:uFillTx/>
                <a:latin typeface="Malgun Gothic"/>
                <a:ea typeface="Malgun Gothic"/>
              </a:rPr>
              <a:t>33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 pitchFamily="0" charset="1"/>
        <a:ea typeface=""/>
        <a:cs typeface=""/>
      </a:majorFont>
      <a:minorFont>
        <a:latin typeface="Malgun Gothi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LibreOffice/26.2.0.3$Windows_X86_64 LibreOffice_project/620$Build-3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2026-06-17T04:38:25Z</dcterms:created>
  <dc:creator>OpenAI</dc:creator>
  <dc:description/>
  <dc:language>ko-KR</dc:language>
  <cp:lastModifiedBy/>
  <dcterms:modified xsi:type="dcterms:W3CDTF">2026-06-17T17:41:59Z</dcterms:modified>
  <cp:revision>3</cp:revision>
  <dc:subject>마이페이지 화면설계서 v0.9</dc:subject>
  <dc:title>마이페이지 화면설계서 v0.9 문서형 상세본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30</vt:i4>
  </property>
  <property fmtid="{D5CDD505-2E9C-101B-9397-08002B2CF9AE}" pid="3" name="PresentationFormat">
    <vt:lpwstr>On-screen Show (16:9)</vt:lpwstr>
  </property>
  <property fmtid="{D5CDD505-2E9C-101B-9397-08002B2CF9AE}" pid="4" name="Slides">
    <vt:i4>30</vt:i4>
  </property>
</Properties>
</file>