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70" r:id="rId1"/>
    <p:sldMasterId id="2147483671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34" r:id="rId86"/>
    <p:sldId id="335" r:id="rId87"/>
    <p:sldId id="336" r:id="rId88"/>
    <p:sldId id="337" r:id="rId89"/>
    <p:sldId id="338" r:id="rId9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4E7416E8-415C-4827-B443-BCCDB9BC9B8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Comments="0">
  <p:normalViewPr snapVertSplitter="1">
    <p:restoredLeft sz="12579"/>
    <p:restoredTop sz="9000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1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33a2c7348_2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03" name="Google Shape;103;g3f33a2c7348_2_5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33a2c7348_2_6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20" name="Google Shape;120;g3f33a2c7348_2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33a2c7348_2_7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26" name="Google Shape;126;g3f33a2c7348_2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33a2c7348_2_8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31" name="Google Shape;131;g3f33a2c7348_2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33a2c7348_2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39" name="Google Shape;139;g3f33a2c7348_2_8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33a2c7348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47" name="Google Shape;147;g3f33a2c7348_2_9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33a2c7348_2_10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55" name="Google Shape;155;g3f33a2c7348_2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33a2c7348_2_11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68" name="Google Shape;168;g3f33a2c7348_2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33a2c7348_2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82" name="Google Shape;182;g3f33a2c7348_2_12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33a2c7348_2_13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90" name="Google Shape;190;g3f33a2c7348_2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33a2c7348_2_14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98" name="Google Shape;198;g3f33a2c7348_2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33a2c7348_2_14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04" name="Google Shape;204;g3f33a2c7348_2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33a2c7348_2_15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09" name="Google Shape;209;g3f33a2c7348_2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33a2c7348_2_15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14" name="Google Shape;214;g3f33a2c7348_2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33a2c7348_2_16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25" name="Google Shape;225;g3f33a2c7348_2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33a2c7348_2_17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32" name="Google Shape;232;g3f33a2c7348_2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33a2c7348_2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38" name="Google Shape;238;g3f33a2c7348_2_17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33a2c7348_2_18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45" name="Google Shape;245;g3f33a2c7348_2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33a2c7348_2_18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51" name="Google Shape;251;g3f33a2c7348_2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33a2c7348_2_19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57" name="Google Shape;257;g3f33a2c7348_2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33a2c7348_2_19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62" name="Google Shape;262;g3f33a2c7348_2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33a2c7348_2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68" name="Google Shape;268;g3f33a2c7348_2_20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33a2c7348_2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84" name="Google Shape;284;g3f33a2c7348_2_21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33a2c7348_2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00" name="Google Shape;300;g3f33a2c7348_2_2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33a2c7348_2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16" name="Google Shape;316;g3f33a2c7348_2_24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33a2c7348_2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32" name="Google Shape;332;g3f33a2c7348_2_26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33a2c7348_2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48" name="Google Shape;348;g3f33a2c7348_2_27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33a2c7348_2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64" name="Google Shape;364;g3f33a2c7348_2_29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33a2c7348_2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80" name="Google Shape;380;g3f33a2c7348_2_30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33a2c7348_2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89" name="Google Shape;389;g3f33a2c7348_2_3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33a2c7348_2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97" name="Google Shape;397;g3f33a2c7348_2_32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f33a2c7348_2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04" name="Google Shape;404;g3f33a2c7348_2_32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f33a2c7348_2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12" name="Google Shape;412;g3f33a2c7348_2_33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f33a2c7348_2_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20" name="Google Shape;420;g3f33a2c7348_2_34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f33a2c7348_2_3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27" name="Google Shape;427;g3f33a2c7348_2_34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33a2c7348_2_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35" name="Google Shape;435;g3f33a2c7348_2_35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f33a2c7348_2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43" name="Google Shape;443;g3f33a2c7348_2_36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f33a2c7348_2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51" name="Google Shape;451;g3f33a2c7348_2_36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f33a2c7348_2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58" name="Google Shape;458;g3f33a2c7348_2_37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33a2c7348_2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63" name="Google Shape;463;g3f33a2c7348_2_37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f33a2c7348_2_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71" name="Google Shape;471;g3f33a2c7348_2_38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f33a2c7348_2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78" name="Google Shape;478;g3f33a2c7348_2_39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33a2c7348_2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85" name="Google Shape;485;g3f33a2c7348_2_39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f33a2c7348_2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93" name="Google Shape;493;g3f33a2c7348_2_4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f33a2c7348_2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03" name="Google Shape;503;g3f33a2c7348_2_41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f33a2c7348_2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g3f33a2c7348_2_4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f33a2c7348_2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g3f33a2c7348_2_43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f33a2c7348_2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3f33a2c7348_2_43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f33a2c7348_2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3f33a2c7348_2_44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f33a2c7348_2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g3f33a2c7348_2_45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f33a2c7348_2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3f33a2c7348_2_45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f33a2c7348_2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g3f33a2c7348_2_46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f33a2c7348_2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g3f33a2c7348_2_47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f33a2c7348_2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g3f33a2c7348_2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f33a2c7348_2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g3f33a2c7348_2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f33a2c7348_2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g3f33a2c7348_2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f33a2c7348_2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g3f33a2c7348_2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f33a2c7348_2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g3f33a2c7348_2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f33a2c7348_2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g3f33a2c7348_2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f33a2c7348_2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g3f33a2c7348_2_5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f33a2c7348_2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g3f33a2c7348_2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f33a2c7348_2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g3f33a2c7348_2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f33a2c7348_2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g3f33a2c7348_2_54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f33a2c7348_2_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" name="Google Shape;663;g3f33a2c7348_2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0d3c7af98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f0d3c7af9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f0d3c7af98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f0d3c7af9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f0d3c7af9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f0d3c7af9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f0d3c7af98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3f0d3c7af98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f0d3c7af98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3f0d3c7af98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f0d3c7af98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3f0d3c7af98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f0d3c7af98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f0d3c7af98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f0d3c7af98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3f0d3c7af98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f0d3c7af98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f0d3c7af98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f0d3c7af98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3f0d3c7af98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f0d3c7af9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3f0d3c7af9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f0d3c7af9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f0d3c7af9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f0d3c7af98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3f0d3c7af98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1" name="Google Shape;8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" name="Google Shape;85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6" name="Google Shape;86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0" name="Google Shape;9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9.xml"/><Relationship Id="rId2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0.xml"/><Relationship Id="rId2" Type="http://schemas.openxmlformats.org/officeDocument/2006/relationships/slideLayout" Target="../slideLayouts/slideLayout14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0.jpe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1.jpe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3.jpe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4.jpe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5.jpe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빈틈사이</a:t>
            </a:r>
            <a:endParaRPr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다중 에이전트 기반 감정 분석 활용 AI 소통형 웰니스 챗봇 및 결과리포트 서비스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8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 소개</a:t>
            </a:r>
            <a:endParaRPr/>
          </a:p>
        </p:txBody>
      </p:sp>
      <p:sp>
        <p:nvSpPr>
          <p:cNvPr id="106" name="Google Shape;106;p26"/>
          <p:cNvSpPr txBox="1"/>
          <p:nvPr/>
        </p:nvSpPr>
        <p:spPr>
          <a:xfrm>
            <a:off x="411480" y="123444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김한솔</a:t>
            </a:r>
            <a:r>
              <a:rPr b="1" i="0" lang="ko" sz="11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PM</a:t>
            </a:r>
            <a:endParaRPr/>
          </a:p>
        </p:txBody>
      </p:sp>
      <p:sp>
        <p:nvSpPr>
          <p:cNvPr id="107" name="Google Shape;107;p26"/>
          <p:cNvSpPr/>
          <p:nvPr/>
        </p:nvSpPr>
        <p:spPr>
          <a:xfrm>
            <a:off x="411480" y="1755648"/>
            <a:ext cx="1920240" cy="27432"/>
          </a:xfrm>
          <a:prstGeom prst="rect">
            <a:avLst/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6"/>
          <p:cNvSpPr txBox="1"/>
          <p:nvPr/>
        </p:nvSpPr>
        <p:spPr>
          <a:xfrm>
            <a:off x="411480" y="1874519"/>
            <a:ext cx="20574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프로젝트 기획 및 관리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AI 모델 개발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데이터 수집 및 전처리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백엔드 개발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인프라 배포 및 운영</a:t>
            </a:r>
            <a:endParaRPr/>
          </a:p>
        </p:txBody>
      </p:sp>
      <p:sp>
        <p:nvSpPr>
          <p:cNvPr id="109" name="Google Shape;109;p26"/>
          <p:cNvSpPr txBox="1"/>
          <p:nvPr/>
        </p:nvSpPr>
        <p:spPr>
          <a:xfrm>
            <a:off x="2587752" y="123444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한재웅</a:t>
            </a:r>
            <a:r>
              <a:rPr b="1" i="0" lang="ko" sz="11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APM</a:t>
            </a:r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2587752" y="1755648"/>
            <a:ext cx="1920240" cy="27432"/>
          </a:xfrm>
          <a:prstGeom prst="rect">
            <a:avLst/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6"/>
          <p:cNvSpPr txBox="1"/>
          <p:nvPr/>
        </p:nvSpPr>
        <p:spPr>
          <a:xfrm>
            <a:off x="2587752" y="1874519"/>
            <a:ext cx="20574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프로젝트 기획 및 관리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데이터베이스 및 시스템 설계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프론트엔드 개발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백엔드 개발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문서화 및 산출물 관리</a:t>
            </a:r>
            <a:endParaRPr/>
          </a:p>
        </p:txBody>
      </p:sp>
      <p:sp>
        <p:nvSpPr>
          <p:cNvPr id="112" name="Google Shape;112;p26"/>
          <p:cNvSpPr txBox="1"/>
          <p:nvPr/>
        </p:nvSpPr>
        <p:spPr>
          <a:xfrm>
            <a:off x="4764024" y="123444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이성진</a:t>
            </a:r>
            <a:endParaRPr/>
          </a:p>
        </p:txBody>
      </p:sp>
      <p:sp>
        <p:nvSpPr>
          <p:cNvPr id="113" name="Google Shape;113;p26"/>
          <p:cNvSpPr/>
          <p:nvPr/>
        </p:nvSpPr>
        <p:spPr>
          <a:xfrm>
            <a:off x="4764024" y="1755648"/>
            <a:ext cx="1920240" cy="27432"/>
          </a:xfrm>
          <a:prstGeom prst="rect">
            <a:avLst/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6"/>
          <p:cNvSpPr txBox="1"/>
          <p:nvPr/>
        </p:nvSpPr>
        <p:spPr>
          <a:xfrm>
            <a:off x="4764024" y="1874519"/>
            <a:ext cx="20574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프론트엔드 개발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백엔드 연동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데이터베이스 및 시스템 설계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940296" y="123444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박송원</a:t>
            </a:r>
            <a:endParaRPr/>
          </a:p>
        </p:txBody>
      </p:sp>
      <p:sp>
        <p:nvSpPr>
          <p:cNvPr id="116" name="Google Shape;116;p26"/>
          <p:cNvSpPr/>
          <p:nvPr/>
        </p:nvSpPr>
        <p:spPr>
          <a:xfrm>
            <a:off x="6940296" y="1755648"/>
            <a:ext cx="1920240" cy="27432"/>
          </a:xfrm>
          <a:prstGeom prst="rect">
            <a:avLst/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6"/>
          <p:cNvSpPr txBox="1"/>
          <p:nvPr/>
        </p:nvSpPr>
        <p:spPr>
          <a:xfrm>
            <a:off x="6940296" y="1874519"/>
            <a:ext cx="20574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프로젝트 기획 및 관리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백엔드 개발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AI 모델 개발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목차</a:t>
            </a:r>
            <a:endParaRPr/>
          </a:p>
        </p:txBody>
      </p:sp>
      <p:sp>
        <p:nvSpPr>
          <p:cNvPr id="123" name="Google Shape;12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배경 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목적 및 기대효과 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일정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기술 스택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진행사항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기획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데이터 수집 및 전처리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모델링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웹서비스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이슈 및 문제점 개선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향후계획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모델링 및 평가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모델 배포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Q&amp;A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배경</a:t>
            </a:r>
            <a:endParaRPr/>
          </a:p>
        </p:txBody>
      </p:sp>
      <p:sp>
        <p:nvSpPr>
          <p:cNvPr id="134" name="Google Shape;134;p29"/>
          <p:cNvSpPr txBox="1"/>
          <p:nvPr>
            <p:ph idx="1" type="body"/>
          </p:nvPr>
        </p:nvSpPr>
        <p:spPr>
          <a:xfrm>
            <a:off x="311700" y="1152475"/>
            <a:ext cx="4450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ko" sz="1550">
                <a:latin typeface="Malgun Gothic"/>
                <a:ea typeface="Malgun Gothic"/>
                <a:cs typeface="Malgun Gothic"/>
                <a:sym typeface="Malgun Gothic"/>
              </a:rPr>
              <a:t>외로움은 개인이 아닌 사회 현상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핵가족화·코로나·개인화 → 활동 감소, 외로움 증가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고립·은둔 청년 54만 명 (2023)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30대 관계단절 외로움 = 노인의 2.7배·20대의 10.5배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독거노인 우울증상 16.1% (노인부부의 2배)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우울은 사회적 고립이 키운다 — 친구 접촉이 완화(연구)</a:t>
            </a:r>
            <a:endParaRPr/>
          </a:p>
        </p:txBody>
      </p:sp>
      <p:pic>
        <p:nvPicPr>
          <p:cNvPr descr="06_연령별외로움.png" id="135" name="Google Shape;13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000" y="1250000"/>
            <a:ext cx="3950000" cy="24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9"/>
          <p:cNvSpPr txBox="1"/>
          <p:nvPr/>
        </p:nvSpPr>
        <p:spPr>
          <a:xfrm>
            <a:off x="5000000" y="4560000"/>
            <a:ext cx="39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국가데이터처 2025 · 경향신문 · 노인실태조사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청년 — 관계가 끊기는 세대</a:t>
            </a:r>
            <a:endParaRPr/>
          </a:p>
        </p:txBody>
      </p:sp>
      <p:sp>
        <p:nvSpPr>
          <p:cNvPr id="142" name="Google Shape;142;p30"/>
          <p:cNvSpPr txBox="1"/>
          <p:nvPr>
            <p:ph idx="1" type="body"/>
          </p:nvPr>
        </p:nvSpPr>
        <p:spPr>
          <a:xfrm>
            <a:off x="311700" y="1152475"/>
            <a:ext cx="4450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b="1" lang="ko" sz="1550">
                <a:latin typeface="Malgun Gothic"/>
                <a:ea typeface="Malgun Gothic"/>
                <a:cs typeface="Malgun Gothic"/>
                <a:sym typeface="Malgun Gothic"/>
              </a:rPr>
              <a:t>관계가 끊기는 청년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고립·은둔 청년 약 54만 명 · 사회적 손실 연 7조원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30대 — 교류 단절이 외로움으로 이어지는 강도 최고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(상관계수 0.132 = 노인의 2.7배·20대의 10.5배)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고립+외로움 집단 자살생각 35.1% — 평상시의 20배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대도시 취업·유학·업무로 친구 만날 여유 급감</a:t>
            </a:r>
            <a:endParaRPr/>
          </a:p>
        </p:txBody>
      </p:sp>
      <p:pic>
        <p:nvPicPr>
          <p:cNvPr descr="01_우울증추이.png" id="143" name="Google Shape;14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000" y="1250000"/>
            <a:ext cx="3950000" cy="154493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30"/>
          <p:cNvSpPr txBox="1"/>
          <p:nvPr/>
        </p:nvSpPr>
        <p:spPr>
          <a:xfrm>
            <a:off x="5000000" y="4560000"/>
            <a:ext cx="39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국무조정실·보건복지부 2023 고립·은둔 청년 실태조사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노인 — 고립과 우울</a:t>
            </a:r>
            <a:endParaRPr/>
          </a:p>
        </p:txBody>
      </p:sp>
      <p:sp>
        <p:nvSpPr>
          <p:cNvPr id="150" name="Google Shape;150;p31"/>
          <p:cNvSpPr txBox="1"/>
          <p:nvPr>
            <p:ph idx="1" type="body"/>
          </p:nvPr>
        </p:nvSpPr>
        <p:spPr>
          <a:xfrm>
            <a:off x="311700" y="1152475"/>
            <a:ext cx="4450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1" lang="ko" sz="1650">
                <a:latin typeface="Malgun Gothic"/>
                <a:ea typeface="Malgun Gothic"/>
                <a:cs typeface="Malgun Gothic"/>
                <a:sym typeface="Malgun Gothic"/>
              </a:rPr>
              <a:t>혼자 남겨진 노인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450">
                <a:latin typeface="Malgun Gothic"/>
                <a:ea typeface="Malgun Gothic"/>
                <a:cs typeface="Malgun Gothic"/>
                <a:sym typeface="Malgun Gothic"/>
              </a:rPr>
              <a:t>독거노인 우울증상 16.1% (노인부부의 2배)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450">
                <a:latin typeface="Malgun Gothic"/>
                <a:ea typeface="Malgun Gothic"/>
                <a:cs typeface="Malgun Gothic"/>
                <a:sym typeface="Malgun Gothic"/>
              </a:rPr>
              <a:t>전체 우울증 환자의 35.7%가 60대 이상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450">
                <a:latin typeface="Malgun Gothic"/>
                <a:ea typeface="Malgun Gothic"/>
                <a:cs typeface="Malgun Gothic"/>
                <a:sym typeface="Malgun Gothic"/>
              </a:rPr>
              <a:t>황혼이혼·자녀 독립으로 말할 상대 상실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450">
                <a:latin typeface="Malgun Gothic"/>
                <a:ea typeface="Malgun Gothic"/>
                <a:cs typeface="Malgun Gothic"/>
                <a:sym typeface="Malgun Gothic"/>
              </a:rPr>
              <a:t>노인 자살률 OECD 1위 — 80세+ 78.6명(2024)</a:t>
            </a:r>
            <a:endParaRPr/>
          </a:p>
        </p:txBody>
      </p:sp>
      <p:pic>
        <p:nvPicPr>
          <p:cNvPr descr="03_노인자살률OECD.png" id="151" name="Google Shape;15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000" y="1250000"/>
            <a:ext cx="3950000" cy="211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1"/>
          <p:cNvSpPr txBox="1"/>
          <p:nvPr/>
        </p:nvSpPr>
        <p:spPr>
          <a:xfrm>
            <a:off x="5000000" y="4560000"/>
            <a:ext cx="39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노인실태조사 · 통계청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</a:t>
            </a:r>
            <a:endParaRPr/>
          </a:p>
        </p:txBody>
      </p:sp>
      <p:pic>
        <p:nvPicPr>
          <p:cNvPr descr="09_미이용.png" id="158" name="Google Shape;15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0000" y="1300000"/>
            <a:ext cx="3850000" cy="435764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2"/>
          <p:cNvSpPr txBox="1"/>
          <p:nvPr/>
        </p:nvSpPr>
        <p:spPr>
          <a:xfrm>
            <a:off x="5050000" y="4620000"/>
            <a:ext cx="38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보건복지부 2021 정신건강실태조사 · 한국일보</a:t>
            </a:r>
            <a:endParaRPr/>
          </a:p>
        </p:txBody>
      </p:sp>
      <p:sp>
        <p:nvSpPr>
          <p:cNvPr id="160" name="Google Shape;160;p32"/>
          <p:cNvSpPr txBox="1"/>
          <p:nvPr/>
        </p:nvSpPr>
        <p:spPr>
          <a:xfrm>
            <a:off x="365760" y="102412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도움은 있는데 왜 안 쓸까</a:t>
            </a:r>
            <a:endParaRPr/>
          </a:p>
        </p:txBody>
      </p:sp>
      <p:sp>
        <p:nvSpPr>
          <p:cNvPr id="161" name="Google Shape;161;p32"/>
          <p:cNvSpPr/>
          <p:nvPr/>
        </p:nvSpPr>
        <p:spPr>
          <a:xfrm>
            <a:off x="365760" y="1463040"/>
            <a:ext cx="2084831" cy="1207008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2225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143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비용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사설 상담 회당 7~12만원</a:t>
            </a:r>
            <a:endParaRPr/>
          </a:p>
        </p:txBody>
      </p:sp>
      <p:sp>
        <p:nvSpPr>
          <p:cNvPr id="162" name="Google Shape;162;p32"/>
          <p:cNvSpPr/>
          <p:nvPr/>
        </p:nvSpPr>
        <p:spPr>
          <a:xfrm>
            <a:off x="2542032" y="1463040"/>
            <a:ext cx="2084831" cy="1207008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2225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143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낙인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보험기록·시선에 정신과 회피</a:t>
            </a:r>
            <a:endParaRPr/>
          </a:p>
        </p:txBody>
      </p:sp>
      <p:sp>
        <p:nvSpPr>
          <p:cNvPr id="163" name="Google Shape;163;p32"/>
          <p:cNvSpPr/>
          <p:nvPr/>
        </p:nvSpPr>
        <p:spPr>
          <a:xfrm>
            <a:off x="365760" y="2761488"/>
            <a:ext cx="2084831" cy="1207008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2225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143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설문·심리검사부터, 복잡한 과정</a:t>
            </a:r>
            <a:endParaRPr/>
          </a:p>
        </p:txBody>
      </p:sp>
      <p:sp>
        <p:nvSpPr>
          <p:cNvPr id="164" name="Google Shape;164;p32"/>
          <p:cNvSpPr/>
          <p:nvPr/>
        </p:nvSpPr>
        <p:spPr>
          <a:xfrm>
            <a:off x="2542032" y="2761488"/>
            <a:ext cx="2084831" cy="1207008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2225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143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거부감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‘분석당하는 느낌’에 시작조차 안 함</a:t>
            </a:r>
            <a:endParaRPr/>
          </a:p>
        </p:txBody>
      </p:sp>
      <p:sp>
        <p:nvSpPr>
          <p:cNvPr id="165" name="Google Shape;165;p32"/>
          <p:cNvSpPr/>
          <p:nvPr/>
        </p:nvSpPr>
        <p:spPr>
          <a:xfrm>
            <a:off x="365760" y="4160520"/>
            <a:ext cx="4261104" cy="56692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우울장애 환자조차 71.8%가 도움을 안 받는다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3"/>
          <p:cNvSpPr txBox="1">
            <a:spLocks noGrp="1"/>
          </p:cNvSpPr>
          <p:nvPr>
            <p:ph type="title" idx="0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Char char="-"/>
              <a:defRPr/>
            </a:pPr>
            <a:r>
              <a:rPr lang="ko" sz="1800">
                <a:solidFill>
                  <a:schemeClr val="dk2"/>
                </a:solidFill>
                <a:latin typeface="맑은 고딕"/>
                <a:ea typeface="맑은 고딕"/>
                <a:cs typeface="맑은 고딕"/>
                <a:sym typeface="맑은 고딕"/>
              </a:rPr>
              <a:t>목적 및 기대효과</a:t>
            </a:r>
            <a:endParaRPr/>
          </a:p>
        </p:txBody>
      </p:sp>
      <p:sp>
        <p:nvSpPr>
          <p:cNvPr id="171" name="Google Shape;171;p3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900" b="1" i="0" u="none" strike="noStrike" cap="none">
                <a:solidFill>
                  <a:srgbClr val="1f5e5a"/>
                </a:solidFill>
                <a:latin typeface="맑은 고딕"/>
                <a:ea typeface="맑은 고딕"/>
                <a:cs typeface="맑은 고딕"/>
                <a:sym typeface="맑은 고딕"/>
              </a:rPr>
              <a:t>가볍게 나누는 대화 속에서, 기분 흐름을 조용히 정리한다</a:t>
            </a:r>
            <a:endParaRPr/>
          </a:p>
        </p:txBody>
      </p:sp>
      <p:sp>
        <p:nvSpPr>
          <p:cNvPr id="172" name="Google Shape;172;p33"/>
          <p:cNvSpPr/>
          <p:nvPr/>
        </p:nvSpPr>
        <p:spPr>
          <a:xfrm>
            <a:off x="548640" y="1874519"/>
            <a:ext cx="3383280" cy="1051560"/>
          </a:xfrm>
          <a:prstGeom prst="roundRect">
            <a:avLst>
              <a:gd name="adj" fmla="val 16667"/>
            </a:avLst>
          </a:prstGeom>
          <a:solidFill>
            <a:srgbClr val="edf4f2"/>
          </a:solidFill>
          <a:ln w="31750" cap="flat" cmpd="sng">
            <a:solidFill>
              <a:srgbClr val="3e8c86"/>
            </a:solidFill>
            <a:prstDash val="solid"/>
            <a:round/>
            <a:headEnd w="sm" len="sm"/>
            <a:tailEnd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wrap="square" lIns="91424" tIns="127000" rIns="91424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500" b="1" i="0" u="none" strike="noStrike" cap="none">
                <a:solidFill>
                  <a:srgbClr val="3e8c86"/>
                </a:solidFill>
                <a:latin typeface="맑은 고딕"/>
                <a:ea typeface="맑은 고딕"/>
                <a:cs typeface="맑은 고딕"/>
                <a:sym typeface="맑은 고딕"/>
              </a:rPr>
              <a:t>앞단 — 편안한 진입</a:t>
            </a:r>
            <a:endParaRPr lang="ko" sz="1500" b="1" i="0" u="none" strike="noStrike" cap="none">
              <a:solidFill>
                <a:srgbClr val="3e8c86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200" b="0" i="0" u="none" strike="noStrike" cap="none">
                <a:solidFill>
                  <a:srgbClr val="222d2c"/>
                </a:solidFill>
                <a:latin typeface="맑은 고딕"/>
                <a:ea typeface="맑은 고딕"/>
                <a:cs typeface="맑은 고딕"/>
                <a:sym typeface="맑은 고딕"/>
              </a:rPr>
              <a:t>캐릭터 대화 · 타로 · 검사지 없음</a:t>
            </a:r>
            <a:endParaRPr/>
          </a:p>
        </p:txBody>
      </p:sp>
      <p:sp>
        <p:nvSpPr>
          <p:cNvPr id="173" name="Google Shape;173;p33"/>
          <p:cNvSpPr/>
          <p:nvPr/>
        </p:nvSpPr>
        <p:spPr>
          <a:xfrm>
            <a:off x="5212080" y="1874519"/>
            <a:ext cx="3383280" cy="1051560"/>
          </a:xfrm>
          <a:prstGeom prst="roundRect">
            <a:avLst>
              <a:gd name="adj" fmla="val 16667"/>
            </a:avLst>
          </a:prstGeom>
          <a:solidFill>
            <a:srgbClr val="edf4f2"/>
          </a:solidFill>
          <a:ln w="31750" cap="flat" cmpd="sng">
            <a:solidFill>
              <a:srgbClr val="1f5e5a"/>
            </a:solidFill>
            <a:prstDash val="solid"/>
            <a:round/>
            <a:headEnd w="sm" len="sm"/>
            <a:tailEnd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wrap="square" lIns="91424" tIns="127000" rIns="91424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500" b="1" i="0" u="none" strike="noStrike" cap="none">
                <a:solidFill>
                  <a:srgbClr val="1f5e5a"/>
                </a:solidFill>
                <a:latin typeface="맑은 고딕"/>
                <a:ea typeface="맑은 고딕"/>
                <a:cs typeface="맑은 고딕"/>
                <a:sym typeface="맑은 고딕"/>
              </a:rPr>
              <a:t>뒷단 — 보이지 않는 구조화</a:t>
            </a:r>
            <a:endParaRPr lang="ko" sz="1500" b="1" i="0" u="none" strike="noStrike" cap="none">
              <a:solidFill>
                <a:srgbClr val="1f5e5a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200" b="0" i="0" u="none" strike="noStrike" cap="none">
                <a:solidFill>
                  <a:srgbClr val="222d2c"/>
                </a:solidFill>
                <a:latin typeface="맑은 고딕"/>
                <a:ea typeface="맑은 고딕"/>
                <a:cs typeface="맑은 고딕"/>
                <a:sym typeface="맑은 고딕"/>
              </a:rPr>
              <a:t>감정 분석이 조용히 정리</a:t>
            </a:r>
            <a:endParaRPr/>
          </a:p>
        </p:txBody>
      </p:sp>
      <p:sp>
        <p:nvSpPr>
          <p:cNvPr id="174" name="Google Shape;174;p33"/>
          <p:cNvSpPr/>
          <p:nvPr/>
        </p:nvSpPr>
        <p:spPr>
          <a:xfrm>
            <a:off x="4023360" y="2240280"/>
            <a:ext cx="1097280" cy="320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7a5f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3"/>
          <p:cNvSpPr txBox="1"/>
          <p:nvPr/>
        </p:nvSpPr>
        <p:spPr>
          <a:xfrm>
            <a:off x="548640" y="3200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400" b="1" i="0" u="none" strike="noStrike" cap="none">
                <a:solidFill>
                  <a:srgbClr val="1f5e5a"/>
                </a:solidFill>
                <a:latin typeface="맑은 고딕"/>
                <a:ea typeface="맑은 고딕"/>
                <a:cs typeface="맑은 고딕"/>
                <a:sym typeface="맑은 고딕"/>
              </a:rPr>
              <a:t>결과 = 자기 이해</a:t>
            </a:r>
            <a:endParaRPr/>
          </a:p>
        </p:txBody>
      </p:sp>
      <p:sp>
        <p:nvSpPr>
          <p:cNvPr id="176" name="Google Shape;176;p33"/>
          <p:cNvSpPr/>
          <p:nvPr/>
        </p:nvSpPr>
        <p:spPr>
          <a:xfrm>
            <a:off x="548640" y="3611880"/>
            <a:ext cx="1499616" cy="457200"/>
          </a:xfrm>
          <a:prstGeom prst="roundRect">
            <a:avLst>
              <a:gd name="adj" fmla="val 16667"/>
            </a:avLst>
          </a:prstGeom>
          <a:solidFill>
            <a:srgbClr val="1f5e5a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300" b="1" i="0" u="none" strike="noStrike" cap="none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rPr>
              <a:t>감정 캘린더</a:t>
            </a:r>
            <a:endParaRPr/>
          </a:p>
        </p:txBody>
      </p:sp>
      <p:sp>
        <p:nvSpPr>
          <p:cNvPr id="177" name="Google Shape;177;p33"/>
          <p:cNvSpPr/>
          <p:nvPr/>
        </p:nvSpPr>
        <p:spPr>
          <a:xfrm>
            <a:off x="2231136" y="3611880"/>
            <a:ext cx="1499616" cy="457200"/>
          </a:xfrm>
          <a:prstGeom prst="roundRect">
            <a:avLst>
              <a:gd name="adj" fmla="val 16667"/>
            </a:avLst>
          </a:prstGeom>
          <a:solidFill>
            <a:srgbClr val="1f5e5a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300" b="1" i="0" u="none" strike="noStrike" cap="none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rPr>
              <a:t>마음 리포트</a:t>
            </a:r>
            <a:endParaRPr/>
          </a:p>
        </p:txBody>
      </p:sp>
      <p:sp>
        <p:nvSpPr>
          <p:cNvPr id="178" name="Google Shape;178;p33"/>
          <p:cNvSpPr/>
          <p:nvPr/>
        </p:nvSpPr>
        <p:spPr>
          <a:xfrm>
            <a:off x="3913632" y="3611880"/>
            <a:ext cx="2194560" cy="457200"/>
          </a:xfrm>
          <a:prstGeom prst="roundRect">
            <a:avLst>
              <a:gd name="adj" fmla="val 16667"/>
            </a:avLst>
          </a:prstGeom>
          <a:solidFill>
            <a:srgbClr val="1f5e5a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300" b="1" i="0" u="none" strike="noStrike" cap="none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rPr>
              <a:t>MBTI 성향 분석</a:t>
            </a:r>
            <a:endParaRPr/>
          </a:p>
        </p:txBody>
      </p:sp>
      <p:sp>
        <p:nvSpPr>
          <p:cNvPr id="179" name="Google Shape;179;p33"/>
          <p:cNvSpPr txBox="1"/>
          <p:nvPr/>
        </p:nvSpPr>
        <p:spPr>
          <a:xfrm>
            <a:off x="548640" y="4389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200" b="0" i="1" u="none" strike="noStrike" cap="none">
                <a:solidFill>
                  <a:srgbClr val="5a6b69"/>
                </a:solidFill>
                <a:latin typeface="맑은 고딕"/>
                <a:ea typeface="맑은 고딕"/>
                <a:cs typeface="맑은 고딕"/>
                <a:sym typeface="맑은 고딕"/>
              </a:rPr>
              <a:t>비의료 웰니스 — 전문가의 판단·개입을 대체하지 않습니다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 txBox="1">
            <a:spLocks noGrp="1"/>
          </p:cNvSpPr>
          <p:nvPr>
            <p:ph type="title" idx="0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">
                <a:latin typeface="맑은 고딕"/>
                <a:ea typeface="맑은 고딕"/>
                <a:cs typeface="맑은 고딕"/>
                <a:sym typeface="맑은 고딕"/>
              </a:rPr>
              <a:t>효과 근거 — 대화만으로도</a:t>
            </a:r>
            <a:endParaRPr/>
          </a:p>
        </p:txBody>
      </p:sp>
      <p:sp>
        <p:nvSpPr>
          <p:cNvPr id="185" name="Google Shape;185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50000" cy="34164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ct val="25000"/>
              <a:buChar char="●"/>
              <a:defRPr/>
            </a:pPr>
            <a:r>
              <a:rPr lang="ko" sz="1650" b="1">
                <a:latin typeface="맑은 고딕"/>
                <a:ea typeface="맑은 고딕"/>
                <a:cs typeface="맑은 고딕"/>
                <a:sym typeface="맑은 고딕"/>
              </a:rPr>
              <a:t>상담이 아니어도 효과가 있다</a:t>
            </a:r>
            <a:endParaRPr lang="ko" sz="1650" b="1"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ct val="25000"/>
              <a:buChar char="●"/>
              <a:defRPr/>
            </a:pPr>
            <a:r>
              <a:rPr lang="ko" sz="1450" b="0">
                <a:latin typeface="맑은 고딕"/>
                <a:ea typeface="맑은 고딕"/>
                <a:cs typeface="맑은 고딕"/>
                <a:sym typeface="맑은 고딕"/>
              </a:rPr>
              <a:t>AI 대화 챗봇 — 2주 우울·불안 유의미 감소(Woebot RCT)</a:t>
            </a:r>
            <a:endParaRPr lang="ko" sz="1450" b="0"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ct val="25000"/>
              <a:buChar char="●"/>
              <a:defRPr/>
            </a:pPr>
            <a:r>
              <a:rPr lang="ko" sz="1450" b="0">
                <a:latin typeface="맑은 고딕"/>
                <a:ea typeface="맑은 고딕"/>
                <a:cs typeface="맑은 고딕"/>
                <a:sym typeface="맑은 고딕"/>
              </a:rPr>
              <a:t>AI가 외로움↓, 외로울수록 효과 큼(하버드) → 타깃 일치</a:t>
            </a:r>
            <a:endParaRPr lang="ko" sz="1450" b="0"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ct val="25000"/>
              <a:buChar char="●"/>
              <a:defRPr/>
            </a:pPr>
            <a:r>
              <a:rPr lang="ko" sz="1450" b="0">
                <a:latin typeface="맑은 고딕"/>
                <a:ea typeface="맑은 고딕"/>
                <a:cs typeface="맑은 고딕"/>
                <a:sym typeface="맑은 고딕"/>
              </a:rPr>
              <a:t>감정 라벨링→정서 조절 / 표현적 글쓰기→통찰</a:t>
            </a:r>
            <a:endParaRPr lang="ko" sz="1450" b="0"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ct val="25000"/>
              <a:buChar char="●"/>
              <a:defRPr/>
            </a:pPr>
            <a:r>
              <a:rPr lang="ko" sz="1450" b="0">
                <a:latin typeface="맑은 고딕"/>
                <a:ea typeface="맑은 고딕"/>
                <a:cs typeface="맑은 고딕"/>
                <a:sym typeface="맑은 고딕"/>
              </a:rPr>
              <a:t>빈틈사이 = 부담 없는 대화 + 감정분석 + 마음 리포트</a:t>
            </a:r>
            <a:endParaRPr/>
          </a:p>
        </p:txBody>
      </p:sp>
      <p:pic>
        <p:nvPicPr>
          <p:cNvPr id="186" name="Google Shape;186;p34" descr="image.png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5000000" y="1250000"/>
            <a:ext cx="3950000" cy="248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4"/>
          <p:cNvSpPr txBox="1"/>
          <p:nvPr/>
        </p:nvSpPr>
        <p:spPr>
          <a:xfrm>
            <a:off x="5000000" y="4560000"/>
            <a:ext cx="395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800" b="0" i="0" u="none" strike="noStrike" cap="none">
                <a:solidFill>
                  <a:srgbClr val="888888"/>
                </a:solidFill>
                <a:latin typeface="맑은 고딕"/>
                <a:ea typeface="맑은 고딕"/>
                <a:cs typeface="맑은 고딕"/>
                <a:sym typeface="맑은 고딕"/>
              </a:rPr>
              <a:t>출처: Woebot RCT(JMIR) · HBS 24-078 · 서울대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일정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3" name="Google Shape;193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w-1.jpg" id="194" name="Google Shape;19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9000" y="960120"/>
            <a:ext cx="5365999" cy="3794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5"/>
          <p:cNvSpPr txBox="1"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6E807D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완료 100%(초록) · 미완료(0%)는 향후 진행 — 마음 리포트·개인 분석·통합 QA·AWS 배포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기술스택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11_기술스택.png" id="201" name="Google Shape;20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409835"/>
            <a:ext cx="8595360" cy="3306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진행사항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기획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72840"/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시장조사</a:t>
            </a:r>
            <a:br>
              <a:rPr lang="ko" sz="1800">
                <a:solidFill>
                  <a:schemeClr val="dk2"/>
                </a:solidFill>
              </a:rPr>
            </a:br>
            <a:endParaRPr/>
          </a:p>
        </p:txBody>
      </p:sp>
      <p:pic>
        <p:nvPicPr>
          <p:cNvPr descr="04_시장성장.png" id="217" name="Google Shape;21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000" y="1250000"/>
            <a:ext cx="3950000" cy="221902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9"/>
          <p:cNvSpPr txBox="1"/>
          <p:nvPr/>
        </p:nvSpPr>
        <p:spPr>
          <a:xfrm>
            <a:off x="5000000" y="4560000"/>
            <a:ext cx="39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한국IT산업뉴스 · GII · 심평원</a:t>
            </a:r>
            <a:endParaRPr/>
          </a:p>
        </p:txBody>
      </p:sp>
      <p:sp>
        <p:nvSpPr>
          <p:cNvPr id="219" name="Google Shape;219;p39"/>
          <p:cNvSpPr txBox="1"/>
          <p:nvPr/>
        </p:nvSpPr>
        <p:spPr>
          <a:xfrm>
            <a:off x="365760" y="102412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고령화·청년 우울 → 커지는 시장</a:t>
            </a:r>
            <a:endParaRPr/>
          </a:p>
        </p:txBody>
      </p:sp>
      <p:sp>
        <p:nvSpPr>
          <p:cNvPr id="220" name="Google Shape;220;p39"/>
          <p:cNvSpPr/>
          <p:nvPr/>
        </p:nvSpPr>
        <p:spPr>
          <a:xfrm>
            <a:off x="365760" y="1463040"/>
            <a:ext cx="4297680" cy="96012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2225">
            <a:solidFill>
              <a:srgbClr val="3E8C8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88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정신건강 앱 시장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3E8C86"/>
                </a:solidFill>
                <a:latin typeface="Malgun Gothic"/>
                <a:ea typeface="Malgun Gothic"/>
                <a:cs typeface="Malgun Gothic"/>
                <a:sym typeface="Malgun Gothic"/>
              </a:rPr>
              <a:t>79.8억$ → 184.5억$</a:t>
            </a: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연 +18.3% (’25→’30)</a:t>
            </a:r>
            <a:endParaRPr/>
          </a:p>
        </p:txBody>
      </p:sp>
      <p:sp>
        <p:nvSpPr>
          <p:cNvPr id="221" name="Google Shape;221;p39"/>
          <p:cNvSpPr/>
          <p:nvPr/>
        </p:nvSpPr>
        <p:spPr>
          <a:xfrm>
            <a:off x="365760" y="2542032"/>
            <a:ext cx="4297680" cy="96012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2225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88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정신건강 AI 시장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15억$ → 51억$</a:t>
            </a: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연 22~24% (’24→’30)</a:t>
            </a:r>
            <a:endParaRPr/>
          </a:p>
        </p:txBody>
      </p:sp>
      <p:sp>
        <p:nvSpPr>
          <p:cNvPr id="222" name="Google Shape;222;p39"/>
          <p:cNvSpPr/>
          <p:nvPr/>
        </p:nvSpPr>
        <p:spPr>
          <a:xfrm>
            <a:off x="365760" y="3621024"/>
            <a:ext cx="429768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2225">
            <a:solidFill>
              <a:srgbClr val="1F5E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88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3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BM: 무료로 신뢰·습관 형성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마음 리포트·개인화·콘텐츠 유료 전환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 서비스 벤치마킹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30" name="Picture 229" descr="benchmark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4984" y="1143000"/>
            <a:ext cx="6074031" cy="3977640"/>
          </a:xfrm>
          <a:prstGeom prst="rect">
            <a:avLst/>
          </a:prstGeom>
        </p:spPr>
      </p:pic>
      <p:sp>
        <p:nvSpPr>
          <p:cNvPr id="231" name="TextBox 230"/>
          <p:cNvSpPr txBox="1"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1150">
                <a:solidFill>
                  <a:srgbClr val="697676"/>
                </a:solidFill>
                <a:latin typeface="Malgun Gothic"/>
              </a:rPr>
              <a:t>치료형(신뢰↑·문턱↑)과 동반자형(몰입↑·구조화↓) 사이 — 빈틈사이는 ‘대화 후 자기이해’로 연결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6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기능 정의 ① — 채팅 · 온보딩</a:t>
            </a:r>
            <a:endParaRPr/>
          </a:p>
        </p:txBody>
      </p:sp>
      <p:graphicFrame>
        <p:nvGraphicFramePr>
          <p:cNvPr id="235" name="Google Shape;235;p41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{4E7416E8-415C-4827-B443-BCCDB9BC9B8E}</a:tableStyleId>
              </a:tblPr>
              <a:tblGrid>
                <a:gridCol w="1051550"/>
                <a:gridCol w="5257800"/>
                <a:gridCol w="960125"/>
                <a:gridCol w="960125"/>
              </a:tblGrid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영역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 기능 (요구사항 정의서)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상태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5E5A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채팅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친구 캐릭터 1:1 자유 대화 (반말톤·캐릭터 4종)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김한솔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채팅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매 턴 감정 4분류 + 확신도 게이트 (KcELECTRA)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김한솔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채팅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장기 기억(즉시 캡처+주기 정리) · 선제 첫인사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김한솔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채팅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시크릿챗 (완전 무저장)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김한솔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채팅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MBTI 성향 수집 (10초 유휴 질문)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김한솔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채팅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TTS 음성 응답 (ElevenLabs)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김한솔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온보딩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소셜 로그인 + 서비스 소개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이성진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온보딩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캐릭터 선택(4종)·표정·회원정보·관심 키워드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이성진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온보딩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타로 운세 (생일 계산·카테고리·20장 중 3장·해석)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이성진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온보딩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감정 캘린더 (날짜별 감정 아이콘·클릭 상세)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이성진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>
            <a:spLocks noGrp="1"/>
          </p:cNvSpPr>
          <p:nvPr>
            <p:ph type="title" idx="0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" sz="2400" b="1">
                <a:solidFill>
                  <a:srgbClr val="1f5e5a"/>
                </a:solidFill>
                <a:latin typeface="맑은 고딕"/>
                <a:ea typeface="맑은 고딕"/>
                <a:cs typeface="맑은 고딕"/>
                <a:sym typeface="맑은 고딕"/>
              </a:rPr>
              <a:t>서비스 기능 정의 ② — 마이페이지 · 마음리포트</a:t>
            </a:r>
            <a:endParaRPr/>
          </a:p>
        </p:txBody>
      </p:sp>
      <p:graphicFrame>
        <p:nvGraphicFramePr>
          <p:cNvPr id="241" name="Google Shape;241;p42"/>
          <p:cNvGraphicFramePr/>
          <p:nvPr/>
        </p:nvGraphicFramePr>
        <p:xfrm>
          <a:off x="457200" y="1143000"/>
          <a:ext cx="8229600" cy="1914525"/>
        </p:xfrm>
        <a:graphic>
          <a:graphicData uri="http://schemas.openxmlformats.org/drawingml/2006/table">
            <a:tbl>
              <a:tblPr firstRow="1" bandRow="1">
                <a:noFill/>
                <a:tableStyleId>{4E7416E8-415C-4827-B443-BCCDB9BC9B8E}</a:tableStyleId>
              </a:tblPr>
              <a:tblGrid>
                <a:gridCol w="1051550"/>
                <a:gridCol w="5257800"/>
                <a:gridCol w="960125"/>
                <a:gridCol w="960125"/>
              </a:tblGrid>
              <a:tr h="30475"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영역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1f5e5a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주요 기능 (요구사항 정의서)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1f5e5a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담당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1f5e5a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상태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1f5e5a"/>
                    </a:solidFill>
                  </a:tcPr>
                </a:tc>
              </a:tr>
              <a:tr h="30475"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1f5e5a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마이페이지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1f5f4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방 일러스트 메인 · 프로필 조회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한재웅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구현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1f7a4d"/>
                    </a:solidFill>
                  </a:tcPr>
                </a:tc>
              </a:tr>
              <a:tr h="30475"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1f5e5a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마이페이지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1f5f4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MBTI 성향 추정 (대화 기반·</a:t>
                      </a:r>
                      <a:r>
                        <a:rPr lang="ko-KR" altLang="en-US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 점수 </a:t>
                      </a: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그래프)</a:t>
                      </a:r>
                      <a:endParaRPr lang="ko" sz="1050" u="none" strike="noStrike" cap="none">
                        <a:solidFill>
                          <a:srgbClr val="222d2c"/>
                        </a:solidFill>
                        <a:latin typeface="맑은 고딕"/>
                        <a:ea typeface="맑은 고딕"/>
                        <a:cs typeface="맑은 고딕"/>
                        <a:sym typeface="맑은 고딕"/>
                      </a:endParaRPr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한재웅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진행중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d1932e"/>
                    </a:solidFill>
                  </a:tcPr>
                </a:tc>
              </a:tr>
              <a:tr h="30475"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1f5e5a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마이페이지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1f5f4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취향·선호 경향 분석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한재웅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향후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8a8f98"/>
                    </a:solidFill>
                  </a:tcPr>
                </a:tc>
              </a:tr>
              <a:tr h="30475"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1f5e5a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마음리포트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1f5f4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일별 감정 캘린더 · 주/월간 리포트 발급(5·20개 기준)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박송원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진행중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d1932e"/>
                    </a:solidFill>
                  </a:tcPr>
                </a:tc>
              </a:tr>
              <a:tr h="30475"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1f5e5a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마음리포트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1f5f4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감정 이상치 하이라이트 · 근거 데이터 발췌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박송원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진행중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d1932e"/>
                    </a:solidFill>
                  </a:tcPr>
                </a:tc>
              </a:tr>
              <a:tr h="30475"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1f5e5a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마음리포트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1f5f4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스트레스 원인 칩(BERTopic) · 맞춤 행동 대안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박송원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진행중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d1932e"/>
                    </a:solidFill>
                  </a:tcPr>
                </a:tc>
              </a:tr>
              <a:tr h="30475"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1f5e5a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마음리포트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1f5f4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리포트 이미지 저장 · 외부 공유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박송원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구현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1f7a4d"/>
                    </a:solidFill>
                  </a:tcPr>
                </a:tc>
              </a:tr>
              <a:tr h="30475"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1f5e5a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마음리포트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1f5f4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고위험군 판별 · 전문 상담센터 추천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u="none" strike="noStrike" cap="none">
                          <a:solidFill>
                            <a:srgbClr val="222d2c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박송원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76200" tIns="25400" rIns="91450" bIns="25400" anchor="ctr" anchorCtr="0"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 sz="1050" b="1" u="none" strike="noStrike" cap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  <a:sym typeface="맑은 고딕"/>
                        </a:rPr>
                        <a:t>향후</a:t>
                      </a:r>
                      <a:endParaRPr/>
                    </a:p>
                  </a:txBody>
                  <a:tcPr marL="76200" marR="91450" marT="25400" marB="25400" anchor="ctr">
                    <a:solidFill>
                      <a:srgbClr val="8a8f98"/>
                    </a:solidFill>
                  </a:tcPr>
                </a:tc>
              </a:tr>
            </a:tbl>
          </a:graphicData>
        </a:graphic>
      </p:graphicFrame>
      <p:sp>
        <p:nvSpPr>
          <p:cNvPr id="242" name="Google Shape;242;p42"/>
          <p:cNvSpPr txBox="1"/>
          <p:nvPr/>
        </p:nvSpPr>
        <p:spPr>
          <a:xfrm>
            <a:off x="457200" y="3977639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200" b="1" i="0" u="none" strike="noStrike" cap="none">
                <a:solidFill>
                  <a:srgbClr val="1f5e5a"/>
                </a:solidFill>
                <a:latin typeface="맑은 고딕"/>
                <a:ea typeface="맑은 고딕"/>
                <a:cs typeface="맑은 고딕"/>
                <a:sym typeface="맑은 고딕"/>
              </a:rPr>
              <a:t>비기능 요구사항  </a:t>
            </a:r>
            <a:r>
              <a:rPr lang="ko" sz="1100" b="0" i="0" u="none" strike="noStrike" cap="none">
                <a:solidFill>
                  <a:srgbClr val="5a6b69"/>
                </a:solidFill>
                <a:latin typeface="맑은 고딕"/>
                <a:ea typeface="맑은 고딕"/>
                <a:cs typeface="맑은 고딕"/>
                <a:sym typeface="맑은 고딕"/>
              </a:rPr>
              <a:t>응답 p95&lt;3초 · 감정분류 F1 0.70(작성체)/0.79(채팅체) · 감정추론 p95&lt;300ms · 민감정보 동의·암호화·파기 · 비의료 면책 · 저장 장애 시 응답 무중단 · 감정→표정 실시간 전환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시나리오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12_사용자시나리오.png" id="248" name="Google Shape;24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583861"/>
            <a:ext cx="8778240" cy="3050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아키텍처 설계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13_시스템아키텍처.png" id="254" name="Google Shape;25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088" y="1280160"/>
            <a:ext cx="7471822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데이터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30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 — 두 갈래로 모았습니다</a:t>
            </a:r>
            <a:endParaRPr/>
          </a:p>
        </p:txBody>
      </p:sp>
      <p:sp>
        <p:nvSpPr>
          <p:cNvPr id="265" name="Google Shape;265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ko" sz="18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감정 학습 데이터  ·  담당 김한솔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Char char="●"/>
            </a:pPr>
            <a:r>
              <a:rPr lang="ko" sz="1400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감정 분류 모델 학습용. AI Hub 감성대화·음성 전사, KOTE 댓글, 자체 채팅체 평가셋 → 정제·증강 후 통합 학습셋 90,456건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b="1" lang="ko" sz="1800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서비스·온보딩 데이터  ·  담당 이성진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buSzPts val="1800"/>
              <a:buChar char="●"/>
            </a:pPr>
            <a:r>
              <a:rPr lang="ko" sz="1400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타로·온보딩·사용자 개인화용. 타로 카드 78장(+RAG 청크 390) · 온보딩 키워드 시드 223건 · 사용자 입력/운세 실행 데이터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7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7"/>
          <p:cNvSpPr/>
          <p:nvPr/>
        </p:nvSpPr>
        <p:spPr>
          <a:xfrm>
            <a:off x="457200" y="310896"/>
            <a:ext cx="2468880" cy="347472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학습 데이터</a:t>
            </a:r>
            <a:endParaRPr/>
          </a:p>
        </p:txBody>
      </p:sp>
      <p:sp>
        <p:nvSpPr>
          <p:cNvPr id="272" name="Google Shape;272;p47"/>
          <p:cNvSpPr txBox="1"/>
          <p:nvPr/>
        </p:nvSpPr>
        <p:spPr>
          <a:xfrm>
            <a:off x="7132320" y="32918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소스 1 / 7</a:t>
            </a:r>
            <a:endParaRPr/>
          </a:p>
        </p:txBody>
      </p:sp>
      <p:sp>
        <p:nvSpPr>
          <p:cNvPr id="273" name="Google Shape;273;p47"/>
          <p:cNvSpPr txBox="1"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6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Hub 감성대화 말뭉치</a:t>
            </a:r>
            <a:endParaRPr/>
          </a:p>
        </p:txBody>
      </p:sp>
      <p:sp>
        <p:nvSpPr>
          <p:cNvPr id="274" name="Google Shape;274;p47"/>
          <p:cNvSpPr txBox="1"/>
          <p:nvPr/>
        </p:nvSpPr>
        <p:spPr>
          <a:xfrm>
            <a:off x="457200" y="138988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정제 후 58,234건 · 원천 6감정 → 서비스 4감정 매핑</a:t>
            </a:r>
            <a:endParaRPr/>
          </a:p>
        </p:txBody>
      </p:sp>
      <p:sp>
        <p:nvSpPr>
          <p:cNvPr id="275" name="Google Shape;275;p47"/>
          <p:cNvSpPr txBox="1"/>
          <p:nvPr/>
        </p:nvSpPr>
        <p:spPr>
          <a:xfrm>
            <a:off x="457200" y="1938528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대상</a:t>
            </a:r>
            <a:endParaRPr/>
          </a:p>
        </p:txBody>
      </p:sp>
      <p:sp>
        <p:nvSpPr>
          <p:cNvPr id="276" name="Google Shape;276;p47"/>
          <p:cNvSpPr txBox="1"/>
          <p:nvPr/>
        </p:nvSpPr>
        <p:spPr>
          <a:xfrm>
            <a:off x="2743200" y="1938528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일상 대화 발화 문장 + 감정 라벨(대분류 6·소분류)</a:t>
            </a:r>
            <a:endParaRPr/>
          </a:p>
        </p:txBody>
      </p:sp>
      <p:sp>
        <p:nvSpPr>
          <p:cNvPr id="277" name="Google Shape;277;p47"/>
          <p:cNvSpPr txBox="1"/>
          <p:nvPr/>
        </p:nvSpPr>
        <p:spPr>
          <a:xfrm>
            <a:off x="457200" y="2688336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목적 · 사용 기능</a:t>
            </a:r>
            <a:endParaRPr/>
          </a:p>
        </p:txBody>
      </p:sp>
      <p:sp>
        <p:nvSpPr>
          <p:cNvPr id="278" name="Google Shape;278;p47"/>
          <p:cNvSpPr txBox="1"/>
          <p:nvPr/>
        </p:nvSpPr>
        <p:spPr>
          <a:xfrm>
            <a:off x="2743200" y="2688336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한국어 감정 분류 모델 학습(기쁨·슬픔·분노·일반). 매 턴 감정 자동 분류의 핵심 학습 데이터.</a:t>
            </a:r>
            <a:endParaRPr/>
          </a:p>
        </p:txBody>
      </p:sp>
      <p:sp>
        <p:nvSpPr>
          <p:cNvPr id="279" name="Google Shape;279;p47"/>
          <p:cNvSpPr txBox="1"/>
          <p:nvPr/>
        </p:nvSpPr>
        <p:spPr>
          <a:xfrm>
            <a:off x="457200" y="3438144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· 저작권</a:t>
            </a:r>
            <a:endParaRPr/>
          </a:p>
        </p:txBody>
      </p:sp>
      <p:sp>
        <p:nvSpPr>
          <p:cNvPr id="280" name="Google Shape;280;p47"/>
          <p:cNvSpPr txBox="1"/>
          <p:nvPr/>
        </p:nvSpPr>
        <p:spPr>
          <a:xfrm>
            <a:off x="2743200" y="3438144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Hub(aihub.or.kr) 공공 개방데이터 · 이용약관 동의 후 다운로드(비상업·연구)</a:t>
            </a:r>
            <a:endParaRPr/>
          </a:p>
        </p:txBody>
      </p:sp>
      <p:sp>
        <p:nvSpPr>
          <p:cNvPr id="281" name="Google Shape;281;p47"/>
          <p:cNvSpPr txBox="1"/>
          <p:nvPr/>
        </p:nvSpPr>
        <p:spPr>
          <a:xfrm>
            <a:off x="457200" y="4169664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AI Hub 재배포 금지 → GitHub 미포함(.gitignore), 재생성 스크립트로 대체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8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48"/>
          <p:cNvSpPr/>
          <p:nvPr/>
        </p:nvSpPr>
        <p:spPr>
          <a:xfrm>
            <a:off x="457200" y="310896"/>
            <a:ext cx="2468880" cy="347472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학습 데이터</a:t>
            </a:r>
            <a:endParaRPr/>
          </a:p>
        </p:txBody>
      </p:sp>
      <p:sp>
        <p:nvSpPr>
          <p:cNvPr id="288" name="Google Shape;288;p48"/>
          <p:cNvSpPr txBox="1"/>
          <p:nvPr/>
        </p:nvSpPr>
        <p:spPr>
          <a:xfrm>
            <a:off x="7132320" y="32918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소스 2 / 7</a:t>
            </a:r>
            <a:endParaRPr/>
          </a:p>
        </p:txBody>
      </p:sp>
      <p:sp>
        <p:nvSpPr>
          <p:cNvPr id="289" name="Google Shape;289;p48"/>
          <p:cNvSpPr txBox="1"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6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Hub 감성대화 (음성 전사)</a:t>
            </a:r>
            <a:endParaRPr/>
          </a:p>
        </p:txBody>
      </p:sp>
      <p:sp>
        <p:nvSpPr>
          <p:cNvPr id="290" name="Google Shape;290;p48"/>
          <p:cNvSpPr txBox="1"/>
          <p:nvPr/>
        </p:nvSpPr>
        <p:spPr>
          <a:xfrm>
            <a:off x="457200" y="138988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36,677건 · 5명 중 3표 합의분</a:t>
            </a:r>
            <a:endParaRPr/>
          </a:p>
        </p:txBody>
      </p:sp>
      <p:sp>
        <p:nvSpPr>
          <p:cNvPr id="291" name="Google Shape;291;p48"/>
          <p:cNvSpPr txBox="1"/>
          <p:nvPr/>
        </p:nvSpPr>
        <p:spPr>
          <a:xfrm>
            <a:off x="457200" y="1938528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대상</a:t>
            </a:r>
            <a:endParaRPr/>
          </a:p>
        </p:txBody>
      </p:sp>
      <p:sp>
        <p:nvSpPr>
          <p:cNvPr id="292" name="Google Shape;292;p48"/>
          <p:cNvSpPr txBox="1"/>
          <p:nvPr/>
        </p:nvSpPr>
        <p:spPr>
          <a:xfrm>
            <a:off x="2743200" y="1938528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구어체 대화 전사 발화 + 감정 라벨</a:t>
            </a:r>
            <a:endParaRPr/>
          </a:p>
        </p:txBody>
      </p:sp>
      <p:sp>
        <p:nvSpPr>
          <p:cNvPr id="293" name="Google Shape;293;p48"/>
          <p:cNvSpPr txBox="1"/>
          <p:nvPr/>
        </p:nvSpPr>
        <p:spPr>
          <a:xfrm>
            <a:off x="457200" y="2688336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목적 · 사용 기능</a:t>
            </a:r>
            <a:endParaRPr/>
          </a:p>
        </p:txBody>
      </p:sp>
      <p:sp>
        <p:nvSpPr>
          <p:cNvPr id="294" name="Google Shape;294;p48"/>
          <p:cNvSpPr txBox="1"/>
          <p:nvPr/>
        </p:nvSpPr>
        <p:spPr>
          <a:xfrm>
            <a:off x="2743200" y="2688336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실사용 채팅체에 가까운 구어체 학습 데이터 보강. ablation 실험으로 채택.</a:t>
            </a:r>
            <a:endParaRPr/>
          </a:p>
        </p:txBody>
      </p:sp>
      <p:sp>
        <p:nvSpPr>
          <p:cNvPr id="295" name="Google Shape;295;p48"/>
          <p:cNvSpPr txBox="1"/>
          <p:nvPr/>
        </p:nvSpPr>
        <p:spPr>
          <a:xfrm>
            <a:off x="457200" y="3438144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· 저작권</a:t>
            </a:r>
            <a:endParaRPr/>
          </a:p>
        </p:txBody>
      </p:sp>
      <p:sp>
        <p:nvSpPr>
          <p:cNvPr id="296" name="Google Shape;296;p48"/>
          <p:cNvSpPr txBox="1"/>
          <p:nvPr/>
        </p:nvSpPr>
        <p:spPr>
          <a:xfrm>
            <a:off x="2743200" y="3438144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Hub 공공 개방데이터 · 이용약관 동의 후 다운로드</a:t>
            </a:r>
            <a:endParaRPr/>
          </a:p>
        </p:txBody>
      </p:sp>
      <p:sp>
        <p:nvSpPr>
          <p:cNvPr id="297" name="Google Shape;297;p48"/>
          <p:cNvSpPr txBox="1"/>
          <p:nvPr/>
        </p:nvSpPr>
        <p:spPr>
          <a:xfrm>
            <a:off x="457200" y="4169664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채팅체 F1 개선에 기여 — 문어체 위주 학습의 한계를 보완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49"/>
          <p:cNvSpPr/>
          <p:nvPr/>
        </p:nvSpPr>
        <p:spPr>
          <a:xfrm>
            <a:off x="457200" y="310896"/>
            <a:ext cx="2468880" cy="347472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학습 데이터</a:t>
            </a:r>
            <a:endParaRPr/>
          </a:p>
        </p:txBody>
      </p:sp>
      <p:sp>
        <p:nvSpPr>
          <p:cNvPr id="304" name="Google Shape;304;p49"/>
          <p:cNvSpPr txBox="1"/>
          <p:nvPr/>
        </p:nvSpPr>
        <p:spPr>
          <a:xfrm>
            <a:off x="7132320" y="32918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소스 3 / 7</a:t>
            </a:r>
            <a:endParaRPr/>
          </a:p>
        </p:txBody>
      </p:sp>
      <p:sp>
        <p:nvSpPr>
          <p:cNvPr id="305" name="Google Shape;305;p49"/>
          <p:cNvSpPr txBox="1"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6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KOTE (한국어 온라인 댓글 감정)</a:t>
            </a:r>
            <a:endParaRPr/>
          </a:p>
        </p:txBody>
      </p:sp>
      <p:sp>
        <p:nvSpPr>
          <p:cNvPr id="306" name="Google Shape;306;p49"/>
          <p:cNvSpPr txBox="1"/>
          <p:nvPr/>
        </p:nvSpPr>
        <p:spPr>
          <a:xfrm>
            <a:off x="457200" y="138988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44개 세부 감정 라벨 → 4감정 매핑(증강)</a:t>
            </a:r>
            <a:endParaRPr/>
          </a:p>
        </p:txBody>
      </p:sp>
      <p:sp>
        <p:nvSpPr>
          <p:cNvPr id="307" name="Google Shape;307;p49"/>
          <p:cNvSpPr txBox="1"/>
          <p:nvPr/>
        </p:nvSpPr>
        <p:spPr>
          <a:xfrm>
            <a:off x="457200" y="1938528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대상</a:t>
            </a:r>
            <a:endParaRPr/>
          </a:p>
        </p:txBody>
      </p:sp>
      <p:sp>
        <p:nvSpPr>
          <p:cNvPr id="308" name="Google Shape;308;p49"/>
          <p:cNvSpPr txBox="1"/>
          <p:nvPr/>
        </p:nvSpPr>
        <p:spPr>
          <a:xfrm>
            <a:off x="2743200" y="1938528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온라인 댓글 문장 + 44개 세부 감정 라벨</a:t>
            </a:r>
            <a:endParaRPr/>
          </a:p>
        </p:txBody>
      </p:sp>
      <p:sp>
        <p:nvSpPr>
          <p:cNvPr id="309" name="Google Shape;309;p49"/>
          <p:cNvSpPr txBox="1"/>
          <p:nvPr/>
        </p:nvSpPr>
        <p:spPr>
          <a:xfrm>
            <a:off x="457200" y="2688336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목적 · 사용 기능</a:t>
            </a:r>
            <a:endParaRPr/>
          </a:p>
        </p:txBody>
      </p:sp>
      <p:sp>
        <p:nvSpPr>
          <p:cNvPr id="310" name="Google Shape;310;p49"/>
          <p:cNvSpPr txBox="1"/>
          <p:nvPr/>
        </p:nvSpPr>
        <p:spPr>
          <a:xfrm>
            <a:off x="2743200" y="2688336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온라인 구어체 감정 표현 보강. 44라벨→4감정 명시 매핑 후 학습 증강.</a:t>
            </a:r>
            <a:endParaRPr/>
          </a:p>
        </p:txBody>
      </p:sp>
      <p:sp>
        <p:nvSpPr>
          <p:cNvPr id="311" name="Google Shape;311;p49"/>
          <p:cNvSpPr txBox="1"/>
          <p:nvPr/>
        </p:nvSpPr>
        <p:spPr>
          <a:xfrm>
            <a:off x="457200" y="3438144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· 저작권</a:t>
            </a:r>
            <a:endParaRPr/>
          </a:p>
        </p:txBody>
      </p:sp>
      <p:sp>
        <p:nvSpPr>
          <p:cNvPr id="312" name="Google Shape;312;p49"/>
          <p:cNvSpPr txBox="1"/>
          <p:nvPr/>
        </p:nvSpPr>
        <p:spPr>
          <a:xfrm>
            <a:off x="2743200" y="3438144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KOTE 공개 데이터셋(GitHub) · 출처 표시</a:t>
            </a:r>
            <a:endParaRPr/>
          </a:p>
        </p:txBody>
      </p:sp>
      <p:sp>
        <p:nvSpPr>
          <p:cNvPr id="313" name="Google Shape;313;p49"/>
          <p:cNvSpPr txBox="1"/>
          <p:nvPr/>
        </p:nvSpPr>
        <p:spPr>
          <a:xfrm>
            <a:off x="457200" y="4169664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다중 라벨 중 4감정 버킷으로 단일 수렴되는 문장만 채택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50"/>
          <p:cNvSpPr/>
          <p:nvPr/>
        </p:nvSpPr>
        <p:spPr>
          <a:xfrm>
            <a:off x="457200" y="310896"/>
            <a:ext cx="2468880" cy="347472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학습 데이터</a:t>
            </a:r>
            <a:endParaRPr/>
          </a:p>
        </p:txBody>
      </p:sp>
      <p:sp>
        <p:nvSpPr>
          <p:cNvPr id="320" name="Google Shape;320;p50"/>
          <p:cNvSpPr txBox="1"/>
          <p:nvPr/>
        </p:nvSpPr>
        <p:spPr>
          <a:xfrm>
            <a:off x="7132320" y="32918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소스 4 / 7</a:t>
            </a:r>
            <a:endParaRPr/>
          </a:p>
        </p:txBody>
      </p:sp>
      <p:sp>
        <p:nvSpPr>
          <p:cNvPr id="321" name="Google Shape;321;p50"/>
          <p:cNvSpPr txBox="1"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6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채팅체 평가셋 (자체 제작)</a:t>
            </a:r>
            <a:endParaRPr/>
          </a:p>
        </p:txBody>
      </p:sp>
      <p:sp>
        <p:nvSpPr>
          <p:cNvPr id="322" name="Google Shape;322;p50"/>
          <p:cNvSpPr txBox="1"/>
          <p:nvPr/>
        </p:nvSpPr>
        <p:spPr>
          <a:xfrm>
            <a:off x="457200" y="138988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150건 · 학습 금지 · 평가 전용</a:t>
            </a:r>
            <a:endParaRPr/>
          </a:p>
        </p:txBody>
      </p:sp>
      <p:sp>
        <p:nvSpPr>
          <p:cNvPr id="323" name="Google Shape;323;p50"/>
          <p:cNvSpPr txBox="1"/>
          <p:nvPr/>
        </p:nvSpPr>
        <p:spPr>
          <a:xfrm>
            <a:off x="457200" y="1938528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대상</a:t>
            </a:r>
            <a:endParaRPr/>
          </a:p>
        </p:txBody>
      </p:sp>
      <p:sp>
        <p:nvSpPr>
          <p:cNvPr id="324" name="Google Shape;324;p50"/>
          <p:cNvSpPr txBox="1"/>
          <p:nvPr/>
        </p:nvSpPr>
        <p:spPr>
          <a:xfrm>
            <a:off x="2743200" y="1938528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실사용 문체(짧은 채팅체) 문장 150건 + 4감정 정답 라벨</a:t>
            </a:r>
            <a:endParaRPr/>
          </a:p>
        </p:txBody>
      </p:sp>
      <p:sp>
        <p:nvSpPr>
          <p:cNvPr id="325" name="Google Shape;325;p50"/>
          <p:cNvSpPr txBox="1"/>
          <p:nvPr/>
        </p:nvSpPr>
        <p:spPr>
          <a:xfrm>
            <a:off x="457200" y="2688336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목적 · 사용 기능</a:t>
            </a:r>
            <a:endParaRPr/>
          </a:p>
        </p:txBody>
      </p:sp>
      <p:sp>
        <p:nvSpPr>
          <p:cNvPr id="326" name="Google Shape;326;p50"/>
          <p:cNvSpPr txBox="1"/>
          <p:nvPr/>
        </p:nvSpPr>
        <p:spPr>
          <a:xfrm>
            <a:off x="2743200" y="2688336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실서비스 문체에서의 성능 검증용. 모델 선정·배포 판단 기준(이중 평가).</a:t>
            </a:r>
            <a:endParaRPr/>
          </a:p>
        </p:txBody>
      </p:sp>
      <p:sp>
        <p:nvSpPr>
          <p:cNvPr id="327" name="Google Shape;327;p50"/>
          <p:cNvSpPr txBox="1"/>
          <p:nvPr/>
        </p:nvSpPr>
        <p:spPr>
          <a:xfrm>
            <a:off x="457200" y="3438144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· 저작권</a:t>
            </a:r>
            <a:endParaRPr/>
          </a:p>
        </p:txBody>
      </p:sp>
      <p:sp>
        <p:nvSpPr>
          <p:cNvPr id="328" name="Google Shape;328;p50"/>
          <p:cNvSpPr txBox="1"/>
          <p:nvPr/>
        </p:nvSpPr>
        <p:spPr>
          <a:xfrm>
            <a:off x="2743200" y="3438144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자체 제작 · 팀 검수 (공개 repo 커밋 가능)</a:t>
            </a:r>
            <a:endParaRPr/>
          </a:p>
        </p:txBody>
      </p:sp>
      <p:sp>
        <p:nvSpPr>
          <p:cNvPr id="329" name="Google Shape;329;p50"/>
          <p:cNvSpPr txBox="1"/>
          <p:nvPr/>
        </p:nvSpPr>
        <p:spPr>
          <a:xfrm>
            <a:off x="457200" y="4169664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학습셋에서 전량 제외(누수 필터) — 평가의 공정성 확보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51"/>
          <p:cNvSpPr/>
          <p:nvPr/>
        </p:nvSpPr>
        <p:spPr>
          <a:xfrm>
            <a:off x="457200" y="310896"/>
            <a:ext cx="2468880" cy="347472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서비스·온보딩 데이터</a:t>
            </a:r>
            <a:endParaRPr/>
          </a:p>
        </p:txBody>
      </p:sp>
      <p:sp>
        <p:nvSpPr>
          <p:cNvPr id="336" name="Google Shape;336;p51"/>
          <p:cNvSpPr txBox="1"/>
          <p:nvPr/>
        </p:nvSpPr>
        <p:spPr>
          <a:xfrm>
            <a:off x="7132320" y="32918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소스 5 / 7</a:t>
            </a:r>
            <a:endParaRPr/>
          </a:p>
        </p:txBody>
      </p:sp>
      <p:sp>
        <p:nvSpPr>
          <p:cNvPr id="337" name="Google Shape;337;p51"/>
          <p:cNvSpPr txBox="1"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6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타로 카드 지식 데이터</a:t>
            </a:r>
            <a:endParaRPr/>
          </a:p>
        </p:txBody>
      </p:sp>
      <p:sp>
        <p:nvSpPr>
          <p:cNvPr id="338" name="Google Shape;338;p51"/>
          <p:cNvSpPr txBox="1"/>
          <p:nvPr/>
        </p:nvSpPr>
        <p:spPr>
          <a:xfrm>
            <a:off x="457200" y="138988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78장(메이저 22 + 마이너 56) · RAG 청크 390건</a:t>
            </a:r>
            <a:endParaRPr/>
          </a:p>
        </p:txBody>
      </p:sp>
      <p:sp>
        <p:nvSpPr>
          <p:cNvPr id="339" name="Google Shape;339;p51"/>
          <p:cNvSpPr txBox="1"/>
          <p:nvPr/>
        </p:nvSpPr>
        <p:spPr>
          <a:xfrm>
            <a:off x="457200" y="1938528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대상</a:t>
            </a:r>
            <a:endParaRPr/>
          </a:p>
        </p:txBody>
      </p:sp>
      <p:sp>
        <p:nvSpPr>
          <p:cNvPr id="340" name="Google Shape;340;p51"/>
          <p:cNvSpPr txBox="1"/>
          <p:nvPr/>
        </p:nvSpPr>
        <p:spPr>
          <a:xfrm>
            <a:off x="2743200" y="1938528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카드별 의미·정/역방향·주제별 해석 + RAG 검색 문맥</a:t>
            </a:r>
            <a:endParaRPr/>
          </a:p>
        </p:txBody>
      </p:sp>
      <p:sp>
        <p:nvSpPr>
          <p:cNvPr id="341" name="Google Shape;341;p51"/>
          <p:cNvSpPr txBox="1"/>
          <p:nvPr/>
        </p:nvSpPr>
        <p:spPr>
          <a:xfrm>
            <a:off x="457200" y="2688336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목적 · 사용 기능</a:t>
            </a:r>
            <a:endParaRPr/>
          </a:p>
        </p:txBody>
      </p:sp>
      <p:sp>
        <p:nvSpPr>
          <p:cNvPr id="342" name="Google Shape;342;p51"/>
          <p:cNvSpPr txBox="1"/>
          <p:nvPr/>
        </p:nvSpPr>
        <p:spPr>
          <a:xfrm>
            <a:off x="2743200" y="2688336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오늘의 메이저 카드 · 3장 리딩 · LLM RAG 응답 구성.</a:t>
            </a:r>
            <a:endParaRPr/>
          </a:p>
        </p:txBody>
      </p:sp>
      <p:sp>
        <p:nvSpPr>
          <p:cNvPr id="343" name="Google Shape;343;p51"/>
          <p:cNvSpPr txBox="1"/>
          <p:nvPr/>
        </p:nvSpPr>
        <p:spPr>
          <a:xfrm>
            <a:off x="457200" y="3438144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· 저작권</a:t>
            </a:r>
            <a:endParaRPr/>
          </a:p>
        </p:txBody>
      </p:sp>
      <p:sp>
        <p:nvSpPr>
          <p:cNvPr id="344" name="Google Shape;344;p51"/>
          <p:cNvSpPr txBox="1"/>
          <p:nvPr/>
        </p:nvSpPr>
        <p:spPr>
          <a:xfrm>
            <a:off x="2743200" y="3438144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타로 카드 CSV 및 guide_url 참고 · 외부 출처 이용조건 검토 필요</a:t>
            </a:r>
            <a:endParaRPr/>
          </a:p>
        </p:txBody>
      </p:sp>
      <p:sp>
        <p:nvSpPr>
          <p:cNvPr id="345" name="Google Shape;345;p51"/>
          <p:cNvSpPr txBox="1"/>
          <p:nvPr/>
        </p:nvSpPr>
        <p:spPr>
          <a:xfrm>
            <a:off x="457200" y="4169664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이미지·guide_url 라이선스는 배포 전 별도 확인 필요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52"/>
          <p:cNvSpPr/>
          <p:nvPr/>
        </p:nvSpPr>
        <p:spPr>
          <a:xfrm>
            <a:off x="457200" y="310896"/>
            <a:ext cx="2468880" cy="347472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서비스·온보딩 데이터</a:t>
            </a:r>
            <a:endParaRPr/>
          </a:p>
        </p:txBody>
      </p:sp>
      <p:sp>
        <p:nvSpPr>
          <p:cNvPr id="352" name="Google Shape;352;p52"/>
          <p:cNvSpPr txBox="1"/>
          <p:nvPr/>
        </p:nvSpPr>
        <p:spPr>
          <a:xfrm>
            <a:off x="7132320" y="32918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소스 6 / 7</a:t>
            </a:r>
            <a:endParaRPr/>
          </a:p>
        </p:txBody>
      </p:sp>
      <p:sp>
        <p:nvSpPr>
          <p:cNvPr id="353" name="Google Shape;353;p52"/>
          <p:cNvSpPr txBox="1"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6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온보딩 키워드 시드 데이터</a:t>
            </a:r>
            <a:endParaRPr/>
          </a:p>
        </p:txBody>
      </p:sp>
      <p:sp>
        <p:nvSpPr>
          <p:cNvPr id="354" name="Google Shape;354;p52"/>
          <p:cNvSpPr txBox="1"/>
          <p:nvPr/>
        </p:nvSpPr>
        <p:spPr>
          <a:xfrm>
            <a:off x="457200" y="138988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223건(취미 83 + 관심분야 140)</a:t>
            </a:r>
            <a:endParaRPr/>
          </a:p>
        </p:txBody>
      </p:sp>
      <p:sp>
        <p:nvSpPr>
          <p:cNvPr id="355" name="Google Shape;355;p52"/>
          <p:cNvSpPr txBox="1"/>
          <p:nvPr/>
        </p:nvSpPr>
        <p:spPr>
          <a:xfrm>
            <a:off x="457200" y="1938528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대상</a:t>
            </a:r>
            <a:endParaRPr/>
          </a:p>
        </p:txBody>
      </p:sp>
      <p:sp>
        <p:nvSpPr>
          <p:cNvPr id="356" name="Google Shape;356;p52"/>
          <p:cNvSpPr txBox="1"/>
          <p:nvPr/>
        </p:nvSpPr>
        <p:spPr>
          <a:xfrm>
            <a:off x="2743200" y="1938528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선택지와 대화 개인화용 키워드</a:t>
            </a:r>
            <a:endParaRPr/>
          </a:p>
        </p:txBody>
      </p:sp>
      <p:sp>
        <p:nvSpPr>
          <p:cNvPr id="357" name="Google Shape;357;p52"/>
          <p:cNvSpPr txBox="1"/>
          <p:nvPr/>
        </p:nvSpPr>
        <p:spPr>
          <a:xfrm>
            <a:off x="457200" y="2688336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목적 · 사용 기능</a:t>
            </a:r>
            <a:endParaRPr/>
          </a:p>
        </p:txBody>
      </p:sp>
      <p:sp>
        <p:nvSpPr>
          <p:cNvPr id="358" name="Google Shape;358;p52"/>
          <p:cNvSpPr txBox="1"/>
          <p:nvPr/>
        </p:nvSpPr>
        <p:spPr>
          <a:xfrm>
            <a:off x="2743200" y="2688336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프로필 설정 · 챗봇 대화 주제/톤 보조.</a:t>
            </a:r>
            <a:endParaRPr/>
          </a:p>
        </p:txBody>
      </p:sp>
      <p:sp>
        <p:nvSpPr>
          <p:cNvPr id="359" name="Google Shape;359;p52"/>
          <p:cNvSpPr txBox="1"/>
          <p:nvPr/>
        </p:nvSpPr>
        <p:spPr>
          <a:xfrm>
            <a:off x="457200" y="3438144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· 저작권</a:t>
            </a:r>
            <a:endParaRPr/>
          </a:p>
        </p:txBody>
      </p:sp>
      <p:sp>
        <p:nvSpPr>
          <p:cNvPr id="360" name="Google Shape;360;p52"/>
          <p:cNvSpPr txBox="1"/>
          <p:nvPr/>
        </p:nvSpPr>
        <p:spPr>
          <a:xfrm>
            <a:off x="2743200" y="3438144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 보조 생성 후 내부 편집 · CSV 저장 · 내부 사용 한정</a:t>
            </a:r>
            <a:endParaRPr/>
          </a:p>
        </p:txBody>
      </p:sp>
      <p:sp>
        <p:nvSpPr>
          <p:cNvPr id="361" name="Google Shape;361;p52"/>
          <p:cNvSpPr txBox="1"/>
          <p:nvPr/>
        </p:nvSpPr>
        <p:spPr>
          <a:xfrm>
            <a:off x="457200" y="4169664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LLM 보조 생성분은 운영 전 내부 검수 대상으로 관리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53"/>
          <p:cNvSpPr/>
          <p:nvPr/>
        </p:nvSpPr>
        <p:spPr>
          <a:xfrm>
            <a:off x="457200" y="310896"/>
            <a:ext cx="2468880" cy="347472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서비스·온보딩 데이터</a:t>
            </a:r>
            <a:endParaRPr/>
          </a:p>
        </p:txBody>
      </p:sp>
      <p:sp>
        <p:nvSpPr>
          <p:cNvPr id="368" name="Google Shape;368;p53"/>
          <p:cNvSpPr txBox="1"/>
          <p:nvPr/>
        </p:nvSpPr>
        <p:spPr>
          <a:xfrm>
            <a:off x="7132320" y="32918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소스 7 / 7</a:t>
            </a:r>
            <a:endParaRPr/>
          </a:p>
        </p:txBody>
      </p:sp>
      <p:sp>
        <p:nvSpPr>
          <p:cNvPr id="369" name="Google Shape;369;p53"/>
          <p:cNvSpPr txBox="1"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6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입력 · 운세 실행 데이터</a:t>
            </a:r>
            <a:endParaRPr/>
          </a:p>
        </p:txBody>
      </p:sp>
      <p:sp>
        <p:nvSpPr>
          <p:cNvPr id="370" name="Google Shape;370;p53"/>
          <p:cNvSpPr txBox="1"/>
          <p:nvPr/>
        </p:nvSpPr>
        <p:spPr>
          <a:xfrm>
            <a:off x="457200" y="138988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운영에 따라 누적(운영 데이터)</a:t>
            </a:r>
            <a:endParaRPr/>
          </a:p>
        </p:txBody>
      </p:sp>
      <p:sp>
        <p:nvSpPr>
          <p:cNvPr id="371" name="Google Shape;371;p53"/>
          <p:cNvSpPr txBox="1"/>
          <p:nvPr/>
        </p:nvSpPr>
        <p:spPr>
          <a:xfrm>
            <a:off x="457200" y="1938528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대상</a:t>
            </a:r>
            <a:endParaRPr/>
          </a:p>
        </p:txBody>
      </p:sp>
      <p:sp>
        <p:nvSpPr>
          <p:cNvPr id="372" name="Google Shape;372;p53"/>
          <p:cNvSpPr txBox="1"/>
          <p:nvPr/>
        </p:nvSpPr>
        <p:spPr>
          <a:xfrm>
            <a:off x="2743200" y="1938528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계정·프로필·질문·선택 카드·운세 결과</a:t>
            </a:r>
            <a:endParaRPr/>
          </a:p>
        </p:txBody>
      </p:sp>
      <p:sp>
        <p:nvSpPr>
          <p:cNvPr id="373" name="Google Shape;373;p53"/>
          <p:cNvSpPr txBox="1"/>
          <p:nvPr/>
        </p:nvSpPr>
        <p:spPr>
          <a:xfrm>
            <a:off x="457200" y="2688336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목적 · 사용 기능</a:t>
            </a:r>
            <a:endParaRPr/>
          </a:p>
        </p:txBody>
      </p:sp>
      <p:sp>
        <p:nvSpPr>
          <p:cNvPr id="374" name="Google Shape;374;p53"/>
          <p:cNvSpPr txBox="1"/>
          <p:nvPr/>
        </p:nvSpPr>
        <p:spPr>
          <a:xfrm>
            <a:off x="2743200" y="2688336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개인화와 결과 이력 저장 · 오늘의 카드 · 감정 캘린더.</a:t>
            </a:r>
            <a:endParaRPr/>
          </a:p>
        </p:txBody>
      </p:sp>
      <p:sp>
        <p:nvSpPr>
          <p:cNvPr id="375" name="Google Shape;375;p53"/>
          <p:cNvSpPr txBox="1"/>
          <p:nvPr/>
        </p:nvSpPr>
        <p:spPr>
          <a:xfrm>
            <a:off x="457200" y="3438144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· 저작권</a:t>
            </a:r>
            <a:endParaRPr/>
          </a:p>
        </p:txBody>
      </p:sp>
      <p:sp>
        <p:nvSpPr>
          <p:cNvPr id="376" name="Google Shape;376;p53"/>
          <p:cNvSpPr txBox="1"/>
          <p:nvPr/>
        </p:nvSpPr>
        <p:spPr>
          <a:xfrm>
            <a:off x="2743200" y="3438144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직접 입력 및 소셜 로그인 mock · 내부 DB(PostgreSQL)</a:t>
            </a:r>
            <a:endParaRPr/>
          </a:p>
        </p:txBody>
      </p:sp>
      <p:sp>
        <p:nvSpPr>
          <p:cNvPr id="377" name="Google Shape;377;p53"/>
          <p:cNvSpPr txBox="1"/>
          <p:nvPr/>
        </p:nvSpPr>
        <p:spPr>
          <a:xfrm>
            <a:off x="457200" y="4169664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개인정보 포함 → 내부 사용 한정 · 사용자별 접근 분리 · 외부 학습 미사용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5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모델의 난제 — 작성체 vs 채팅체</a:t>
            </a:r>
            <a:endParaRPr/>
          </a:p>
        </p:txBody>
      </p:sp>
      <p:sp>
        <p:nvSpPr>
          <p:cNvPr id="383" name="Google Shape;383;p54"/>
          <p:cNvSpPr/>
          <p:nvPr/>
        </p:nvSpPr>
        <p:spPr>
          <a:xfrm>
            <a:off x="457200" y="1325880"/>
            <a:ext cx="4023360" cy="228600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31750">
            <a:solidFill>
              <a:srgbClr val="3E8C8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12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3E8C86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데이터 = 문어체(작성체)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Hub 감성대화 — 정제된 문장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"오늘은 일이 많아 지치는 하루였다"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깔끔한 문장·완결된 서술</a:t>
            </a:r>
            <a:endParaRPr/>
          </a:p>
        </p:txBody>
      </p:sp>
      <p:sp>
        <p:nvSpPr>
          <p:cNvPr id="384" name="Google Shape;384;p54"/>
          <p:cNvSpPr/>
          <p:nvPr/>
        </p:nvSpPr>
        <p:spPr>
          <a:xfrm>
            <a:off x="4663440" y="1325880"/>
            <a:ext cx="4023360" cy="228600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3175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12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실사용 = 채팅체(구어체)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사용자 발화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"걍 다 귀찮아", "ㅜㅜ 힘드러"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짧고 축약·오타·이모티콘</a:t>
            </a:r>
            <a:endParaRPr/>
          </a:p>
        </p:txBody>
      </p:sp>
      <p:sp>
        <p:nvSpPr>
          <p:cNvPr id="385" name="Google Shape;385;p54"/>
          <p:cNvSpPr/>
          <p:nvPr/>
        </p:nvSpPr>
        <p:spPr>
          <a:xfrm>
            <a:off x="457200" y="3794760"/>
            <a:ext cx="822960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 배포(동결 임베딩+XGBoost): 작성체 F1 0.67  →  채팅체 F1 0.48 로 붕괴</a:t>
            </a:r>
            <a:endParaRPr/>
          </a:p>
        </p:txBody>
      </p:sp>
      <p:sp>
        <p:nvSpPr>
          <p:cNvPr id="386" name="Google Shape;386;p54"/>
          <p:cNvSpPr txBox="1"/>
          <p:nvPr/>
        </p:nvSpPr>
        <p:spPr>
          <a:xfrm>
            <a:off x="457200" y="480060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감정이 틀리면 응답 톤·표정·음성·기록·리포트가 전부 틀어짐 → 목표: 이 문체 격차를 측정 가능하게 줄인다.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3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EDA — 감정 분포와 4감정 매핑</a:t>
            </a:r>
            <a:endParaRPr/>
          </a:p>
        </p:txBody>
      </p:sp>
      <p:pic>
        <p:nvPicPr>
          <p:cNvPr descr="edaA_12_00.png" id="392" name="Google Shape;39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051560"/>
            <a:ext cx="4114800" cy="20313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daA_14_01.png" id="393" name="Google Shape;393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3154680"/>
            <a:ext cx="5120640" cy="1833838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55"/>
          <p:cNvSpPr txBox="1"/>
          <p:nvPr/>
        </p:nvSpPr>
        <p:spPr>
          <a:xfrm>
            <a:off x="4800600" y="1188720"/>
            <a:ext cx="40233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원천 6감정 분포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불안·분노·상처·슬픔·당황은 1만 건 안팎으로 고른 편, 기쁨만 7,337건.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6감정 → 4감정 매핑 후 분포·구성 확인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매핑 시 클래스 균형을 함께 고려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3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EDA — 문장 길이와 이상치</a:t>
            </a:r>
            <a:endParaRPr/>
          </a:p>
        </p:txBody>
      </p:sp>
      <p:pic>
        <p:nvPicPr>
          <p:cNvPr descr="edaA_16_02.png" id="400" name="Google Shape;40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25880"/>
            <a:ext cx="6766560" cy="2587886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56"/>
          <p:cNvSpPr txBox="1"/>
          <p:nvPr/>
        </p:nvSpPr>
        <p:spPr>
          <a:xfrm>
            <a:off x="457200" y="40690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길이 분포 확인 — IQR 상한 70자, 최장 156자지만 128자 초과는 단 2건.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max_len 128로 확정 (거의 모든 문장을 절단 없이 담으면서 문맥 보존)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3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EDA — 감정별 어휘 신호</a:t>
            </a:r>
            <a:endParaRPr/>
          </a:p>
        </p:txBody>
      </p:sp>
      <p:pic>
        <p:nvPicPr>
          <p:cNvPr descr="edaA_19_03.png" id="407" name="Google Shape;40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097280"/>
            <a:ext cx="4297680" cy="25699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daA_23_04.png" id="408" name="Google Shape;408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9160" y="1280160"/>
            <a:ext cx="4114800" cy="1805143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7"/>
          <p:cNvSpPr txBox="1"/>
          <p:nvPr/>
        </p:nvSpPr>
        <p:spPr>
          <a:xfrm>
            <a:off x="4709160" y="3154680"/>
            <a:ext cx="41148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4감정별 최빈 단어·신호 토큰이 뚜렷이 구분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감정마다 자주 쓰는 어휘·부호 패턴이 다름.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텍스트만으로 4감정 분류가 가능하다는 근거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3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EDA — 학습셋 문체·작성자 편향</a:t>
            </a:r>
            <a:endParaRPr/>
          </a:p>
        </p:txBody>
      </p:sp>
      <p:pic>
        <p:nvPicPr>
          <p:cNvPr descr="edaA_33_09.png" id="415" name="Google Shape;41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143000"/>
            <a:ext cx="4114800" cy="18427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daA_31_08.png" id="416" name="Google Shape;416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3108960"/>
            <a:ext cx="4114800" cy="1770927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8"/>
          <p:cNvSpPr txBox="1"/>
          <p:nvPr/>
        </p:nvSpPr>
        <p:spPr>
          <a:xfrm>
            <a:off x="4800600" y="1188720"/>
            <a:ext cx="40233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학습셋은 사실상 100% 반말·평서체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실사용 채팅체와 문체 격차가 큼.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10% 프로필이 전체 발화의 22% 작성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특정 작성자에 발화가 편중.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채팅체 평가셋·구어체 증강의 필요성 도출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3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EDA — 베이스라인 분류기 비교</a:t>
            </a:r>
            <a:endParaRPr/>
          </a:p>
        </p:txBody>
      </p:sp>
      <p:pic>
        <p:nvPicPr>
          <p:cNvPr descr="edaA_25_05.png" id="423" name="Google Shape;423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80160"/>
            <a:ext cx="5760720" cy="28439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59"/>
          <p:cNvSpPr txBox="1"/>
          <p:nvPr/>
        </p:nvSpPr>
        <p:spPr>
          <a:xfrm>
            <a:off x="6400800" y="1463040"/>
            <a:ext cx="24688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얼려쓰기 임베딩 + 분류기 3종 (test n=11,647)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LogReg · LinearSVM · XGBoost 비교.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XGBoost 최고 — Acc 0.658 · Macro F1 0.670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베이스라인 확보. 이후 파인튜닝으로 개선.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3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EDA — 음성 데이터 라벨 신뢰도</a:t>
            </a:r>
            <a:endParaRPr/>
          </a:p>
        </p:txBody>
      </p:sp>
      <p:pic>
        <p:nvPicPr>
          <p:cNvPr descr="edaB_10_01.png" id="430" name="Google Shape;43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097280"/>
            <a:ext cx="3017520" cy="28217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daB_08_00.png" id="431" name="Google Shape;431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0" y="1234440"/>
            <a:ext cx="3200400" cy="1373336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60"/>
          <p:cNvSpPr txBox="1"/>
          <p:nvPr/>
        </p:nvSpPr>
        <p:spPr>
          <a:xfrm>
            <a:off x="3657600" y="2788920"/>
            <a:ext cx="51206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음성 전사는 5명 어노테이터 투표 라벨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'지시 감정'과 '들은 판정'이 다른 칸이 존재(혼동 행렬).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2표 이하(5명 중 3명이 다르게 봄)는 제외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3표 이상 합의분만 채택 = 36,677건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3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EDA — 음성 감정 매핑과 제외</a:t>
            </a:r>
            <a:endParaRPr/>
          </a:p>
        </p:txBody>
      </p:sp>
      <p:pic>
        <p:nvPicPr>
          <p:cNvPr descr="edaB_14_03.png" id="438" name="Google Shape;43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097280"/>
            <a:ext cx="4754880" cy="17115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daB_14_04.png" id="439" name="Google Shape;439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971800"/>
            <a:ext cx="4754880" cy="1551086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61"/>
          <p:cNvSpPr txBox="1"/>
          <p:nvPr/>
        </p:nvSpPr>
        <p:spPr>
          <a:xfrm>
            <a:off x="5349240" y="1188720"/>
            <a:ext cx="34747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대분류 중 '감정' 라벨만 사용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회색 3,611건은 상담 맥락 분류라 4감정과 무관 → 제외.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하위 이례 라벨도 제외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4감정 체계로 정합성 확보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3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EDA — 채팅 평가셋 설계와 웰니스 불균형</a:t>
            </a:r>
            <a:endParaRPr/>
          </a:p>
        </p:txBody>
      </p:sp>
      <p:pic>
        <p:nvPicPr>
          <p:cNvPr descr="edaB_16_05.png" id="446" name="Google Shape;44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097280"/>
            <a:ext cx="5029200" cy="14778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daB_18_06.png" id="447" name="Google Shape;447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743200"/>
            <a:ext cx="5029200" cy="152163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62"/>
          <p:cNvSpPr txBox="1"/>
          <p:nvPr/>
        </p:nvSpPr>
        <p:spPr>
          <a:xfrm>
            <a:off x="5577840" y="118872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채팅체 평가셋은 자체 설계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감정별 균형(≈15문장씩)·짧은 길이로 실사용 문체 재현.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웰니스 상담 데이터는 존댓말 위주·기쁨 12건 불균형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ablation에서 기각된 실측 근거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3"/>
          <p:cNvSpPr txBox="1"/>
          <p:nvPr/>
        </p:nvSpPr>
        <p:spPr>
          <a:xfrm>
            <a:off x="310896" y="384048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30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전처리</a:t>
            </a:r>
            <a:endParaRPr/>
          </a:p>
        </p:txBody>
      </p:sp>
      <p:graphicFrame>
        <p:nvGraphicFramePr>
          <p:cNvPr id="454" name="Google Shape;454;p63"/>
          <p:cNvGraphicFramePr/>
          <p:nvPr/>
        </p:nvGraphicFramePr>
        <p:xfrm>
          <a:off x="411480" y="1143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{4E7416E8-415C-4827-B443-BCCDB9BC9B8E}</a:tableStyleId>
              </a:tblPr>
              <a:tblGrid>
                <a:gridCol w="1554475"/>
                <a:gridCol w="1737350"/>
                <a:gridCol w="2194550"/>
              </a:tblGrid>
              <a:tr h="39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이슈 유형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처리 방식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처리량 / 결과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5E5A"/>
                    </a:solidFill>
                  </a:tcPr>
                </a:tc>
              </a:tr>
              <a:tr h="39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결측치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행 제거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0건 (원천 품질 양호)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9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중복치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대표 1건 유지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17건 제거 → 고유 58,251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4F2"/>
                    </a:solidFill>
                  </a:tcPr>
                </a:tc>
              </a:tr>
              <a:tr h="39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라벨 상충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단일 라벨로 통일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17건 → 정제본 58,234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9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음성 중복·저신뢰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중복 제거·합의 필터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6,779 + 7,311 제외 → 36,677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4F2"/>
                    </a:solidFill>
                  </a:tcPr>
                </a:tc>
              </a:tr>
              <a:tr h="39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이상치(장문)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유지 (문맥 보존)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319건(0.55%), 128자 초과 2건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91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누수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학습셋서 전량 제외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평가 문장 제외 → 학습 90,456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4F2"/>
                    </a:solidFill>
                  </a:tcPr>
                </a:tc>
              </a:tr>
            </a:tbl>
          </a:graphicData>
        </a:graphic>
      </p:graphicFrame>
      <p:sp>
        <p:nvSpPr>
          <p:cNvPr id="455" name="Google Shape;455;p63"/>
          <p:cNvSpPr txBox="1"/>
          <p:nvPr/>
        </p:nvSpPr>
        <p:spPr>
          <a:xfrm>
            <a:off x="6126480" y="1097280"/>
            <a:ext cx="27432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정제 파이프라인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원천 파싱 (JSON/TSV → 통일 스키마)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6감정→4감정 · KOTE 44라벨→4 매핑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정제 → 58,234건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증강 병합 (음성·KOTE 채택 / 웰니스 기각)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 누수 필터·분할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3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분할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90,456 / 평가 작성체 11,647 · 채팅체 150(학습 금지)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재생성 스크립트로 원 정제본 100% 재현 (AI Hub 재배포 금지 대응)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ko" sz="3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모델링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분류 — 대화를 방해하지 않고 뒤에서 분석</a:t>
            </a:r>
            <a:endParaRPr/>
          </a:p>
        </p:txBody>
      </p:sp>
      <p:pic>
        <p:nvPicPr>
          <p:cNvPr descr="07_감정F1.png" id="466" name="Google Shape;466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6320" y="1234440"/>
            <a:ext cx="3931920" cy="2358103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65"/>
          <p:cNvSpPr txBox="1"/>
          <p:nvPr/>
        </p:nvSpPr>
        <p:spPr>
          <a:xfrm>
            <a:off x="457200" y="1234440"/>
            <a:ext cx="420624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 턴 사용자 감정 자동 분류 — 기쁨·슬픔·분노·일반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4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KcELECTRA 파인튜닝 모델. 대화를 끊지 않고 뒤에서 감정만 판별해 기록·응답 톤에 반영.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초단문(10자 미만)은 직전 감정 유지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4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확신도 0.70 미만이면 LLM이 맥락 보고 재분류 — 애매하면 찍지 않는다.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성과: 채팅체에서 대폭 향상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4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문어체 F1 0.67 → 0.70 · 채팅체 F1 0.48 → 0.78</a:t>
            </a:r>
            <a:endParaRPr/>
          </a:p>
        </p:txBody>
      </p:sp>
      <p:sp>
        <p:nvSpPr>
          <p:cNvPr id="468" name="Google Shape;468;p65"/>
          <p:cNvSpPr txBox="1"/>
          <p:nvPr/>
        </p:nvSpPr>
        <p:spPr>
          <a:xfrm>
            <a:off x="4846320" y="48920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감정별 F1 — 채팅체 평가셋 기준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2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 ① — 모델 × 방식 비교 (무엇으로 학습할까)</a:t>
            </a:r>
            <a:endParaRPr/>
          </a:p>
        </p:txBody>
      </p:sp>
      <p:sp>
        <p:nvSpPr>
          <p:cNvPr id="474" name="Google Shape;474;p66"/>
          <p:cNvSpPr txBox="1"/>
          <p:nvPr/>
        </p:nvSpPr>
        <p:spPr>
          <a:xfrm>
            <a:off x="457200" y="1234440"/>
            <a:ext cx="429768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설계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KcELECTRA vs KoBERT × 얼려쓰기 vs 파인튜닝 (4조합) + 임베딩 레시피 4종(층×압축)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이중 평가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작성체 테스트 + 채팅체 평가셋으로 동시 채점 — 지표가 낮아도 실사용에서 나을 수 있다는 가설 검증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KcELECTRA 파인튜닝이 채팅체 F1 최고(0.55). 임베딩은 last4_mean(마지막 4층 평균)이 최고.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배포 모델 = KcELECTRA 파인튜닝 확정</a:t>
            </a:r>
            <a:endParaRPr/>
          </a:p>
        </p:txBody>
      </p:sp>
      <p:pic>
        <p:nvPicPr>
          <p:cNvPr descr="10_실험1_모델방식.png" id="475" name="Google Shape;475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2040" y="1371600"/>
            <a:ext cx="3977639" cy="218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2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 ② — 데이터 추가 ablation (무엇을 더 넣을까)</a:t>
            </a:r>
            <a:endParaRPr/>
          </a:p>
        </p:txBody>
      </p:sp>
      <p:graphicFrame>
        <p:nvGraphicFramePr>
          <p:cNvPr id="481" name="Google Shape;481;p67"/>
          <p:cNvGraphicFramePr/>
          <p:nvPr/>
        </p:nvGraphicFramePr>
        <p:xfrm>
          <a:off x="457200" y="1234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{4E7416E8-415C-4827-B443-BCCDB9BC9B8E}</a:tableStyleId>
              </a:tblPr>
              <a:tblGrid>
                <a:gridCol w="1371600"/>
                <a:gridCol w="3383275"/>
                <a:gridCol w="1828800"/>
                <a:gridCol w="11887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조합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추가 데이터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채팅체 F1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판정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5E5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base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감성대화만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0.48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기준선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+음성 전사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 음성 전사 36,677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0.74  (+0.26)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채택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+웰니스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 웰니스 1,002 (기쁨 12건)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0.44  (−0.04)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기각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E07A5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+KOTE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 한국어 댓글 13,216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0.50  (+0.02)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채택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+음성+KOTE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승자 조합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0.82 → 0.78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결승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</a:tbl>
          </a:graphicData>
        </a:graphic>
      </p:graphicFrame>
      <p:sp>
        <p:nvSpPr>
          <p:cNvPr id="482" name="Google Shape;482;p67"/>
          <p:cNvSpPr txBox="1"/>
          <p:nvPr/>
        </p:nvSpPr>
        <p:spPr>
          <a:xfrm>
            <a:off x="457200" y="3840480"/>
            <a:ext cx="8321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원칙: 시험지(작성체+채팅체)는 고정 — 추가 데이터는 학습에만. 오르는 것만 채택.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웰니스는 존댓말 상담체·기쁨 12건 불균형으로 채팅체 F1 하락 → 사전 가설대로 기각.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3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결론: 승자 +음성+KOTE → 채팅체 0.82(필터 전) → 누수 필터·재학습 후 공식 0.78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4_최종성능.png" id="487" name="Google Shape;487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371600"/>
            <a:ext cx="4846320" cy="3046968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68"/>
          <p:cNvSpPr txBox="1"/>
          <p:nvPr/>
        </p:nvSpPr>
        <p:spPr>
          <a:xfrm>
            <a:off x="5440680" y="1234440"/>
            <a:ext cx="3474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배포 모델 (무누수)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KcELECTRA 파인튜닝 (+음성·KOTE, lr 5e-5) · 학습 90,456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작성체 0.71  ·  채팅체 0.78  (공식 성적)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클래스별 F1(채팅체)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기쁨 0.93 · 분노 0.75 · 일반 0.73 · 슬픔 0.70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확신도 게이트 0.70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채택률 82.7% · 채택분 정확도 0.83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재현성: 시드 3회 표준편차 ±0.003</a:t>
            </a:r>
            <a:endParaRPr/>
          </a:p>
        </p:txBody>
      </p:sp>
      <p:sp>
        <p:nvSpPr>
          <p:cNvPr id="489" name="Google Shape;489;p68"/>
          <p:cNvSpPr txBox="1"/>
          <p:nvPr/>
        </p:nvSpPr>
        <p:spPr>
          <a:xfrm>
            <a:off x="320040" y="4617720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누수 필터 전(시험 문장 포함) 최고 0.82까지 나왔으나, 시험 문장을 학습에서 전량 제외한 무누수 조건의 0.78을 공식 성적으로 삼음</a:t>
            </a:r>
            <a:endParaRPr/>
          </a:p>
        </p:txBody>
      </p:sp>
      <p:sp>
        <p:nvSpPr>
          <p:cNvPr id="490" name="Google Shape;490;p68"/>
          <p:cNvSpPr txBox="1"/>
          <p:nvPr/>
        </p:nvSpPr>
        <p:spPr>
          <a:xfrm>
            <a:off x="310896" y="384048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6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감정 분류 성능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5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오분류 분석 — 남은 오류의 성격</a:t>
            </a:r>
            <a:endParaRPr/>
          </a:p>
        </p:txBody>
      </p:sp>
      <p:sp>
        <p:nvSpPr>
          <p:cNvPr id="496" name="Google Shape;496;p69"/>
          <p:cNvSpPr txBox="1"/>
          <p:nvPr/>
        </p:nvSpPr>
        <p:spPr>
          <a:xfrm>
            <a:off x="457200" y="114300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배포 모델의 고확신 오답(확신도 0.9 이상)을 정성 분석 — 세 패턴으로 수렴</a:t>
            </a:r>
            <a:endParaRPr/>
          </a:p>
        </p:txBody>
      </p:sp>
      <p:sp>
        <p:nvSpPr>
          <p:cNvPr id="497" name="Google Shape;497;p69"/>
          <p:cNvSpPr/>
          <p:nvPr/>
        </p:nvSpPr>
        <p:spPr>
          <a:xfrm>
            <a:off x="457200" y="1737360"/>
            <a:ext cx="8229600" cy="86868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19050">
            <a:solidFill>
              <a:srgbClr val="D193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76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자기비하·외로움(슬픔)을 오인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"내가 쓸모없는 사람 같아" (확신 0.995 → 분노)   ·  "오늘따라 진짜 외롭다" → 일반</a:t>
            </a:r>
            <a:endParaRPr/>
          </a:p>
        </p:txBody>
      </p:sp>
      <p:sp>
        <p:nvSpPr>
          <p:cNvPr id="498" name="Google Shape;498;p69"/>
          <p:cNvSpPr/>
          <p:nvPr/>
        </p:nvSpPr>
        <p:spPr>
          <a:xfrm>
            <a:off x="457200" y="2697480"/>
            <a:ext cx="8229600" cy="86868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19050">
            <a:solidFill>
              <a:srgbClr val="D193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76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감정어 없는 부당대우 서술(분노) → 슬픔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"동료가 내 아이디어 가로챘어"   ·  "내 잘못도 아닌데 나보고 책임지래"</a:t>
            </a:r>
            <a:endParaRPr/>
          </a:p>
        </p:txBody>
      </p:sp>
      <p:sp>
        <p:nvSpPr>
          <p:cNvPr id="499" name="Google Shape;499;p69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19050">
            <a:solidFill>
              <a:srgbClr val="D193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76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중립 문장의 키워드 유발 감정화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"머리 감기 귀찮다" → 분노   ·  "웹툰 업데이트 기다리는 중" → 기쁨</a:t>
            </a:r>
            <a:endParaRPr/>
          </a:p>
        </p:txBody>
      </p:sp>
      <p:sp>
        <p:nvSpPr>
          <p:cNvPr id="500" name="Google Shape;500;p69"/>
          <p:cNvSpPr txBox="1"/>
          <p:nvPr/>
        </p:nvSpPr>
        <p:spPr>
          <a:xfrm>
            <a:off x="457200" y="4663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3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남은 오류는 슬픔↔분노 경계·서술형 발화에 집중. 임계값이 아니라 데이터(서술형 분노·중립 문장 보강)로 풀 문제 — 2차 과제로 기록.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5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한계 &amp; 2차 과제</a:t>
            </a:r>
            <a:endParaRPr/>
          </a:p>
        </p:txBody>
      </p:sp>
      <p:sp>
        <p:nvSpPr>
          <p:cNvPr id="506" name="Google Shape;506;p70"/>
          <p:cNvSpPr/>
          <p:nvPr/>
        </p:nvSpPr>
        <p:spPr>
          <a:xfrm>
            <a:off x="548640" y="1536192"/>
            <a:ext cx="146304" cy="146304"/>
          </a:xfrm>
          <a:prstGeom prst="ellipse">
            <a:avLst/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70"/>
          <p:cNvSpPr txBox="1"/>
          <p:nvPr/>
        </p:nvSpPr>
        <p:spPr>
          <a:xfrm>
            <a:off x="868680" y="146304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채팅체 평가셋 = 자체 제작(팀 검수)</a:t>
            </a: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—  실사용 로그 축적 후 재검증 예정</a:t>
            </a:r>
            <a:endParaRPr/>
          </a:p>
        </p:txBody>
      </p:sp>
      <p:sp>
        <p:nvSpPr>
          <p:cNvPr id="508" name="Google Shape;508;p70"/>
          <p:cNvSpPr/>
          <p:nvPr/>
        </p:nvSpPr>
        <p:spPr>
          <a:xfrm>
            <a:off x="548640" y="2194560"/>
            <a:ext cx="146304" cy="146304"/>
          </a:xfrm>
          <a:prstGeom prst="ellipse">
            <a:avLst/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70"/>
          <p:cNvSpPr txBox="1"/>
          <p:nvPr/>
        </p:nvSpPr>
        <p:spPr>
          <a:xfrm>
            <a:off x="868680" y="2121408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+음성 효과는 '관찰'</a:t>
            </a: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—  원인(문체·양·클래스 보강)의 분리 실험은 미수행</a:t>
            </a:r>
            <a:endParaRPr/>
          </a:p>
        </p:txBody>
      </p:sp>
      <p:sp>
        <p:nvSpPr>
          <p:cNvPr id="510" name="Google Shape;510;p70"/>
          <p:cNvSpPr/>
          <p:nvPr/>
        </p:nvSpPr>
        <p:spPr>
          <a:xfrm>
            <a:off x="548640" y="2852928"/>
            <a:ext cx="146304" cy="146304"/>
          </a:xfrm>
          <a:prstGeom prst="ellipse">
            <a:avLst/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70"/>
          <p:cNvSpPr txBox="1"/>
          <p:nvPr/>
        </p:nvSpPr>
        <p:spPr>
          <a:xfrm>
            <a:off x="868680" y="2779776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하이퍼파라미터 두 백본 동일 고정</a:t>
            </a: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—  백본별 최적화 시 성능 격차가 달라질 수 있음</a:t>
            </a:r>
            <a:endParaRPr/>
          </a:p>
        </p:txBody>
      </p:sp>
      <p:sp>
        <p:nvSpPr>
          <p:cNvPr id="512" name="Google Shape;512;p70"/>
          <p:cNvSpPr/>
          <p:nvPr/>
        </p:nvSpPr>
        <p:spPr>
          <a:xfrm>
            <a:off x="548640" y="3511296"/>
            <a:ext cx="146304" cy="146304"/>
          </a:xfrm>
          <a:prstGeom prst="ellipse">
            <a:avLst/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70"/>
          <p:cNvSpPr txBox="1"/>
          <p:nvPr/>
        </p:nvSpPr>
        <p:spPr>
          <a:xfrm>
            <a:off x="868680" y="3438144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데이터(2020 작성체) vs 실사용(2026 채팅체) 드리프트</a:t>
            </a: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—  월간 분포 비교 · 저확신 샘플 수집 재학습 루프를 운영 과제로</a:t>
            </a:r>
            <a:endParaRPr/>
          </a:p>
        </p:txBody>
      </p:sp>
      <p:sp>
        <p:nvSpPr>
          <p:cNvPr id="514" name="Google Shape;514;p70"/>
          <p:cNvSpPr/>
          <p:nvPr/>
        </p:nvSpPr>
        <p:spPr>
          <a:xfrm>
            <a:off x="548640" y="4169663"/>
            <a:ext cx="146304" cy="146304"/>
          </a:xfrm>
          <a:prstGeom prst="ellipse">
            <a:avLst/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70"/>
          <p:cNvSpPr txBox="1"/>
          <p:nvPr/>
        </p:nvSpPr>
        <p:spPr>
          <a:xfrm>
            <a:off x="868680" y="4096511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오분류에서 도출</a:t>
            </a: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—  서술형 분노·중립 문장 데이터 보강 (2차)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30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멀티에이전트</a:t>
            </a:r>
            <a:endParaRPr/>
          </a:p>
        </p:txBody>
      </p:sp>
      <p:sp>
        <p:nvSpPr>
          <p:cNvPr id="521" name="Google Shape;521;p71"/>
          <p:cNvSpPr txBox="1"/>
          <p:nvPr/>
        </p:nvSpPr>
        <p:spPr>
          <a:xfrm>
            <a:off x="548640" y="1417320"/>
            <a:ext cx="813816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LangGraph 기반 대화 흐름 — 감정 분기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ko" sz="15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MBTI 판별 → 컨텍스트 조회 → 감정 분석 → 감정별 응답(톤 지침) → 최종 정제(resp_prep)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감정에 따라 응답 흐름이 조건부로 분기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ko" sz="15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기획의 역할별 다중 에이전트 구상 → 실제로는 감정 분기 구조로 단순화해 구현.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컨셉 '나를 기억하는 친구'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ko" sz="15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먼저 말 걸기 · 2단 기억 · 음성 재생(TTS) · 시크릿 모드는 완전 무저장.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7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ko" sz="3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웹서비스</a:t>
            </a:r>
            <a:endParaRPr/>
          </a:p>
        </p:txBody>
      </p:sp>
      <p:sp>
        <p:nvSpPr>
          <p:cNvPr id="527" name="Google Shape;527;p72"/>
          <p:cNvSpPr/>
          <p:nvPr/>
        </p:nvSpPr>
        <p:spPr>
          <a:xfrm>
            <a:off x="2651760" y="3200400"/>
            <a:ext cx="3840480" cy="548640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  실시간 데모 시연 (localhost:5173)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프로토타입 — 홈</a:t>
            </a:r>
            <a:endParaRPr/>
          </a:p>
        </p:txBody>
      </p:sp>
      <p:sp>
        <p:nvSpPr>
          <p:cNvPr id="533" name="Google Shape;533;p73"/>
          <p:cNvSpPr txBox="1"/>
          <p:nvPr/>
        </p:nvSpPr>
        <p:spPr>
          <a:xfrm>
            <a:off x="7223760" y="5029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1 / 6</a:t>
            </a:r>
            <a:endParaRPr/>
          </a:p>
        </p:txBody>
      </p:sp>
      <p:sp>
        <p:nvSpPr>
          <p:cNvPr id="534" name="Google Shape;534;p73"/>
          <p:cNvSpPr txBox="1"/>
          <p:nvPr/>
        </p:nvSpPr>
        <p:spPr>
          <a:xfrm>
            <a:off x="5669280" y="1280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바쁜 하루의 빈틈 사이, 마음을 쉬어가요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감정을 기록하고 대화·리포트로 마음의 흐름을 정리하는 랜딩.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‘산책 시작하기 / 다락방 둘러보기’, 카드 운세·마음 대화로 진입.</a:t>
            </a:r>
            <a:endParaRPr/>
          </a:p>
        </p:txBody>
      </p:sp>
      <p:pic>
        <p:nvPicPr>
          <p:cNvPr descr="screencapture-localhost-5173-home-2026-07-06-19_21_39.jpg" id="535" name="Google Shape;535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61052"/>
            <a:ext cx="5212080" cy="2638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프로토타입 — 마음 대화 (감정→표정)</a:t>
            </a:r>
            <a:endParaRPr/>
          </a:p>
        </p:txBody>
      </p:sp>
      <p:sp>
        <p:nvSpPr>
          <p:cNvPr id="541" name="Google Shape;541;p74"/>
          <p:cNvSpPr txBox="1"/>
          <p:nvPr/>
        </p:nvSpPr>
        <p:spPr>
          <a:xfrm>
            <a:off x="7223760" y="5029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2 / 6</a:t>
            </a:r>
            <a:endParaRPr/>
          </a:p>
        </p:txBody>
      </p:sp>
      <p:sp>
        <p:nvSpPr>
          <p:cNvPr id="542" name="Google Shape;542;p74"/>
          <p:cNvSpPr txBox="1"/>
          <p:nvPr/>
        </p:nvSpPr>
        <p:spPr>
          <a:xfrm>
            <a:off x="5669280" y="1280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까미와 나누는 감정 대화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챗봇이 먼저 말 걸기(첫인사)로 대화 시작.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 턴 감정 4분류 → 캐릭터 표정 실시간 변화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‘지치고 마음이 무거워’ 입력 시 까미가 우는 표정으로 바뀌고, 감정에 맞춘 공감 응답.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시크릿챗(완전 무저장) 지원.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ko" sz="13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챗봇 답변 음성 재생(TTS) 지원 — 실제 작동</a:t>
            </a:r>
            <a:endParaRPr/>
          </a:p>
        </p:txBody>
      </p:sp>
      <p:pic>
        <p:nvPicPr>
          <p:cNvPr descr="screencapture-localhost-5173-chat-2026-07-06-19_20_56.jpg" id="543" name="Google Shape;543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657421"/>
            <a:ext cx="5212080" cy="2445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SzPts val="2800"/>
              <a:buNone/>
            </a:pPr>
            <a:r>
              <a:rPr b="1" lang="ko" sz="2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프로토타입 — 카드 운세 (타로)</a:t>
            </a:r>
            <a:endParaRPr/>
          </a:p>
        </p:txBody>
      </p:sp>
      <p:sp>
        <p:nvSpPr>
          <p:cNvPr id="549" name="Google Shape;549;p75"/>
          <p:cNvSpPr txBox="1"/>
          <p:nvPr/>
        </p:nvSpPr>
        <p:spPr>
          <a:xfrm>
            <a:off x="7223760" y="5029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3 / 6</a:t>
            </a:r>
            <a:endParaRPr/>
          </a:p>
        </p:txBody>
      </p:sp>
      <p:sp>
        <p:nvSpPr>
          <p:cNvPr id="550" name="Google Shape;550;p75"/>
          <p:cNvSpPr txBox="1"/>
          <p:nvPr/>
        </p:nvSpPr>
        <p:spPr>
          <a:xfrm>
            <a:off x="5669280" y="1280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오늘의 타로 운세 + 상황별 카드 리딩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생년월일·오늘 날짜 기반으로 오늘의 메이저 카드 한 장 제공.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상황별 리딩 — 카테고리(연애·업무·금전·성공·총운) 선택 후 직감으로 3장 선택.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 카드(정/역방향) → 카드별 해석·조언을 LLM RAG로 생성.</a:t>
            </a:r>
            <a:endParaRPr/>
          </a:p>
        </p:txBody>
      </p:sp>
      <p:pic>
        <p:nvPicPr>
          <p:cNvPr descr="screencapture-localhost-5173-onboarding-fortune-draw-2026-07-06-19_32_09.png" id="551" name="Google Shape;551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234440"/>
            <a:ext cx="4463512" cy="3566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프로토타입 — 마음 리포트</a:t>
            </a:r>
            <a:endParaRPr/>
          </a:p>
        </p:txBody>
      </p:sp>
      <p:sp>
        <p:nvSpPr>
          <p:cNvPr id="557" name="Google Shape;557;p76"/>
          <p:cNvSpPr txBox="1"/>
          <p:nvPr/>
        </p:nvSpPr>
        <p:spPr>
          <a:xfrm>
            <a:off x="7223760" y="5029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4 / 6</a:t>
            </a:r>
            <a:endParaRPr/>
          </a:p>
        </p:txBody>
      </p:sp>
      <p:sp>
        <p:nvSpPr>
          <p:cNvPr id="558" name="Google Shape;558;p76"/>
          <p:cNvSpPr txBox="1"/>
          <p:nvPr/>
        </p:nvSpPr>
        <p:spPr>
          <a:xfrm>
            <a:off x="5669280" y="1280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주간 감정 리포트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리포트 보관함(주간)·감정 일기(요일별 이모지).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스트레스 주요 원인 / 이완 원인 태그 + 요약.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저장·공유 지원. (생성 엔진 고도화는 진행중)</a:t>
            </a:r>
            <a:endParaRPr/>
          </a:p>
        </p:txBody>
      </p:sp>
      <p:pic>
        <p:nvPicPr>
          <p:cNvPr descr="screencapture-localhost-5173-report-2026-07-06-19_22_09.jpg" id="559" name="Google Shape;559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657421"/>
            <a:ext cx="5212080" cy="2445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프로토타입 — 마음 캘린더</a:t>
            </a:r>
            <a:endParaRPr/>
          </a:p>
        </p:txBody>
      </p:sp>
      <p:sp>
        <p:nvSpPr>
          <p:cNvPr id="565" name="Google Shape;565;p77"/>
          <p:cNvSpPr txBox="1"/>
          <p:nvPr/>
        </p:nvSpPr>
        <p:spPr>
          <a:xfrm>
            <a:off x="7223760" y="5029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5 / 6</a:t>
            </a:r>
            <a:endParaRPr/>
          </a:p>
        </p:txBody>
      </p:sp>
      <p:sp>
        <p:nvSpPr>
          <p:cNvPr id="566" name="Google Shape;566;p77"/>
          <p:cNvSpPr txBox="1"/>
          <p:nvPr/>
        </p:nvSpPr>
        <p:spPr>
          <a:xfrm>
            <a:off x="5669280" y="1280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날짜별 감정·운세 기록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이번 달 기록·연속 기록, 이번 달 감정 요약 카드.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기록 있는 날엔 까미 마커 표시, 날짜 선택 시 상세 확인.</a:t>
            </a:r>
            <a:endParaRPr/>
          </a:p>
        </p:txBody>
      </p:sp>
      <p:pic>
        <p:nvPicPr>
          <p:cNvPr descr="screencapture-localhost-5173-calendar-2026-07-06-19_22_41.jpg" id="567" name="Google Shape;567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37977"/>
            <a:ext cx="5212080" cy="2684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프로토타입 — 마이페이지</a:t>
            </a:r>
            <a:endParaRPr/>
          </a:p>
        </p:txBody>
      </p:sp>
      <p:sp>
        <p:nvSpPr>
          <p:cNvPr id="573" name="Google Shape;573;p78"/>
          <p:cNvSpPr txBox="1"/>
          <p:nvPr/>
        </p:nvSpPr>
        <p:spPr>
          <a:xfrm>
            <a:off x="7223760" y="5029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6 / 6</a:t>
            </a:r>
            <a:endParaRPr/>
          </a:p>
        </p:txBody>
      </p:sp>
      <p:sp>
        <p:nvSpPr>
          <p:cNvPr id="574" name="Google Shape;574;p78"/>
          <p:cNvSpPr txBox="1"/>
          <p:nvPr/>
        </p:nvSpPr>
        <p:spPr>
          <a:xfrm>
            <a:off x="5669280" y="1280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나만의 방 + MBTI 분석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아기자기한 방으로 꾸며진 프로필 공간.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프로필 조회 / MBTI 분석(예: ENFP) 탭.</a:t>
            </a:r>
            <a:endParaRPr/>
          </a:p>
        </p:txBody>
      </p:sp>
      <p:pic>
        <p:nvPicPr>
          <p:cNvPr descr="screencapture-localhost-5173-mypage-2026-07-06-19_23_38.jpg" id="575" name="Google Shape;575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88198"/>
            <a:ext cx="5212080" cy="2584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이슈 및 해결과정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소셜로그인 연동 문제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6" name="Google Shape;586;p80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서버를 종료 후 재실행하면 로그인이 안 되는 문제가 발생.</a:t>
            </a:r>
            <a:endParaRPr/>
          </a:p>
        </p:txBody>
      </p:sp>
      <p:sp>
        <p:nvSpPr>
          <p:cNvPr id="587" name="Google Shape;587;p80"/>
          <p:cNvSpPr/>
          <p:nvPr/>
        </p:nvSpPr>
        <p:spPr>
          <a:xfrm>
            <a:off x="457200" y="2404872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D193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D1932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조사 중</a:t>
            </a:r>
            <a:endParaRPr/>
          </a:p>
        </p:txBody>
      </p:sp>
      <p:sp>
        <p:nvSpPr>
          <p:cNvPr id="588" name="Google Shape;588;p80"/>
          <p:cNvSpPr/>
          <p:nvPr/>
        </p:nvSpPr>
        <p:spPr>
          <a:xfrm>
            <a:off x="457200" y="3575304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D193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D1932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진행 중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mbti의 프롬프트 이슈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4" name="Google Shape;594;p81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LLM이 개별 응답 점수를 산정할 때 기준이 모호해, 반복 실행 시 결과가 달라짐.</a:t>
            </a:r>
            <a:endParaRPr/>
          </a:p>
        </p:txBody>
      </p:sp>
      <p:sp>
        <p:nvSpPr>
          <p:cNvPr id="595" name="Google Shape;595;p81"/>
          <p:cNvSpPr/>
          <p:nvPr/>
        </p:nvSpPr>
        <p:spPr>
          <a:xfrm>
            <a:off x="457200" y="2404872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D193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D1932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프롬프트가 명확하지 않아 LLM이 혼동.</a:t>
            </a:r>
            <a:endParaRPr/>
          </a:p>
        </p:txBody>
      </p:sp>
      <p:sp>
        <p:nvSpPr>
          <p:cNvPr id="596" name="Google Shape;596;p81"/>
          <p:cNvSpPr/>
          <p:nvPr/>
        </p:nvSpPr>
        <p:spPr>
          <a:xfrm>
            <a:off x="457200" y="3575304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1F7A4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1F7A4D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프롬프트에 점수 산정 규칙을 구체적·명확하게 재작성 → 결과 일관성 확보.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mbti의 데이터셋 부족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2" name="Google Shape;602;p82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MBTI 점수 산정용 머신러닝 모델 학습에 실패.</a:t>
            </a:r>
            <a:endParaRPr/>
          </a:p>
        </p:txBody>
      </p:sp>
      <p:sp>
        <p:nvSpPr>
          <p:cNvPr id="603" name="Google Shape;603;p82"/>
          <p:cNvSpPr/>
          <p:nvPr/>
        </p:nvSpPr>
        <p:spPr>
          <a:xfrm>
            <a:off x="457200" y="2404872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D193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D1932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신뢰 가능한 라벨링 데이터셋이 부족.</a:t>
            </a:r>
            <a:endParaRPr/>
          </a:p>
        </p:txBody>
      </p:sp>
      <p:sp>
        <p:nvSpPr>
          <p:cNvPr id="604" name="Google Shape;604;p82"/>
          <p:cNvSpPr/>
          <p:nvPr/>
        </p:nvSpPr>
        <p:spPr>
          <a:xfrm>
            <a:off x="457200" y="3575304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1F7A4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1F7A4D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머신러닝 대신 LLM 프롬프트 기반 점수 산정 방식으로 전환.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챗봇 설계에 대한 문제</a:t>
            </a:r>
            <a:endParaRPr/>
          </a:p>
        </p:txBody>
      </p:sp>
      <p:sp>
        <p:nvSpPr>
          <p:cNvPr id="610" name="Google Shape;610;p83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흐름도를 기능 중심으로만 설계 — 비즈니스·사용자 관점이 빠짐.</a:t>
            </a:r>
            <a:endParaRPr/>
          </a:p>
        </p:txBody>
      </p:sp>
      <p:sp>
        <p:nvSpPr>
          <p:cNvPr id="611" name="Google Shape;611;p83"/>
          <p:cNvSpPr/>
          <p:nvPr/>
        </p:nvSpPr>
        <p:spPr>
          <a:xfrm>
            <a:off x="457200" y="2404872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D193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D1932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관점 없이 기능 추가에만 집중해 제대로 된 서비스 설계에 이르지 못함.</a:t>
            </a:r>
            <a:endParaRPr/>
          </a:p>
        </p:txBody>
      </p:sp>
      <p:sp>
        <p:nvSpPr>
          <p:cNvPr id="612" name="Google Shape;612;p83"/>
          <p:cNvSpPr/>
          <p:nvPr/>
        </p:nvSpPr>
        <p:spPr>
          <a:xfrm>
            <a:off x="457200" y="3575304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1F7A4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1F7A4D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관점에서 기능을 간소화하고, 소통 중심으로 흐름도를 재작성.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마음리포트</a:t>
            </a:r>
            <a:endParaRPr/>
          </a:p>
        </p:txBody>
      </p:sp>
      <p:sp>
        <p:nvSpPr>
          <p:cNvPr id="618" name="Google Shape;618;p8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AutoNum type="arabicPeriod"/>
            </a:pPr>
            <a:r>
              <a:rPr b="1" lang="ko" sz="1700">
                <a:latin typeface="Malgun Gothic"/>
                <a:ea typeface="Malgun Gothic"/>
                <a:cs typeface="Malgun Gothic"/>
                <a:sym typeface="Malgun Gothic"/>
              </a:rPr>
              <a:t>마음 리포트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500">
                <a:latin typeface="Malgun Gothic"/>
                <a:ea typeface="Malgun Gothic"/>
                <a:cs typeface="Malgun Gothic"/>
                <a:sym typeface="Malgun Gothic"/>
              </a:rPr>
              <a:t>감정·대화를 시계열로 분석해 '내 마음의 흐름' 리포트화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500">
                <a:latin typeface="Malgun Gothic"/>
                <a:ea typeface="Malgun Gothic"/>
                <a:cs typeface="Malgun Gothic"/>
                <a:sym typeface="Malgun Gothic"/>
              </a:rPr>
              <a:t>키워드 분류·요약 (LLM)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500">
                <a:latin typeface="Malgun Gothic"/>
                <a:ea typeface="Malgun Gothic"/>
                <a:cs typeface="Malgun Gothic"/>
                <a:sym typeface="Malgun Gothic"/>
              </a:rPr>
              <a:t>담당 역할 조정으로 진행 중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8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 성과 요약</a:t>
            </a:r>
            <a:endParaRPr/>
          </a:p>
        </p:txBody>
      </p:sp>
      <p:sp>
        <p:nvSpPr>
          <p:cNvPr id="624" name="Google Shape;624;p85"/>
          <p:cNvSpPr/>
          <p:nvPr/>
        </p:nvSpPr>
        <p:spPr>
          <a:xfrm>
            <a:off x="457200" y="1325880"/>
            <a:ext cx="1965960" cy="17373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1F5E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12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40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90,456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학습셋 (건)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정제·증강·무누수</a:t>
            </a:r>
            <a:endParaRPr/>
          </a:p>
        </p:txBody>
      </p:sp>
      <p:sp>
        <p:nvSpPr>
          <p:cNvPr id="625" name="Google Shape;625;p85"/>
          <p:cNvSpPr/>
          <p:nvPr/>
        </p:nvSpPr>
        <p:spPr>
          <a:xfrm>
            <a:off x="2642615" y="1325880"/>
            <a:ext cx="1965960" cy="17373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12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40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0.78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채팅체 감정 F1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base 0.48 → 0.78</a:t>
            </a:r>
            <a:endParaRPr/>
          </a:p>
        </p:txBody>
      </p:sp>
      <p:sp>
        <p:nvSpPr>
          <p:cNvPr id="626" name="Google Shape;626;p85"/>
          <p:cNvSpPr/>
          <p:nvPr/>
        </p:nvSpPr>
        <p:spPr>
          <a:xfrm>
            <a:off x="4828031" y="1325880"/>
            <a:ext cx="1965960" cy="17373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3E8C8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12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4000" u="none" cap="none" strike="noStrike">
                <a:solidFill>
                  <a:srgbClr val="3E8C86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 3초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응답 p95 목표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 즉시+TTS 비동기</a:t>
            </a:r>
            <a:endParaRPr/>
          </a:p>
        </p:txBody>
      </p:sp>
      <p:sp>
        <p:nvSpPr>
          <p:cNvPr id="627" name="Google Shape;627;p85"/>
          <p:cNvSpPr/>
          <p:nvPr/>
        </p:nvSpPr>
        <p:spPr>
          <a:xfrm>
            <a:off x="7013447" y="1325880"/>
            <a:ext cx="1965960" cy="17373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1F5E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12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40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4감정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 캐릭터 표정 전환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KcELECTRA 확신도 게이트</a:t>
            </a:r>
            <a:endParaRPr/>
          </a:p>
        </p:txBody>
      </p:sp>
      <p:sp>
        <p:nvSpPr>
          <p:cNvPr id="628" name="Google Shape;628;p85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지금 되는 것 (구현 완료)</a:t>
            </a:r>
            <a:endParaRPr/>
          </a:p>
        </p:txBody>
      </p:sp>
      <p:sp>
        <p:nvSpPr>
          <p:cNvPr id="629" name="Google Shape;629;p85"/>
          <p:cNvSpPr/>
          <p:nvPr/>
        </p:nvSpPr>
        <p:spPr>
          <a:xfrm>
            <a:off x="457200" y="3749039"/>
            <a:ext cx="1161288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친구 챗봇</a:t>
            </a:r>
            <a:endParaRPr/>
          </a:p>
        </p:txBody>
      </p:sp>
      <p:sp>
        <p:nvSpPr>
          <p:cNvPr id="630" name="Google Shape;630;p85"/>
          <p:cNvSpPr/>
          <p:nvPr/>
        </p:nvSpPr>
        <p:spPr>
          <a:xfrm>
            <a:off x="1783080" y="3749039"/>
            <a:ext cx="1316736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4분류</a:t>
            </a:r>
            <a:endParaRPr/>
          </a:p>
        </p:txBody>
      </p:sp>
      <p:sp>
        <p:nvSpPr>
          <p:cNvPr id="631" name="Google Shape;631;p85"/>
          <p:cNvSpPr/>
          <p:nvPr/>
        </p:nvSpPr>
        <p:spPr>
          <a:xfrm>
            <a:off x="3264408" y="3749039"/>
            <a:ext cx="1161288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2단 기억</a:t>
            </a:r>
            <a:endParaRPr/>
          </a:p>
        </p:txBody>
      </p:sp>
      <p:sp>
        <p:nvSpPr>
          <p:cNvPr id="632" name="Google Shape;632;p85"/>
          <p:cNvSpPr/>
          <p:nvPr/>
        </p:nvSpPr>
        <p:spPr>
          <a:xfrm>
            <a:off x="4590288" y="3749039"/>
            <a:ext cx="1316736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선제 첫인사</a:t>
            </a:r>
            <a:endParaRPr/>
          </a:p>
        </p:txBody>
      </p:sp>
      <p:sp>
        <p:nvSpPr>
          <p:cNvPr id="633" name="Google Shape;633;p85"/>
          <p:cNvSpPr/>
          <p:nvPr/>
        </p:nvSpPr>
        <p:spPr>
          <a:xfrm>
            <a:off x="6071616" y="3749039"/>
            <a:ext cx="1005840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시크릿챗</a:t>
            </a:r>
            <a:endParaRPr/>
          </a:p>
        </p:txBody>
      </p:sp>
      <p:sp>
        <p:nvSpPr>
          <p:cNvPr id="634" name="Google Shape;634;p85"/>
          <p:cNvSpPr/>
          <p:nvPr/>
        </p:nvSpPr>
        <p:spPr>
          <a:xfrm>
            <a:off x="7242048" y="3749039"/>
            <a:ext cx="1316736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TTS 음성</a:t>
            </a:r>
            <a:endParaRPr/>
          </a:p>
        </p:txBody>
      </p:sp>
      <p:sp>
        <p:nvSpPr>
          <p:cNvPr id="635" name="Google Shape;635;p85"/>
          <p:cNvSpPr/>
          <p:nvPr/>
        </p:nvSpPr>
        <p:spPr>
          <a:xfrm>
            <a:off x="457200" y="4251959"/>
            <a:ext cx="1472184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온보딩·캐릭터</a:t>
            </a:r>
            <a:endParaRPr/>
          </a:p>
        </p:txBody>
      </p:sp>
      <p:sp>
        <p:nvSpPr>
          <p:cNvPr id="636" name="Google Shape;636;p85"/>
          <p:cNvSpPr/>
          <p:nvPr/>
        </p:nvSpPr>
        <p:spPr>
          <a:xfrm>
            <a:off x="2093976" y="4251959"/>
            <a:ext cx="1161288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타로 운세</a:t>
            </a:r>
            <a:endParaRPr/>
          </a:p>
        </p:txBody>
      </p:sp>
      <p:sp>
        <p:nvSpPr>
          <p:cNvPr id="637" name="Google Shape;637;p85"/>
          <p:cNvSpPr/>
          <p:nvPr/>
        </p:nvSpPr>
        <p:spPr>
          <a:xfrm>
            <a:off x="3419856" y="4251959"/>
            <a:ext cx="1316736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캘린더</a:t>
            </a:r>
            <a:endParaRPr/>
          </a:p>
        </p:txBody>
      </p:sp>
      <p:sp>
        <p:nvSpPr>
          <p:cNvPr id="638" name="Google Shape;638;p85"/>
          <p:cNvSpPr/>
          <p:nvPr/>
        </p:nvSpPr>
        <p:spPr>
          <a:xfrm>
            <a:off x="4901184" y="4251959"/>
            <a:ext cx="1161288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마이페이지</a:t>
            </a:r>
            <a:endParaRPr/>
          </a:p>
        </p:txBody>
      </p:sp>
      <p:sp>
        <p:nvSpPr>
          <p:cNvPr id="639" name="Google Shape;639;p85"/>
          <p:cNvSpPr txBox="1"/>
          <p:nvPr/>
        </p:nvSpPr>
        <p:spPr>
          <a:xfrm>
            <a:off x="457200" y="470916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11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진행 중: 마음 리포트 · MBTI 성향 분석    |    향후: 취향 분석 · 고위험군 추천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8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향후 계획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8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릴리즈 로드맵</a:t>
            </a:r>
            <a:endParaRPr/>
          </a:p>
        </p:txBody>
      </p:sp>
      <p:sp>
        <p:nvSpPr>
          <p:cNvPr id="650" name="Google Shape;650;p87"/>
          <p:cNvSpPr/>
          <p:nvPr/>
        </p:nvSpPr>
        <p:spPr>
          <a:xfrm>
            <a:off x="365760" y="1417320"/>
            <a:ext cx="2651760" cy="301752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31750">
            <a:solidFill>
              <a:srgbClr val="1F5E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MVP+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가까운 다음 단계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친밀도 말투 · 캐릭터 메모리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주간/월간 마음 리포트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MBTI · 취향 분석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접근성 개선</a:t>
            </a:r>
            <a:endParaRPr/>
          </a:p>
        </p:txBody>
      </p:sp>
      <p:sp>
        <p:nvSpPr>
          <p:cNvPr id="651" name="Google Shape;651;p87"/>
          <p:cNvSpPr/>
          <p:nvPr/>
        </p:nvSpPr>
        <p:spPr>
          <a:xfrm>
            <a:off x="3035808" y="2743200"/>
            <a:ext cx="146304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87"/>
          <p:cNvSpPr/>
          <p:nvPr/>
        </p:nvSpPr>
        <p:spPr>
          <a:xfrm>
            <a:off x="3200400" y="1417320"/>
            <a:ext cx="2651760" cy="301752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31750">
            <a:solidFill>
              <a:srgbClr val="3E8C8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E8C86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 2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확장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음성 대화 · 장기 기억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감정 시계열 분석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선물 · 도토리 · 구독(BM)</a:t>
            </a:r>
            <a:endParaRPr/>
          </a:p>
        </p:txBody>
      </p:sp>
      <p:sp>
        <p:nvSpPr>
          <p:cNvPr id="653" name="Google Shape;653;p87"/>
          <p:cNvSpPr/>
          <p:nvPr/>
        </p:nvSpPr>
        <p:spPr>
          <a:xfrm>
            <a:off x="5870448" y="2743200"/>
            <a:ext cx="146304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E8C8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87"/>
          <p:cNvSpPr/>
          <p:nvPr/>
        </p:nvSpPr>
        <p:spPr>
          <a:xfrm>
            <a:off x="6035040" y="1417320"/>
            <a:ext cx="2651760" cy="301752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3175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고도화 · 배포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마음 리포트: 시계열 + ML/DL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키워드 분류 고도화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AWS 배포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8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ko" sz="5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Q &amp; A</a:t>
            </a:r>
            <a:endParaRPr/>
          </a:p>
        </p:txBody>
      </p:sp>
      <p:sp>
        <p:nvSpPr>
          <p:cNvPr id="660" name="Google Shape;660;p88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0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궁금한 점을 편하게 물어봐 주세요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8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감사합니다!!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사용자 시나리오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71" name="Google Shape;671;p9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유즈케이스나 시퀀스 다이어그램</a:t>
            </a:r>
            <a:br>
              <a:rPr lang="ko"/>
            </a:br>
            <a:endParaRPr/>
          </a:p>
        </p:txBody>
      </p:sp>
      <p:pic>
        <p:nvPicPr>
          <p:cNvPr id="672" name="Google Shape;672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925" y="1521950"/>
            <a:ext cx="8878149" cy="362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시스템 아키텍처 설계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78" name="Google Shape;678;p9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/>
              <a:t>코랩 : T4</a:t>
            </a:r>
            <a:endParaRPr b="1"/>
          </a:p>
        </p:txBody>
      </p:sp>
      <p:pic>
        <p:nvPicPr>
          <p:cNvPr id="679" name="Google Shape;679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54700"/>
            <a:ext cx="7010700" cy="3366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심리이론 RAG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85" name="Google Shape;685;p92"/>
          <p:cNvSpPr txBox="1"/>
          <p:nvPr>
            <p:ph idx="1" type="body"/>
          </p:nvPr>
        </p:nvSpPr>
        <p:spPr>
          <a:xfrm>
            <a:off x="200475" y="1133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고려중이다…. 1장으로 끝날거 같지 않다….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RAG 아키택처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만드는 중이다</a:t>
            </a:r>
            <a:endParaRPr/>
          </a:p>
        </p:txBody>
      </p:sp>
      <p:pic>
        <p:nvPicPr>
          <p:cNvPr id="686" name="Google Shape;68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2397" y="1259847"/>
            <a:ext cx="3477275" cy="316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멀티에이전트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92" name="Google Shape;692;p93"/>
          <p:cNvSpPr txBox="1"/>
          <p:nvPr>
            <p:ph idx="1" type="body"/>
          </p:nvPr>
        </p:nvSpPr>
        <p:spPr>
          <a:xfrm>
            <a:off x="200475" y="1133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합의에 대해 구조를 만드는 중이다.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9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이슈 및 해결과정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소셜로그인 연동 문제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3" name="Google Shape;703;p9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문제점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서버를 실행했다가 다시 종료하고 나서 재실행했을때 로그인이 안되는 문제가 있다.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원인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찾는 중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해결방안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진행중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mbti의 프롬프트 이슈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9" name="Google Shape;709;p9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문제점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llm</a:t>
            </a:r>
            <a:r>
              <a:rPr lang="ko"/>
              <a:t>이 개별응답에 대한 점수를 산정 했을때 기준에 모호함 떄문에 반복실행시 결과가 달라지는 경우가 있었다.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원인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프롬프트에 더 명확하지 않았기 떄문에 llm이 혼동하는 문제가 있었다.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해결방안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프롬프트에 대한 설명에 대해서 구체적으로 쓰고 점수 산정에 대한 규칙도 더 명확하게 나타냈다.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mbti</a:t>
            </a:r>
            <a:r>
              <a:rPr lang="ko" sz="1800">
                <a:solidFill>
                  <a:schemeClr val="dk2"/>
                </a:solidFill>
              </a:rPr>
              <a:t>의 데이터셋 부족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15" name="Google Shape;715;p9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문제점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mbti </a:t>
            </a:r>
            <a:r>
              <a:rPr lang="ko"/>
              <a:t>점수 산정을 위한 모델로 머신러닝을 이용하려고 했지만 신뢰가능한 데이터셋의 부족으로 모델학습에 실패했다. 그래서 머신러닝 모델 사용을 하지 못하게 되었다.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원인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해결방안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챗봇 설계에 대한 문제</a:t>
            </a:r>
            <a:endParaRPr/>
          </a:p>
        </p:txBody>
      </p:sp>
      <p:sp>
        <p:nvSpPr>
          <p:cNvPr id="721" name="Google Shape;721;p9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문제점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챗봇의 흐름도를 기능에 대해서만 생각해서 만들고 비즈니스적인 관점과 사용자의 대한 썼다.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원인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모든 서비스를 사용을 하려면 사용자의 관점에서 생각하고 만들었어야 되었는데 기능에 대한 것만 추가하려니 제대로된 서비스를 생각하지 못했다.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해결방안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사용자 관점에서 다시 생각하고 기능을 간단히 하되 사람들과 최대한 소통할 수 있는 챗봇으로 만들려고 다시 흐름도를 작성하였다.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마음리포트</a:t>
            </a:r>
            <a:endParaRPr/>
          </a:p>
        </p:txBody>
      </p:sp>
      <p:sp>
        <p:nvSpPr>
          <p:cNvPr id="727" name="Google Shape;727;p9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문제점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역할 조정………….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원인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해결방안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0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향후 계획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0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</a:rPr>
              <a:t>모델링 및 평가, 모델 배포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8" name="Google Shape;738;p10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마음리포트 : 시계열분석, 머신러닝 및 딥러닝, 키워드 분류, llm을 했던걸 대체함.</a:t>
            </a:r>
            <a:br>
              <a:rPr lang="ko"/>
            </a:br>
            <a:r>
              <a:rPr lang="ko"/>
              <a:t>AWS로 베포할 예정임.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추가적으로 써야됌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0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감사합니다!!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5E5A"/>
                </a:solidFill>
                <a:latin typeface="Malgun Gothic"/>
              </a:defRPr>
            </a:pPr>
            <a:r>
              <a:t>마음리포트 — 작동원리 및 최종 산출물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206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222D2C"/>
                </a:solidFill>
                <a:latin typeface="Malgun Gothic"/>
              </a:defRPr>
            </a:pPr>
            <a:r>
              <a:t>작동 원리 (핵심 분석 및 판단 프로세스)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감정 분석 스코어링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`KcELECTRA` 모델 기반 사용자 발화 문장 분석 및 일 단위 감정 상태(긍정/부정/중립)/점수 변환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시계열 흐름 탐지 &amp; 분류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`Rolling Z-score/IQR` 기반으로 일별 점수 추세를 추적하여 상향/유지/변동성/하향 패턴 탐지 및 세부 분류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원인 키워드 도출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`KR-SBERT` 등을 활용해 대화에서 원인 후보 키워드 도출 및 스트레스/이완 요인 구분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라벨 표시 비중 결정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판정된 감정 흐름에 기초하여 스트레스/이완 라벨의 시각적 크기 가중치 차등 적용 정책 실행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최종 분석 및 대안 생성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`gpt-5.4-mini` 기반으로 흐름 분석 문장 및 개인화된 구체적 실천 행동 처방 생성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1325880"/>
            <a:ext cx="3840480" cy="1783080"/>
          </a:xfrm>
          <a:prstGeom prst="roundRect">
            <a:avLst/>
          </a:prstGeom>
          <a:solidFill>
            <a:srgbClr val="EDF4F2"/>
          </a:solidFill>
          <a:ln w="19050">
            <a:solidFill>
              <a:srgbClr val="3E8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222D2C"/>
                </a:solidFill>
                <a:latin typeface="Malgun Gothic"/>
              </a:defRPr>
            </a:pPr>
            <a:r>
              <a:t>정식 리포트 (데이터 충족 시)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요일별 감정 일기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날짜별 대표 감정 상태를 이모지 마커로 매핑하여 캘린더 형태로 제공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주요 원인 라벨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흐름 크기 정책이 적용된 스트레스 원인 및 이완 원인 키워드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분석/처방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감정 흐름 분석 문장 및 구체적 실천 행동 추천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3291840"/>
            <a:ext cx="384048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222D2C"/>
                </a:solidFill>
                <a:latin typeface="Malgun Gothic"/>
              </a:defRPr>
            </a:pPr>
            <a:r>
              <a:t>대체 리포트 (데이터 부족 시)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분석 대기 안내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대화 기록 누적 전까지의 생성 대기 안내 및 알림 문구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사용자 정보 연동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마이페이지 프로필(나이, 성별, 관심사) 보조 맥락 연동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힐링 활동 추천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Web Agent 실시간 검색 기반 기분전환 및 부담이 낮은 이색 활동 추천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5E5A"/>
                </a:solidFill>
                <a:latin typeface="Malgun Gothic"/>
              </a:defRPr>
            </a:pPr>
            <a:r>
              <a:t>마음리포트 — 현재 구현 정도 및 향후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2D2C"/>
                </a:solidFill>
                <a:latin typeface="Malgun Gothic"/>
              </a:defRPr>
            </a:pPr>
            <a:r>
              <a:t>설계 문서 대비 현재 구현도 (임시 대체 및 Rule 기반)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2651760" cy="2103120"/>
          </a:xfrm>
          <a:prstGeom prst="roundRect">
            <a:avLst/>
          </a:prstGeom>
          <a:solidFill>
            <a:srgbClr val="EDF4F2"/>
          </a:solidFill>
          <a:ln w="19050">
            <a:solidFill>
              <a:srgbClr val="3E8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222D2C"/>
                </a:solidFill>
                <a:latin typeface="Malgun Gothic"/>
              </a:defRPr>
            </a:pPr>
            <a:r>
              <a:t>1. 감정 분석 및 흐름 분류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1050">
                <a:solidFill>
                  <a:srgbClr val="5A6B69"/>
                </a:solidFill>
                <a:latin typeface="Malgun Gothic"/>
              </a:rPr>
              <a:t>• *설계*: `KcELECTRA` (ML) + `Rolling Z-score` (시계열 모델)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1050">
                <a:solidFill>
                  <a:srgbClr val="5A6B69"/>
                </a:solidFill>
                <a:latin typeface="Malgun Gothic"/>
              </a:rPr>
              <a:t>• *구현*: **LLM(gpt-5.4-mini) 감정 점수화 및 단순 평균/임계값 룰 기반 시계열 흐름 분류**로 임시 구현 및 연동 완료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508760"/>
            <a:ext cx="2651760" cy="2103120"/>
          </a:xfrm>
          <a:prstGeom prst="roundRect">
            <a:avLst/>
          </a:prstGeom>
          <a:solidFill>
            <a:srgbClr val="EDF4F2"/>
          </a:solidFill>
          <a:ln w="19050">
            <a:solidFill>
              <a:srgbClr val="3E8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222D2C"/>
                </a:solidFill>
                <a:latin typeface="Malgun Gothic"/>
              </a:defRPr>
            </a:pPr>
            <a:r>
              <a:t>2. 키워드 도출 및 원인 분류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1050">
                <a:solidFill>
                  <a:srgbClr val="5A6B69"/>
                </a:solidFill>
                <a:latin typeface="Malgun Gothic"/>
              </a:rPr>
              <a:t>• *설계*: `KR-SBERT` (임베딩 모델) + `점수/흐름 매핑 Rule`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1050">
                <a:solidFill>
                  <a:srgbClr val="5A6B69"/>
                </a:solidFill>
                <a:latin typeface="Malgun Gothic"/>
              </a:rPr>
              <a:t>• *구현*: **LLM(gpt-5.4-mini) 프롬프트 지시를 통해 키워드 직접 추출 및 스트레스/이완 원인 분류**로 임시 구현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508760"/>
            <a:ext cx="2651760" cy="2103120"/>
          </a:xfrm>
          <a:prstGeom prst="roundRect">
            <a:avLst/>
          </a:prstGeom>
          <a:solidFill>
            <a:srgbClr val="EDF4F2"/>
          </a:solidFill>
          <a:ln w="19050">
            <a:solidFill>
              <a:srgbClr val="3E8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222D2C"/>
                </a:solidFill>
                <a:latin typeface="Malgun Gothic"/>
              </a:defRPr>
            </a:pPr>
            <a:r>
              <a:t>3. 대체 리포트 및 이원 라우팅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1050">
                <a:solidFill>
                  <a:srgbClr val="5A6B69"/>
                </a:solidFill>
                <a:latin typeface="Malgun Gothic"/>
              </a:rPr>
              <a:t>• *설계*: 검색 API 기반 Web Agent 및 카테고리 필터 룰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1050">
                <a:solidFill>
                  <a:srgbClr val="5A6B69"/>
                </a:solidFill>
                <a:latin typeface="Malgun Gothic"/>
              </a:rPr>
              <a:t>• *구현*: **Tavily API 실시간 웹 검색 및 OpenAI 기반 추천 로직 구현 완료, API 뷰를 통한 이원 라우팅 완전 연동**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2D2C"/>
                </a:solidFill>
                <a:latin typeface="Malgun Gothic"/>
              </a:defRPr>
            </a:pPr>
            <a:r>
              <a:t>향후 보완 계획 (설계 문서 모델 적용)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14800"/>
            <a:ext cx="82296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ML/DL 모델 정식 도입 및 대체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비용 절감 및 연동 성능 개선을 위해 감정 점수화 및 키워드 추출 부문을 설계서에 기재된 `KcELECTRA` 파인튜닝 모델과 `KR-SBERT` 임베딩 모델로 전면 전환 적용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시계열 분석 모델 전환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단순 평균/임계값 룰에서 설계상의 `Rolling Z-score / EWMA` 시계열 이상탐지/추세분석 모듈로 대체 적용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서비스 연동 고도화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리포트 이미지 저장/공유 기능 활성화 및 마이페이지 대시보드 완벽 연동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5E5A"/>
                </a:solidFill>
                <a:latin typeface="Malgun Gothic"/>
              </a:defRPr>
            </a:pPr>
            <a:r>
              <a:t>MBTI 성향 분석 — 대화 기반 선호 지표 추출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222D2C"/>
                </a:solidFill>
                <a:latin typeface="Malgun Gothic"/>
              </a:defRPr>
            </a:pPr>
            <a:r>
              <a:t>작동 원리 (페르소나 LLM 채점)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MBTI 관련 Q&amp;A 데이터 분석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일반 대화가 아닌 챗봇과 나눈 MBTI 관련 질의응답 기록만 분석 대상 적용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Likert 5단계 정규화 점수화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4개 선호지표(IE, SN, TF, JP)를 기준으로 LLM이 답변의 강도를 `-1.0 ~ +1.0` (0.5 단위)로 점수화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월간 배치 집계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해당 월 유효 응답 5개 이상 및 최소 2개 선호 지표 응답 시 분석 자동 실행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추정 MBTI 산출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선호 지표별 평균을 산출하고 전월 결과(또는 온보딩 결과)와 결합하여 최종 MBTI 결정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663440" y="132588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7432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최종 산출물</a:t>
                      </a:r>
                    </a:p>
                  </a:txBody>
                  <a:tcPr anchor="ctr">
                    <a:solidFill>
                      <a:srgbClr val="3E8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설명 및 세부 내용</a:t>
                      </a:r>
                    </a:p>
                  </a:txBody>
                  <a:tcPr anchor="ctr">
                    <a:solidFill>
                      <a:srgbClr val="3E8C8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2D2C"/>
                          </a:solidFill>
                          <a:latin typeface="Malgun Gothic"/>
                        </a:defRPr>
                      </a:pPr>
                      <a:r>
                        <a:t>월간 추정 MBTI</a:t>
                      </a:r>
                    </a:p>
                  </a:txBody>
                  <a:tcPr anchor="ctr">
                    <a:solidFill>
                      <a:srgbClr val="EDF4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5A6B69"/>
                          </a:solidFill>
                          <a:latin typeface="Malgun Gothic"/>
                        </a:defRPr>
                      </a:pPr>
                      <a:r>
                        <a:t>대화 기반 Q&amp;A 분석을 통해 도출된 월간 성향 유형 (4자리 유형)</a:t>
                      </a:r>
                    </a:p>
                  </a:txBody>
                  <a:tcPr anchor="ctr">
                    <a:solidFill>
                      <a:srgbClr val="EDF4F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2D2C"/>
                          </a:solidFill>
                          <a:latin typeface="Malgun Gothic"/>
                        </a:defRPr>
                      </a:pPr>
                      <a:r>
                        <a:t>선호 지표 비율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5A6B69"/>
                          </a:solidFill>
                          <a:latin typeface="Malgun Gothic"/>
                        </a:defRPr>
                      </a:pPr>
                      <a:r>
                        <a:t>4개 축(E/I, S/N, T/F, J/P)의 상세 백분율 비율 그래프 시각화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2D2C"/>
                          </a:solidFill>
                          <a:latin typeface="Malgun Gothic"/>
                        </a:defRPr>
                      </a:pPr>
                      <a:r>
                        <a:t>변화 경향 요약</a:t>
                      </a:r>
                    </a:p>
                  </a:txBody>
                  <a:tcPr anchor="ctr">
                    <a:solidFill>
                      <a:srgbClr val="EDF4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5A6B69"/>
                          </a:solidFill>
                          <a:latin typeface="Malgun Gothic"/>
                        </a:defRPr>
                      </a:pPr>
                      <a:r>
                        <a:t>전월 추정 결과와 비교하여 유지/변화 추이 및 경향 분석 요약</a:t>
                      </a:r>
                    </a:p>
                  </a:txBody>
                  <a:tcPr anchor="ctr">
                    <a:solidFill>
                      <a:srgbClr val="EDF4F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2D2C"/>
                          </a:solidFill>
                          <a:latin typeface="Malgun Gothic"/>
                        </a:defRPr>
                      </a:pPr>
                      <a:r>
                        <a:t>대표 답변 리포트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5A6B69"/>
                          </a:solidFill>
                          <a:latin typeface="Malgun Gothic"/>
                        </a:defRPr>
                      </a:pPr>
                      <a:r>
                        <a:t>선호도 판정에 가장 큰 기여를 한 실제 응답(기여도 기준)을 추출하여 판단 근거와 함께 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5E5A"/>
                </a:solidFill>
                <a:latin typeface="Malgun Gothic"/>
              </a:defRPr>
            </a:pPr>
            <a:r>
              <a:t>MBTI 성향 분석 — 채점 안정성 실험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222D2C"/>
                </a:solidFill>
                <a:latin typeface="Malgun Gothic"/>
              </a:defRPr>
            </a:pPr>
            <a:r>
              <a:t>최근 실험 결과 (v5 프롬프트)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실험 설계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총 50회 반복 실행을 통해 동일 데이터셋에 대한 채점 및 판정 일관성 검증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최종 MBTI 판정 안정률 100% 달성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50회 실행 모두 동일한 성향 유형(`ISFP`)으로 흔들림 없이 판정 성공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축별 표준편차 평균 0.082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모든 축의 평균 점수 표준편차가 주의 기준(0.15)을 밑돌아 실사용 가능한 안정성 확보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축별 분석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SN 축이 표준편차 0.0337로 가장 안정적이며, 가장 변동이 큰 IE 축(0.1170)도 경향성 변화 없이 안정 판정됨</a:t>
            </a:r>
          </a:p>
        </p:txBody>
      </p:sp>
      <p:pic>
        <p:nvPicPr>
          <p:cNvPr id="4" name="Picture 3" descr="mbti_persona_lates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325880"/>
            <a:ext cx="42062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5E5A"/>
                </a:solidFill>
                <a:latin typeface="Malgun Gothic"/>
              </a:defRPr>
            </a:pPr>
            <a:r>
              <a:t>MBTI 성향 분석 — 현재 구현 정도 및 향후 계획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25880"/>
            <a:ext cx="402336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222D2C"/>
                </a:solidFill>
                <a:latin typeface="Malgun Gothic"/>
              </a:defRPr>
            </a:pPr>
            <a:r>
              <a:t>향후 계획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멀티에이전트 채점 도입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단일 LLM의 일관성 문제를 극복하기 위해 다수결 앙상블(Triple Majority) 및 Supervisor 채점 방식 전면 도입 검토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취향 분석 기능 통합 여부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월간 추정 MBTI와 일반 대화에서 추출한 관심사/취향 키워드 집계 결과의 통합 여부는 추후 검토 예정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점수화 검증 로직 개선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데이터 신뢰도 강화를 위해 무관한 답변 필터링 검증 고도화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325880"/>
            <a:ext cx="4023360" cy="3657600"/>
          </a:xfrm>
          <a:prstGeom prst="roundRect">
            <a:avLst/>
          </a:prstGeom>
          <a:solidFill>
            <a:srgbClr val="EDF4F2"/>
          </a:solidFill>
          <a:ln w="19050">
            <a:solidFill>
              <a:srgbClr val="3E8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222D2C"/>
                </a:solidFill>
                <a:latin typeface="Malgun Gothic"/>
              </a:defRPr>
            </a:pPr>
            <a:r>
              <a:t>현재 구현 완료된 주요 프로세스 (구현도)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성향 답변 수집 및 점수화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챗봇 MBTI Q&amp;A 데이터 선별 및 Likert 5점 척도 기반 점수화 프로세스 구축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월간 배치 집계 파이프라인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유효 응답 조건 검사 및 선호 지표 비율 평균 산출 배치 자동화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222D2C"/>
                </a:solidFill>
                <a:latin typeface="Malgun Gothic"/>
              </a:rPr>
              <a:t>• 결과 분석 및 대표 답변 매핑</a:t>
            </a:r>
            <a:r>
              <a:rPr b="0" sz="1050">
                <a:solidFill>
                  <a:srgbClr val="5A6B69"/>
                </a:solidFill>
                <a:latin typeface="Malgun Gothic"/>
              </a:rPr>
              <a:t>: 전월 추정 결과 비교 및 기여도(Impact Score) 기준 대표 답변 매핑, 대시보드 API용 페이로드 연동 완료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</ep:Words>
  <ep:PresentationFormat/>
  <ep:Paragraphs>0</ep:Paragraphs>
  <ep:Slides>78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78</vt:i4>
      </vt:variant>
    </vt:vector>
  </ep:HeadingPairs>
  <ep:TitlesOfParts>
    <vt:vector size="80" baseType="lpstr">
      <vt:lpstr>Simple Light</vt:lpstr>
      <vt:lpstr>Simple Light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목적 및 기대효과</vt:lpstr>
      <vt:lpstr>효과 근거 — 대화만으로도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서비스 기능 정의 ② — 마이페이지 · 마음리포트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슬라이드 48</vt:lpstr>
      <vt:lpstr>슬라이드 49</vt:lpstr>
      <vt:lpstr>슬라이드 50</vt:lpstr>
      <vt:lpstr>슬라이드 51</vt:lpstr>
      <vt:lpstr>슬라이드 52</vt:lpstr>
      <vt:lpstr>슬라이드 53</vt:lpstr>
      <vt:lpstr>슬라이드 54</vt:lpstr>
      <vt:lpstr>슬라이드 55</vt:lpstr>
      <vt:lpstr>슬라이드 56</vt:lpstr>
      <vt:lpstr>슬라이드 57</vt:lpstr>
      <vt:lpstr>슬라이드 58</vt:lpstr>
      <vt:lpstr>슬라이드 59</vt:lpstr>
      <vt:lpstr>슬라이드 60</vt:lpstr>
      <vt:lpstr>슬라이드 61</vt:lpstr>
      <vt:lpstr>슬라이드 62</vt:lpstr>
      <vt:lpstr>슬라이드 63</vt:lpstr>
      <vt:lpstr>슬라이드 64</vt:lpstr>
      <vt:lpstr>슬라이드 65</vt:lpstr>
      <vt:lpstr>슬라이드 66</vt:lpstr>
      <vt:lpstr>슬라이드 67</vt:lpstr>
      <vt:lpstr>슬라이드 68</vt:lpstr>
      <vt:lpstr>슬라이드 69</vt:lpstr>
      <vt:lpstr>슬라이드 70</vt:lpstr>
      <vt:lpstr>슬라이드 71</vt:lpstr>
      <vt:lpstr>슬라이드 72</vt:lpstr>
      <vt:lpstr>슬라이드 73</vt:lpstr>
      <vt:lpstr>슬라이드 74</vt:lpstr>
      <vt:lpstr>슬라이드 75</vt:lpstr>
      <vt:lpstr>슬라이드 76</vt:lpstr>
      <vt:lpstr>슬라이드 77</vt:lpstr>
      <vt:lpstr>슬라이드 78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Playdata</cp:lastModifiedBy>
  <dcterms:modified xsi:type="dcterms:W3CDTF">2026-07-07T01:56:14.093</dcterms:modified>
  <cp:revision>1</cp:revision>
  <cp:version/>
</cp:coreProperties>
</file>