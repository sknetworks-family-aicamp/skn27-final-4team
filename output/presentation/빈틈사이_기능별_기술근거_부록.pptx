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d46db7fc96504e98" /><Relationship Type="http://schemas.openxmlformats.org/officeDocument/2006/relationships/extended-properties" Target="/docProps/app.xml" Id="R33d7fc1de0e54a03" /><Relationship Type="http://schemas.openxmlformats.org/officeDocument/2006/relationships/officeDocument" Target="/ppt/presentation.xml" Id="R9a0f34e81213400b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658f76ff8ba44e32"/>
  </p:sldMasterIdLst>
  <p:notesMasterIdLst>
    <p:notesMasterId xmlns:r="http://schemas.openxmlformats.org/officeDocument/2006/relationships" r:id="R3114e1f060554976"/>
  </p:notesMasterIdLst>
  <p:sldIdLst>
    <p:sldId xmlns:r="http://schemas.openxmlformats.org/officeDocument/2006/relationships" id="256" r:id="Rbda29462f0fe454c"/>
    <p:sldId xmlns:r="http://schemas.openxmlformats.org/officeDocument/2006/relationships" id="257" r:id="R30aab522f2d4408b"/>
    <p:sldId xmlns:r="http://schemas.openxmlformats.org/officeDocument/2006/relationships" id="258" r:id="R37d409ec7a16434a"/>
    <p:sldId xmlns:r="http://schemas.openxmlformats.org/officeDocument/2006/relationships" id="259" r:id="Rbd2bfa63a66549a6"/>
    <p:sldId xmlns:r="http://schemas.openxmlformats.org/officeDocument/2006/relationships" id="260" r:id="R34e562e1439e4f2a"/>
    <p:sldId xmlns:r="http://schemas.openxmlformats.org/officeDocument/2006/relationships" id="261" r:id="R871b845aac4f4fd1"/>
    <p:sldId xmlns:r="http://schemas.openxmlformats.org/officeDocument/2006/relationships" id="262" r:id="R542474f612444875"/>
    <p:sldId xmlns:r="http://schemas.openxmlformats.org/officeDocument/2006/relationships" id="263" r:id="Rb58dd8fe631c4b22"/>
    <p:sldId xmlns:r="http://schemas.openxmlformats.org/officeDocument/2006/relationships" id="264" r:id="R7d9d098d34844fd0"/>
    <p:sldId xmlns:r="http://schemas.openxmlformats.org/officeDocument/2006/relationships" id="265" r:id="R931a8fbdad314c05"/>
    <p:sldId xmlns:r="http://schemas.openxmlformats.org/officeDocument/2006/relationships" id="266" r:id="R43b5ffbbf398497a"/>
  </p:sldIdLst>
  <p:sldSz cx="13716000" cy="771525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db135e706f404076" /><Relationship Type="http://schemas.openxmlformats.org/officeDocument/2006/relationships/slideMaster" Target="/ppt/slideMasters/slideMaster1.xml" Id="R658f76ff8ba44e32" /><Relationship Type="http://schemas.openxmlformats.org/officeDocument/2006/relationships/notesMaster" Target="/ppt/notesMasters/notesMaster1.xml" Id="R3114e1f060554976" /><Relationship Type="http://schemas.openxmlformats.org/officeDocument/2006/relationships/presProps" Target="/ppt/presProps.xml" Id="Re07a839d26164053" /><Relationship Type="http://schemas.openxmlformats.org/officeDocument/2006/relationships/tableStyles" Target="/ppt/tableStyles.xml" Id="Rbe2c0d68e74b4758" /><Relationship Type="http://schemas.openxmlformats.org/officeDocument/2006/relationships/slide" Target="/ppt/slides/slide1.xml" Id="Rbda29462f0fe454c" /><Relationship Type="http://schemas.openxmlformats.org/officeDocument/2006/relationships/slide" Target="/ppt/slides/slide2.xml" Id="R30aab522f2d4408b" /><Relationship Type="http://schemas.openxmlformats.org/officeDocument/2006/relationships/slide" Target="/ppt/slides/slide3.xml" Id="R37d409ec7a16434a" /><Relationship Type="http://schemas.openxmlformats.org/officeDocument/2006/relationships/slide" Target="/ppt/slides/slide4.xml" Id="Rbd2bfa63a66549a6" /><Relationship Type="http://schemas.openxmlformats.org/officeDocument/2006/relationships/slide" Target="/ppt/slides/slide5.xml" Id="R34e562e1439e4f2a" /><Relationship Type="http://schemas.openxmlformats.org/officeDocument/2006/relationships/slide" Target="/ppt/slides/slide6.xml" Id="R871b845aac4f4fd1" /><Relationship Type="http://schemas.openxmlformats.org/officeDocument/2006/relationships/slide" Target="/ppt/slides/slide7.xml" Id="R542474f612444875" /><Relationship Type="http://schemas.openxmlformats.org/officeDocument/2006/relationships/slide" Target="/ppt/slides/slide8.xml" Id="Rb58dd8fe631c4b22" /><Relationship Type="http://schemas.openxmlformats.org/officeDocument/2006/relationships/slide" Target="/ppt/slides/slide9.xml" Id="R7d9d098d34844fd0" /><Relationship Type="http://schemas.openxmlformats.org/officeDocument/2006/relationships/slide" Target="/ppt/slides/slide10.xml" Id="R931a8fbdad314c05" /><Relationship Type="http://schemas.openxmlformats.org/officeDocument/2006/relationships/slide" Target="/ppt/slides/slide11.xml" Id="R43b5ffbbf398497a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7163752a6c404e8f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8171ac87855d4f31" /><Relationship Type="http://schemas.openxmlformats.org/officeDocument/2006/relationships/notesMaster" Target="/ppt/notesMasters/notesMaster1.xml" Id="Rff40023520cd4548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bab62e1750144834" /><Relationship Type="http://schemas.openxmlformats.org/officeDocument/2006/relationships/notesMaster" Target="/ppt/notesMasters/notesMaster1.xml" Id="R6e45ba783c7f4108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7db1f52c99a046af" /><Relationship Type="http://schemas.openxmlformats.org/officeDocument/2006/relationships/notesMaster" Target="/ppt/notesMasters/notesMaster1.xml" Id="R0872f1b2a629402c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5e0dbab5d3ec4323" /><Relationship Type="http://schemas.openxmlformats.org/officeDocument/2006/relationships/notesMaster" Target="/ppt/notesMasters/notesMaster1.xml" Id="R9dec631a6f0c40ea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229332b5edd744b2" /><Relationship Type="http://schemas.openxmlformats.org/officeDocument/2006/relationships/notesMaster" Target="/ppt/notesMasters/notesMaster1.xml" Id="Rc8f52b626d5f4bc8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d1a140e2eeb549f6" /><Relationship Type="http://schemas.openxmlformats.org/officeDocument/2006/relationships/notesMaster" Target="/ppt/notesMasters/notesMaster1.xml" Id="Ra9e9974c4c824108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76c231fa8a664d98" /><Relationship Type="http://schemas.openxmlformats.org/officeDocument/2006/relationships/notesMaster" Target="/ppt/notesMasters/notesMaster1.xml" Id="Rb1ba22e337bb4bdd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5a546a7326d542c4" /><Relationship Type="http://schemas.openxmlformats.org/officeDocument/2006/relationships/notesMaster" Target="/ppt/notesMasters/notesMaster1.xml" Id="R87979990620e43e7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11c674e11b704e8d" /><Relationship Type="http://schemas.openxmlformats.org/officeDocument/2006/relationships/notesMaster" Target="/ppt/notesMasters/notesMaster1.xml" Id="R15aeefd4dad84d9a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e36d680128e64494" /><Relationship Type="http://schemas.openxmlformats.org/officeDocument/2006/relationships/notesMaster" Target="/ppt/notesMasters/notesMaster1.xml" Id="Rdd4b3e8541504ccc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9c1168d3144b41ea" /><Relationship Type="http://schemas.openxmlformats.org/officeDocument/2006/relationships/notesMaster" Target="/ppt/notesMasters/notesMaster1.xml" Id="R04ab6da5634146df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docs/한재웅/부록 적용/mindreport_langgraph_flow.md</a:t>
            </a:r>
          </a:p>
          <a:p xmlns:a="http://schemas.openxmlformats.org/drawingml/2006/main">
            <a:r>
              <a:t>- app/backend/mindreport/services/graph_flow.py</a:t>
            </a:r>
          </a:p>
          <a:p xmlns:a="http://schemas.openxmlformats.org/drawingml/2006/main">
            <a:r>
              <a:t>- app/backend/mindreport/services/validation_agent.py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app/backend/mindreport/constants.py</a:t>
            </a:r>
          </a:p>
          <a:p xmlns:a="http://schemas.openxmlformats.org/drawingml/2006/main">
            <a:r>
              <a:t>- app/backend/mindreport/services/scoring.py</a:t>
            </a:r>
          </a:p>
          <a:p xmlns:a="http://schemas.openxmlformats.org/drawingml/2006/main">
            <a:r>
              <a:t>- app/backend/mindreport/services/emotion_flow.py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app/backend/mindreport/services/cause_keyword_agent.py</a:t>
            </a:r>
          </a:p>
          <a:p xmlns:a="http://schemas.openxmlformats.org/drawingml/2006/main">
            <a:r>
              <a:t>- app/backend/mindreport/services/narrative_action_agent.py</a:t>
            </a:r>
          </a:p>
          <a:p xmlns:a="http://schemas.openxmlformats.org/drawingml/2006/main">
            <a:r>
              <a:t>- app/backend/mindreport/services/validation_agent.py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app/backend/chat/views.py</a:t>
            </a:r>
          </a:p>
          <a:p xmlns:a="http://schemas.openxmlformats.org/drawingml/2006/main">
            <a:r>
              <a:t>- ai/agents/mbti.py</a:t>
            </a:r>
          </a:p>
          <a:p xmlns:a="http://schemas.openxmlformats.org/drawingml/2006/main">
            <a:r>
              <a:t>- ai/agents/nodes.py</a:t>
            </a:r>
          </a:p>
          <a:p xmlns:a="http://schemas.openxmlformats.org/drawingml/2006/main">
            <a:r>
              <a:t>- app/backend/mbti/services/reports.py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app/backend/mbti/services/opening_rules.py</a:t>
            </a:r>
          </a:p>
          <a:p xmlns:a="http://schemas.openxmlformats.org/drawingml/2006/main">
            <a:r>
              <a:t>- app/backend/mbti/services/response_scoring.py</a:t>
            </a:r>
          </a:p>
          <a:p xmlns:a="http://schemas.openxmlformats.org/drawingml/2006/main">
            <a:r>
              <a:t>- app/backend/mbti/services/graph_scores.py</a:t>
            </a:r>
          </a:p>
          <a:p xmlns:a="http://schemas.openxmlformats.org/drawingml/2006/main">
            <a:r>
              <a:t>- app/backend/mbti/services/monthly_results.py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app/backend/mbti/constants.py</a:t>
            </a:r>
          </a:p>
          <a:p xmlns:a="http://schemas.openxmlformats.org/drawingml/2006/main">
            <a:r>
              <a:t>- app/backend/mbti/services/response_scoring.py</a:t>
            </a:r>
          </a:p>
          <a:p xmlns:a="http://schemas.openxmlformats.org/drawingml/2006/main">
            <a:r>
              <a:t>- app/backend/mbti/services/graph_scores.py</a:t>
            </a:r>
          </a:p>
          <a:p xmlns:a="http://schemas.openxmlformats.org/drawingml/2006/main">
            <a:r>
              <a:t>- app/backend/mbti/services/reports.py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app/backend/mybook/agent.py</a:t>
            </a:r>
          </a:p>
          <a:p xmlns:a="http://schemas.openxmlformats.org/drawingml/2006/main">
            <a:r>
              <a:t>- app/backend/mybook/constants.py</a:t>
            </a:r>
          </a:p>
          <a:p xmlns:a="http://schemas.openxmlformats.org/drawingml/2006/main">
            <a:r>
              <a:t>- app/backend/mybook/services/profile_service.py</a:t>
            </a:r>
          </a:p>
          <a:p xmlns:a="http://schemas.openxmlformats.org/drawingml/2006/main">
            <a:r>
              <a:t>- app/backend/mybook/services/recommendation_service.py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app/backend/mybook/agent.py</a:t>
            </a:r>
          </a:p>
          <a:p xmlns:a="http://schemas.openxmlformats.org/drawingml/2006/main">
            <a:r>
              <a:t>- app/backend/mybook/constants.py</a:t>
            </a:r>
          </a:p>
          <a:p xmlns:a="http://schemas.openxmlformats.org/drawingml/2006/main">
            <a:r>
              <a:t>- app/backend/mybook/services/ranking_service.py</a:t>
            </a:r>
          </a:p>
          <a:p xmlns:a="http://schemas.openxmlformats.org/drawingml/2006/main">
            <a:r>
              <a:t>- app/backend/mybook/services/recommendation_service.py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app/backend/mybook/agent.py</a:t>
            </a:r>
          </a:p>
          <a:p xmlns:a="http://schemas.openxmlformats.org/drawingml/2006/main">
            <a:r>
              <a:t>- app/backend/mybook/services/ranking_service.py</a:t>
            </a:r>
          </a:p>
          <a:p xmlns:a="http://schemas.openxmlformats.org/drawingml/2006/main">
            <a:r>
              <a:t>- app/backend/mybook/services/recommendation_service.py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app/backend/myweather/agent.py</a:t>
            </a:r>
          </a:p>
          <a:p xmlns:a="http://schemas.openxmlformats.org/drawingml/2006/main">
            <a:r>
              <a:t>- app/backend/myweather/services.py</a:t>
            </a:r>
          </a:p>
          <a:p xmlns:a="http://schemas.openxmlformats.org/drawingml/2006/main">
            <a:r>
              <a:t>- app/backend/myweather/service/weather_index_service.py</a:t>
            </a:r>
          </a:p>
          <a:p xmlns:a="http://schemas.openxmlformats.org/drawingml/2006/main">
            <a:r>
              <a:t>- app/backend/myweather/service/user_profile_service.py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app/backend/myweather/agent.py</a:t>
            </a:r>
          </a:p>
          <a:p xmlns:a="http://schemas.openxmlformats.org/drawingml/2006/main">
            <a:r>
              <a:t>- app/backend/myweather/services.py</a:t>
            </a:r>
          </a:p>
          <a:p xmlns:a="http://schemas.openxmlformats.org/drawingml/2006/main">
            <a:r>
              <a:t>- app/backend/myweather/service/region_service.py</a:t>
            </a:r>
          </a:p>
          <a:p xmlns:a="http://schemas.openxmlformats.org/drawingml/2006/main">
            <a:r>
              <a:t>- app/backend/myweather/service/weather_index_service.py</a:t>
            </a:r>
          </a:p>
          <a:p xmlns:a="http://schemas.openxmlformats.org/drawingml/2006/main">
            <a:r>
              <a:t>- app/backend/myweather/service/insight_cache_service.py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821df3f206f4889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6ecf0467f6734169" /><Relationship Type="http://schemas.openxmlformats.org/officeDocument/2006/relationships/slideLayout" Target="/ppt/slideLayouts/slideLayout1.xml" Id="R61feb55a20204053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61feb55a20204053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36d3d0225ee4800" /><Relationship Type="http://schemas.openxmlformats.org/officeDocument/2006/relationships/notesSlide" Target="/ppt/notesSlides/notesSlide1.xml" Id="R550343627724492f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09a2d9c5e5f491f" /><Relationship Type="http://schemas.openxmlformats.org/officeDocument/2006/relationships/notesSlide" Target="/ppt/notesSlides/notesSlide2.xml" Id="R72d615b24d2d43d4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f8af581ccf74b39" /><Relationship Type="http://schemas.openxmlformats.org/officeDocument/2006/relationships/notesSlide" Target="/ppt/notesSlides/notesSlide3.xml" Id="Rfd9925e6593843da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1c67d26ecf849bc" /><Relationship Type="http://schemas.openxmlformats.org/officeDocument/2006/relationships/notesSlide" Target="/ppt/notesSlides/notesSlide4.xml" Id="R7e6a99c81acb4141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2e945ee915341b8" /><Relationship Type="http://schemas.openxmlformats.org/officeDocument/2006/relationships/notesSlide" Target="/ppt/notesSlides/notesSlide5.xml" Id="R66210f8952d240d6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29ac8a97a664e9a" /><Relationship Type="http://schemas.openxmlformats.org/officeDocument/2006/relationships/notesSlide" Target="/ppt/notesSlides/notesSlide6.xml" Id="R0dca76bd23f04eb3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8f437523f614a40" /><Relationship Type="http://schemas.openxmlformats.org/officeDocument/2006/relationships/notesSlide" Target="/ppt/notesSlides/notesSlide7.xml" Id="Rf260359ba5e04941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894d678563e4f0f" /><Relationship Type="http://schemas.openxmlformats.org/officeDocument/2006/relationships/notesSlide" Target="/ppt/notesSlides/notesSlide8.xml" Id="Ra69447bdbcea4297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c272a7161ac448b" /><Relationship Type="http://schemas.openxmlformats.org/officeDocument/2006/relationships/notesSlide" Target="/ppt/notesSlides/notesSlide9.xml" Id="Re6605263f278413e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9778130c82745d0" /><Relationship Type="http://schemas.openxmlformats.org/officeDocument/2006/relationships/notesSlide" Target="/ppt/notesSlides/notesSlide10.xml" Id="R46490ff8f56f46ee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a571598dc6941ff" /><Relationship Type="http://schemas.openxmlformats.org/officeDocument/2006/relationships/notesSlide" Target="/ppt/notesSlides/notesSlide11.xml" Id="R9dec71e3f539491a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21102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F4BD01F7-7058-4914-8201-536BDCDC4B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590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1">
                <a:solidFill>
                  <a:srgbClr val="FF7D78"/>
                </a:solidFill>
                <a:latin typeface="Noto Sans KR"/>
                <a:ea typeface="Noto Sans KR"/>
                <a:cs typeface="Noto Sans KR"/>
              </a:defRPr>
            </a:pPr>
            <a:r>
              <a:rPr sz="1350" b="1">
                <a:solidFill>
                  <a:srgbClr val="FF7D78"/>
                </a:solidFill>
                <a:latin typeface="Noto Sans KR"/>
                <a:ea typeface="Noto Sans KR"/>
                <a:cs typeface="Noto Sans KR"/>
              </a:rPr>
              <a:t>APPENDIX</a:t>
            </a:r>
            <a:r>
              <a:rPr sz="1350" b="1">
                <a:solidFill>
                  <a:srgbClr val="FF7D78"/>
                </a:solidFill>
                <a:latin typeface="Noto Sans KR"/>
                <a:ea typeface="Noto Sans KR"/>
                <a:cs typeface="Noto Sans KR"/>
              </a:rPr>
              <a:t> · 마음리포트 · 멀티에이전트 구조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9212981-70D2-47B3-A885-92E24F128D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23431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E5D6E1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DD74E36-D39E-4DAB-A7AC-64E0FE8538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0375" y="68580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5D6E1"/>
          </a:solidFill>
          <a:ln xmlns:a="http://schemas.openxmlformats.org/drawingml/2006/main" w="0">
            <a:solidFill>
              <a:srgbClr val="E5D6E1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35522B7-B5D2-4E7E-804D-95659F08CE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95350"/>
            <a:ext cx="123444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98765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3375" b="1">
                <a:solidFill>
                  <a:srgbClr val="FFF5EA"/>
                </a:solidFill>
                <a:latin typeface="Noto Sans KR"/>
                <a:ea typeface="Noto Sans KR"/>
                <a:cs typeface="Noto Sans KR"/>
              </a:defRPr>
            </a:pPr>
            <a:r>
              <a:rPr sz="3375" b="1">
                <a:solidFill>
                  <a:srgbClr val="FFF5EA"/>
                </a:solidFill>
                <a:latin typeface="Noto Sans KR"/>
                <a:ea typeface="Noto Sans KR"/>
                <a:cs typeface="Noto Sans KR"/>
              </a:rPr>
              <a:t>마음리포트의 멀티에이전트 구성과 실행 흐름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16CDB82-EA05-49B7-AB43-A8649AF1A4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514475"/>
            <a:ext cx="122682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500" b="0">
                <a:solidFill>
                  <a:srgbClr val="BFAABD"/>
                </a:solidFill>
                <a:latin typeface="Noto Sans KR"/>
                <a:ea typeface="Noto Sans KR"/>
                <a:cs typeface="Noto Sans KR"/>
              </a:defRPr>
            </a:pPr>
            <a:r>
              <a:rPr sz="1500" b="0">
                <a:solidFill>
                  <a:srgbClr val="BFAABD"/>
                </a:solidFill>
                <a:latin typeface="Noto Sans KR"/>
                <a:ea typeface="Noto Sans KR"/>
                <a:cs typeface="Noto Sans KR"/>
              </a:rPr>
              <a:t>LangGraph가 하나의 State를 공유하며 분석·생성·검증을 순차적으로 오케스트레이션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A5A9044-ACC8-4552-BEA1-E162809D77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38350"/>
            <a:ext cx="7962900" cy="5010150"/>
          </a:xfrm>
          <a:prstGeom xmlns:a="http://schemas.openxmlformats.org/drawingml/2006/main" prst="roundRect">
            <a:avLst>
              <a:gd name="adj" fmla="val 2281"/>
            </a:avLst>
          </a:prstGeom>
          <a:solidFill xmlns:a="http://schemas.openxmlformats.org/drawingml/2006/main">
            <a:srgbClr val="2A1432"/>
          </a:solidFill>
          <a:ln xmlns:a="http://schemas.openxmlformats.org/drawingml/2006/main" w="19050">
            <a:solidFill>
              <a:srgbClr val="FF7D78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F63FC9D-7641-48D0-BB75-DC88C84503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171700"/>
            <a:ext cx="7543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725" b="1">
                <a:solidFill>
                  <a:srgbClr val="FF7D78"/>
                </a:solidFill>
                <a:latin typeface="Noto Sans KR"/>
                <a:ea typeface="Noto Sans KR"/>
                <a:cs typeface="Noto Sans KR"/>
              </a:defRPr>
            </a:pPr>
            <a:r>
              <a:rPr sz="1725" b="1">
                <a:solidFill>
                  <a:srgbClr val="FF7D78"/>
                </a:solidFill>
                <a:latin typeface="Noto Sans KR"/>
                <a:ea typeface="Noto Sans KR"/>
                <a:cs typeface="Noto Sans KR"/>
              </a:rPr>
              <a:t>LangGraph 실행 흐름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D50E141-D107-47B9-BDB5-5AC5612112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571750"/>
            <a:ext cx="7543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FF7D7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14D606F-8EB6-4B3D-AD04-ADF190F54C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3619500"/>
            <a:ext cx="304800" cy="171450"/>
          </a:xfrm>
          <a:prstGeom xmlns:a="http://schemas.openxmlformats.org/drawingml/2006/main" prst="downArrow">
            <a:avLst/>
          </a:prstGeom>
          <a:solidFill xmlns:a="http://schemas.openxmlformats.org/drawingml/2006/main">
            <a:srgbClr val="FF7D78"/>
          </a:solidFill>
          <a:ln xmlns:a="http://schemas.openxmlformats.org/drawingml/2006/main" w="0">
            <a:solidFill>
              <a:srgbClr val="FF7D78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F59B4E4-87E7-4A0F-A6B0-51D71402B2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4267200"/>
            <a:ext cx="304800" cy="171450"/>
          </a:xfrm>
          <a:prstGeom xmlns:a="http://schemas.openxmlformats.org/drawingml/2006/main" prst="downArrow">
            <a:avLst/>
          </a:prstGeom>
          <a:solidFill xmlns:a="http://schemas.openxmlformats.org/drawingml/2006/main">
            <a:srgbClr val="FF7D78"/>
          </a:solidFill>
          <a:ln xmlns:a="http://schemas.openxmlformats.org/drawingml/2006/main" w="0">
            <a:solidFill>
              <a:srgbClr val="FF7D7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5C5716A-702A-4CFF-9A37-03A271F4A4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4914900"/>
            <a:ext cx="304800" cy="171450"/>
          </a:xfrm>
          <a:prstGeom xmlns:a="http://schemas.openxmlformats.org/drawingml/2006/main" prst="downArrow">
            <a:avLst/>
          </a:prstGeom>
          <a:solidFill xmlns:a="http://schemas.openxmlformats.org/drawingml/2006/main">
            <a:srgbClr val="FF7D78"/>
          </a:solidFill>
          <a:ln xmlns:a="http://schemas.openxmlformats.org/drawingml/2006/main" w="0">
            <a:solidFill>
              <a:srgbClr val="FF7D78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574C512-3646-4AB9-AA8C-3793BF7114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5562600"/>
            <a:ext cx="304800" cy="171450"/>
          </a:xfrm>
          <a:prstGeom xmlns:a="http://schemas.openxmlformats.org/drawingml/2006/main" prst="downArrow">
            <a:avLst/>
          </a:prstGeom>
          <a:solidFill xmlns:a="http://schemas.openxmlformats.org/drawingml/2006/main">
            <a:srgbClr val="FF7D78"/>
          </a:solidFill>
          <a:ln xmlns:a="http://schemas.openxmlformats.org/drawingml/2006/main" w="0">
            <a:solidFill>
              <a:srgbClr val="FF7D78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376042A-DF5D-4BA8-9EC9-BC074060E6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6210300"/>
            <a:ext cx="304800" cy="209550"/>
          </a:xfrm>
          <a:prstGeom xmlns:a="http://schemas.openxmlformats.org/drawingml/2006/main" prst="downArrow">
            <a:avLst/>
          </a:prstGeom>
          <a:solidFill xmlns:a="http://schemas.openxmlformats.org/drawingml/2006/main">
            <a:srgbClr val="FF7D78"/>
          </a:solidFill>
          <a:ln xmlns:a="http://schemas.openxmlformats.org/drawingml/2006/main" w="0">
            <a:solidFill>
              <a:srgbClr val="FF7D78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42AF3A7-C41C-4043-A1BD-8E755B2639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5810250"/>
            <a:ext cx="323850" cy="1905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FF7D78"/>
          </a:solidFill>
          <a:ln xmlns:a="http://schemas.openxmlformats.org/drawingml/2006/main" w="0">
            <a:solidFill>
              <a:srgbClr val="FF7D78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82AFC9D-BB2F-433C-A388-A35A1D229B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6229350"/>
            <a:ext cx="323850" cy="1905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FF7D78"/>
          </a:solidFill>
          <a:ln xmlns:a="http://schemas.openxmlformats.org/drawingml/2006/main" w="0">
            <a:solidFill>
              <a:srgbClr val="FF7D78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9D1129F-AF42-4791-BA26-2F82ABE2DC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6648450"/>
            <a:ext cx="323850" cy="1905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FF7D78"/>
          </a:solidFill>
          <a:ln xmlns:a="http://schemas.openxmlformats.org/drawingml/2006/main" w="0">
            <a:solidFill>
              <a:srgbClr val="FF7D78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681B339-C80C-459B-9DB2-D286EA543A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086100"/>
            <a:ext cx="4953000" cy="5334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FFF5EA"/>
          </a:solidFill>
          <a:ln xmlns:a="http://schemas.openxmlformats.org/drawingml/2006/main" w="14288">
            <a:solidFill>
              <a:srgbClr val="FF7D78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9DB8BED-8698-439A-8E19-3EA0E76988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086100"/>
            <a:ext cx="85725" cy="5334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7D78"/>
          </a:solidFill>
          <a:ln xmlns:a="http://schemas.openxmlformats.org/drawingml/2006/main" w="0">
            <a:solidFill>
              <a:srgbClr val="FF7D78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E5044F4-E53D-449A-9370-86D8827B25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3143250"/>
            <a:ext cx="46291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8818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1">
                <a:solidFill>
                  <a:srgbClr val="2B1830"/>
                </a:solidFill>
                <a:latin typeface="Noto Sans KR"/>
                <a:ea typeface="Noto Sans KR"/>
                <a:cs typeface="Noto Sans KR"/>
              </a:defRPr>
            </a:pPr>
            <a:r>
              <a:rPr sz="1350" b="1">
                <a:solidFill>
                  <a:srgbClr val="2B1830"/>
                </a:solidFill>
                <a:latin typeface="Noto Sans KR"/>
                <a:ea typeface="Noto Sans KR"/>
                <a:cs typeface="Noto Sans KR"/>
              </a:rPr>
              <a:t>기준 에이전트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2C48F4E-4E69-44CC-A78E-435EE85047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3371850"/>
            <a:ext cx="4629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91912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200" b="0">
                <a:solidFill>
                  <a:srgbClr val="2B1830"/>
                </a:solidFill>
                <a:latin typeface="Noto Sans KR"/>
                <a:ea typeface="Noto Sans KR"/>
                <a:cs typeface="Noto Sans KR"/>
              </a:defRPr>
            </a:pPr>
            <a:r>
              <a:rPr sz="1200" b="0">
                <a:solidFill>
                  <a:srgbClr val="2B1830"/>
                </a:solidFill>
                <a:latin typeface="Noto Sans KR"/>
                <a:ea typeface="Noto Sans KR"/>
                <a:cs typeface="Noto Sans KR"/>
              </a:rPr>
              <a:t>collect_and_check_criteria · 사용자 발화만 수집, 주간 5개/월간 20개 확인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4933A48-E951-4E9A-9B07-52D56327A9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733800"/>
            <a:ext cx="4953000" cy="5334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FFF5EA"/>
          </a:solidFill>
          <a:ln xmlns:a="http://schemas.openxmlformats.org/drawingml/2006/main" w="14288">
            <a:solidFill>
              <a:srgbClr val="FF7D78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5B9001A-474F-4D33-BD07-6BAEAEDABA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733800"/>
            <a:ext cx="85725" cy="5334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7D78"/>
          </a:solidFill>
          <a:ln xmlns:a="http://schemas.openxmlformats.org/drawingml/2006/main" w="0">
            <a:solidFill>
              <a:srgbClr val="FF7D78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1DBE1B1-4276-43E6-B4C1-B2A1BB63EA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3790950"/>
            <a:ext cx="46291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8818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1">
                <a:solidFill>
                  <a:srgbClr val="2B1830"/>
                </a:solidFill>
                <a:latin typeface="Noto Sans KR"/>
                <a:ea typeface="Noto Sans KR"/>
                <a:cs typeface="Noto Sans KR"/>
              </a:defRPr>
            </a:pPr>
            <a:r>
              <a:rPr sz="1350" b="1">
                <a:solidFill>
                  <a:srgbClr val="2B1830"/>
                </a:solidFill>
                <a:latin typeface="Noto Sans KR"/>
                <a:ea typeface="Noto Sans KR"/>
                <a:cs typeface="Noto Sans KR"/>
              </a:rPr>
              <a:t>감정 에이전트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6B3CD4E-E52A-456D-92CD-EE930215AE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4019550"/>
            <a:ext cx="4629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88559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200" b="0">
                <a:solidFill>
                  <a:srgbClr val="2B1830"/>
                </a:solidFill>
                <a:latin typeface="Noto Sans KR"/>
                <a:ea typeface="Noto Sans KR"/>
                <a:cs typeface="Noto Sans KR"/>
              </a:defRPr>
            </a:pPr>
            <a:r>
              <a:rPr sz="1200" b="0">
                <a:solidFill>
                  <a:srgbClr val="2B1830"/>
                </a:solidFill>
                <a:latin typeface="Noto Sans KR"/>
                <a:ea typeface="Noto Sans KR"/>
                <a:cs typeface="Noto Sans KR"/>
              </a:rPr>
              <a:t>score_and_analyze_emotion · KcELECTRA 확률을 일별 점수와 흐름으로 변환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E75815A-5A1E-49B2-8859-F3E6884673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4381500"/>
            <a:ext cx="4953000" cy="5334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FFF5EA"/>
          </a:solidFill>
          <a:ln xmlns:a="http://schemas.openxmlformats.org/drawingml/2006/main" w="14288">
            <a:solidFill>
              <a:srgbClr val="FF7D78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A0AF492-4031-43DC-B9C0-4FD0217248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4381500"/>
            <a:ext cx="85725" cy="5334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7D78"/>
          </a:solidFill>
          <a:ln xmlns:a="http://schemas.openxmlformats.org/drawingml/2006/main" w="0">
            <a:solidFill>
              <a:srgbClr val="FF7D78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9FA5EF9-F519-4553-AE51-BD4115BB4D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4438650"/>
            <a:ext cx="46291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8818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1">
                <a:solidFill>
                  <a:srgbClr val="2B1830"/>
                </a:solidFill>
                <a:latin typeface="Noto Sans KR"/>
                <a:ea typeface="Noto Sans KR"/>
                <a:cs typeface="Noto Sans KR"/>
              </a:defRPr>
            </a:pPr>
            <a:r>
              <a:rPr sz="1350" b="1">
                <a:solidFill>
                  <a:srgbClr val="2B1830"/>
                </a:solidFill>
                <a:latin typeface="Noto Sans KR"/>
                <a:ea typeface="Noto Sans KR"/>
                <a:cs typeface="Noto Sans KR"/>
              </a:rPr>
              <a:t>원인 에이전트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87AB3F6-60C3-447D-8EB3-A525CE24DB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4667250"/>
            <a:ext cx="4629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91912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200" b="0">
                <a:solidFill>
                  <a:srgbClr val="2B1830"/>
                </a:solidFill>
                <a:latin typeface="Noto Sans KR"/>
                <a:ea typeface="Noto Sans KR"/>
                <a:cs typeface="Noto Sans KR"/>
              </a:defRPr>
            </a:pPr>
            <a:r>
              <a:rPr sz="1200" b="0">
                <a:solidFill>
                  <a:srgbClr val="2B1830"/>
                </a:solidFill>
                <a:latin typeface="Noto Sans KR"/>
                <a:ea typeface="Noto Sans KR"/>
                <a:cs typeface="Noto Sans KR"/>
              </a:rPr>
              <a:t>extract_and_classify_causes · 후보 추출 후 원문 근거를 독립 재검토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DB275862-86C6-4645-965C-9EF54C43B9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5029200"/>
            <a:ext cx="4953000" cy="5334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FFF5EA"/>
          </a:solidFill>
          <a:ln xmlns:a="http://schemas.openxmlformats.org/drawingml/2006/main" w="14288">
            <a:solidFill>
              <a:srgbClr val="FF7D78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B6259171-2B4C-40DE-8D60-1B3713D852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5029200"/>
            <a:ext cx="85725" cy="5334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7D78"/>
          </a:solidFill>
          <a:ln xmlns:a="http://schemas.openxmlformats.org/drawingml/2006/main" w="0">
            <a:solidFill>
              <a:srgbClr val="FF7D78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C3117F15-497F-4781-9B0E-0D1CD567CB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5086350"/>
            <a:ext cx="46291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8818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1">
                <a:solidFill>
                  <a:srgbClr val="2B1830"/>
                </a:solidFill>
                <a:latin typeface="Noto Sans KR"/>
                <a:ea typeface="Noto Sans KR"/>
                <a:cs typeface="Noto Sans KR"/>
              </a:defRPr>
            </a:pPr>
            <a:r>
              <a:rPr sz="1350" b="1">
                <a:solidFill>
                  <a:srgbClr val="2B1830"/>
                </a:solidFill>
                <a:latin typeface="Noto Sans KR"/>
                <a:ea typeface="Noto Sans KR"/>
                <a:cs typeface="Noto Sans KR"/>
              </a:rPr>
              <a:t>서술 에이전트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B479A101-32F8-4D6C-BC61-465356C1C6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5314950"/>
            <a:ext cx="4629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91912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200" b="0">
                <a:solidFill>
                  <a:srgbClr val="2B1830"/>
                </a:solidFill>
                <a:latin typeface="Noto Sans KR"/>
                <a:ea typeface="Noto Sans KR"/>
                <a:cs typeface="Noto Sans KR"/>
              </a:defRPr>
            </a:pPr>
            <a:r>
              <a:rPr sz="1200" b="0">
                <a:solidFill>
                  <a:srgbClr val="2B1830"/>
                </a:solidFill>
                <a:latin typeface="Noto Sans KR"/>
                <a:ea typeface="Noto Sans KR"/>
                <a:cs typeface="Noto Sans KR"/>
              </a:rPr>
              <a:t>generate_narrative_and_actions · 검증된 근거로 분석과 실천 제안 생성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AACB63B6-00D3-485A-AD7E-BEAB94DB50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5676900"/>
            <a:ext cx="4953000" cy="5334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FFF5EA"/>
          </a:solidFill>
          <a:ln xmlns:a="http://schemas.openxmlformats.org/drawingml/2006/main" w="14288">
            <a:solidFill>
              <a:srgbClr val="FF7D78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0BCA7C66-2AF3-486A-A1CA-694C74E716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5676900"/>
            <a:ext cx="85725" cy="5334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7D78"/>
          </a:solidFill>
          <a:ln xmlns:a="http://schemas.openxmlformats.org/drawingml/2006/main" w="0">
            <a:solidFill>
              <a:srgbClr val="FF7D78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2BB24712-8AB5-4077-94A3-246B6387E7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5734050"/>
            <a:ext cx="46291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8818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1">
                <a:solidFill>
                  <a:srgbClr val="2B1830"/>
                </a:solidFill>
                <a:latin typeface="Noto Sans KR"/>
                <a:ea typeface="Noto Sans KR"/>
                <a:cs typeface="Noto Sans KR"/>
              </a:defRPr>
            </a:pPr>
            <a:r>
              <a:rPr sz="1350" b="1">
                <a:solidFill>
                  <a:srgbClr val="2B1830"/>
                </a:solidFill>
                <a:latin typeface="Noto Sans KR"/>
                <a:ea typeface="Noto Sans KR"/>
                <a:cs typeface="Noto Sans KR"/>
              </a:rPr>
              <a:t>검증 에이전트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CD244725-6DA8-4C2A-B6C2-268F9FF858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5962650"/>
            <a:ext cx="4629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91912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200" b="0">
                <a:solidFill>
                  <a:srgbClr val="2B1830"/>
                </a:solidFill>
                <a:latin typeface="Noto Sans KR"/>
                <a:ea typeface="Noto Sans KR"/>
                <a:cs typeface="Noto Sans KR"/>
              </a:defRPr>
            </a:pPr>
            <a:r>
              <a:rPr sz="1200" b="0">
                <a:solidFill>
                  <a:srgbClr val="2B1830"/>
                </a:solidFill>
                <a:latin typeface="Noto Sans KR"/>
                <a:ea typeface="Noto Sans KR"/>
                <a:cs typeface="Noto Sans KR"/>
              </a:rPr>
              <a:t>validate_report · 데이터·분석·표현·안전성을 교차 검증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11B71413-F7BC-48B0-94C7-6406258FC0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6419850"/>
            <a:ext cx="4953000" cy="5334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FFF5EA"/>
          </a:solidFill>
          <a:ln xmlns:a="http://schemas.openxmlformats.org/drawingml/2006/main" w="14288">
            <a:solidFill>
              <a:srgbClr val="FF7D78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35420113-F594-44B0-9811-8A6ED54D22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6419850"/>
            <a:ext cx="85725" cy="5334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7D78"/>
          </a:solidFill>
          <a:ln xmlns:a="http://schemas.openxmlformats.org/drawingml/2006/main" w="0">
            <a:solidFill>
              <a:srgbClr val="FF7D78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CF2725FF-4591-4E62-B989-07457B4052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6477000"/>
            <a:ext cx="46291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8818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1">
                <a:solidFill>
                  <a:srgbClr val="2B1830"/>
                </a:solidFill>
                <a:latin typeface="Noto Sans KR"/>
                <a:ea typeface="Noto Sans KR"/>
                <a:cs typeface="Noto Sans KR"/>
              </a:defRPr>
            </a:pPr>
            <a:r>
              <a:rPr sz="1350" b="1">
                <a:solidFill>
                  <a:srgbClr val="2B1830"/>
                </a:solidFill>
                <a:latin typeface="Noto Sans KR"/>
                <a:ea typeface="Noto Sans KR"/>
                <a:cs typeface="Noto Sans KR"/>
              </a:rPr>
              <a:t>정상 출력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C05EFCA0-9F10-444B-9724-F926B3F396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6705600"/>
            <a:ext cx="4629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91912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200" b="0">
                <a:solidFill>
                  <a:srgbClr val="2B1830"/>
                </a:solidFill>
                <a:latin typeface="Noto Sans KR"/>
                <a:ea typeface="Noto Sans KR"/>
                <a:cs typeface="Noto Sans KR"/>
              </a:defRPr>
            </a:pPr>
            <a:r>
              <a:rPr sz="1200" b="0">
                <a:solidFill>
                  <a:srgbClr val="2B1830"/>
                </a:solidFill>
                <a:latin typeface="Noto Sans KR"/>
                <a:ea typeface="Noto Sans KR"/>
                <a:cs typeface="Noto Sans KR"/>
              </a:rPr>
              <a:t>format_report · 검증된 State를 프론트엔드 payload로 조립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5DF1F502-343A-4203-9BE3-13F470529D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5562600"/>
            <a:ext cx="209550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FD5CF"/>
          </a:solidFill>
          <a:ln xmlns:a="http://schemas.openxmlformats.org/drawingml/2006/main" w="14288">
            <a:solidFill>
              <a:srgbClr val="FF7D78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BED0CA0D-4C6D-44B7-99A9-22EFF1E25C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5581650"/>
            <a:ext cx="18288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97244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63" b="1">
                <a:solidFill>
                  <a:srgbClr val="2B1830"/>
                </a:solidFill>
                <a:latin typeface="Noto Sans KR"/>
                <a:ea typeface="Noto Sans KR"/>
                <a:cs typeface="Noto Sans KR"/>
              </a:defRPr>
            </a:pPr>
            <a:r>
              <a:rPr sz="1163" b="1">
                <a:solidFill>
                  <a:srgbClr val="2B1830"/>
                </a:solidFill>
                <a:latin typeface="Noto Sans KR"/>
                <a:ea typeface="Noto Sans KR"/>
                <a:cs typeface="Noto Sans KR"/>
              </a:rPr>
              <a:t>오류별 재실행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A1B0755E-39B2-4E34-9332-A539679B6C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5800725"/>
            <a:ext cx="1828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94016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13" b="0">
                <a:solidFill>
                  <a:srgbClr val="2B1830"/>
                </a:solidFill>
                <a:latin typeface="Noto Sans KR"/>
                <a:ea typeface="Noto Sans KR"/>
                <a:cs typeface="Noto Sans KR"/>
              </a:defRPr>
            </a:pPr>
            <a:r>
              <a:rPr sz="1013" b="0">
                <a:solidFill>
                  <a:srgbClr val="2B1830"/>
                </a:solidFill>
                <a:latin typeface="Noto Sans KR"/>
                <a:ea typeface="Noto Sans KR"/>
                <a:cs typeface="Noto Sans KR"/>
              </a:rPr>
              <a:t>해당 에이전트만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6AA0E866-92E6-44BB-9D32-2405465765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6038850"/>
            <a:ext cx="209550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35183B"/>
          </a:solidFill>
          <a:ln xmlns:a="http://schemas.openxmlformats.org/drawingml/2006/main" w="14288">
            <a:solidFill>
              <a:srgbClr val="FF7D78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D7385B51-57C2-419B-8D05-9DE61B3B4D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6057900"/>
            <a:ext cx="18288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97244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63" b="1">
                <a:solidFill>
                  <a:srgbClr val="FF7D78"/>
                </a:solidFill>
                <a:latin typeface="Noto Sans KR"/>
                <a:ea typeface="Noto Sans KR"/>
                <a:cs typeface="Noto Sans KR"/>
              </a:defRPr>
            </a:pPr>
            <a:r>
              <a:rPr sz="1163" b="1">
                <a:solidFill>
                  <a:srgbClr val="FF7D78"/>
                </a:solidFill>
                <a:latin typeface="Noto Sans KR"/>
                <a:ea typeface="Noto Sans KR"/>
                <a:cs typeface="Noto Sans KR"/>
              </a:rPr>
              <a:t>고위험 신호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9EE7F108-5A70-4F6B-BBE5-029385518B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6276975"/>
            <a:ext cx="1828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94016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13" b="0">
                <a:solidFill>
                  <a:srgbClr val="FFF5EA"/>
                </a:solidFill>
                <a:latin typeface="Noto Sans KR"/>
                <a:ea typeface="Noto Sans KR"/>
                <a:cs typeface="Noto Sans KR"/>
              </a:defRPr>
            </a:pPr>
            <a:r>
              <a:rPr sz="1013" b="0">
                <a:solidFill>
                  <a:srgbClr val="FFF5EA"/>
                </a:solidFill>
                <a:latin typeface="Noto Sans KR"/>
                <a:ea typeface="Noto Sans KR"/>
                <a:cs typeface="Noto Sans KR"/>
              </a:rPr>
              <a:t>safety_response로 전환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664D6AFF-2CD2-4ED7-A170-A1820A6C4A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6515100"/>
            <a:ext cx="209550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35183B"/>
          </a:solidFill>
          <a:ln xmlns:a="http://schemas.openxmlformats.org/drawingml/2006/main" w="14288">
            <a:solidFill>
              <a:srgbClr val="FF7D78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FD3D7CB1-9AE6-4F39-88CD-DE0C4B4C73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6534150"/>
            <a:ext cx="18288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97244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63" b="1">
                <a:solidFill>
                  <a:srgbClr val="FF7D78"/>
                </a:solidFill>
                <a:latin typeface="Noto Sans KR"/>
                <a:ea typeface="Noto Sans KR"/>
                <a:cs typeface="Noto Sans KR"/>
              </a:defRPr>
            </a:pPr>
            <a:r>
              <a:rPr sz="1163" b="1">
                <a:solidFill>
                  <a:srgbClr val="FF7D78"/>
                </a:solidFill>
                <a:latin typeface="Noto Sans KR"/>
                <a:ea typeface="Noto Sans KR"/>
                <a:cs typeface="Noto Sans KR"/>
              </a:rPr>
              <a:t>재시도 소진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954AD7EA-FA25-48BA-A8B6-9D8965DF51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6753225"/>
            <a:ext cx="1828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94016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13" b="0">
                <a:solidFill>
                  <a:srgbClr val="FFF5EA"/>
                </a:solidFill>
                <a:latin typeface="Noto Sans KR"/>
                <a:ea typeface="Noto Sans KR"/>
                <a:cs typeface="Noto Sans KR"/>
              </a:defRPr>
            </a:pPr>
            <a:r>
              <a:rPr sz="1013" b="0">
                <a:solidFill>
                  <a:srgbClr val="FFF5EA"/>
                </a:solidFill>
                <a:latin typeface="Noto Sans KR"/>
                <a:ea typeface="Noto Sans KR"/>
                <a:cs typeface="Noto Sans KR"/>
              </a:rPr>
              <a:t>fallback_report 반환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E0DD5B94-BE36-4604-9125-1F9EC21E3A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647950"/>
            <a:ext cx="73723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183B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38" b="1">
                <a:solidFill>
                  <a:srgbClr val="FFF5EA"/>
                </a:solidFill>
                <a:latin typeface="Noto Sans KR"/>
                <a:ea typeface="Noto Sans KR"/>
                <a:cs typeface="Noto Sans KR"/>
              </a:defRPr>
            </a:pPr>
            <a:r>
              <a:rPr sz="1238" b="1">
                <a:solidFill>
                  <a:srgbClr val="FFF5EA"/>
                </a:solidFill>
                <a:latin typeface="Noto Sans KR"/>
                <a:ea typeface="Noto Sans KR"/>
                <a:cs typeface="Noto Sans KR"/>
              </a:rPr>
              <a:t>공유 Graph State  |  기간·발화·감정 점수·원인 근거·서술·검증 결과를 단계별로 누적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3B97D277-F91E-4D29-BCC8-A5B5752F75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0" y="2038350"/>
            <a:ext cx="4114800" cy="5010150"/>
          </a:xfrm>
          <a:prstGeom xmlns:a="http://schemas.openxmlformats.org/drawingml/2006/main" prst="roundRect">
            <a:avLst>
              <a:gd name="adj" fmla="val 2778"/>
            </a:avLst>
          </a:prstGeom>
          <a:solidFill xmlns:a="http://schemas.openxmlformats.org/drawingml/2006/main">
            <a:srgbClr val="FFF5EA"/>
          </a:solidFill>
          <a:ln xmlns:a="http://schemas.openxmlformats.org/drawingml/2006/main" w="19050">
            <a:solidFill>
              <a:srgbClr val="FF7D78"/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C20B074B-EDB9-4994-B094-CA7EBF91C6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2209800"/>
            <a:ext cx="36576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75" b="1">
                <a:solidFill>
                  <a:srgbClr val="2B1830"/>
                </a:solidFill>
                <a:latin typeface="Noto Sans KR"/>
                <a:ea typeface="Noto Sans KR"/>
                <a:cs typeface="Noto Sans KR"/>
              </a:defRPr>
            </a:pPr>
            <a:r>
              <a:rPr sz="1875" b="1">
                <a:solidFill>
                  <a:srgbClr val="2B1830"/>
                </a:solidFill>
                <a:latin typeface="Noto Sans KR"/>
                <a:ea typeface="Noto Sans KR"/>
                <a:cs typeface="Noto Sans KR"/>
              </a:rPr>
              <a:t>AI 적용과 설계 근거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3A12E736-94C7-4916-80E4-AF550F5C40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2628900"/>
            <a:ext cx="3657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FF7D78"/>
            </a:solidFill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430253A5-9E9B-4257-B160-C07270019D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2781300"/>
            <a:ext cx="10668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D5C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57150" tIns="19050" rIns="571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75" b="1">
                <a:solidFill>
                  <a:srgbClr val="2B1830"/>
                </a:solidFill>
                <a:latin typeface="Noto Sans KR"/>
                <a:ea typeface="Noto Sans KR"/>
                <a:cs typeface="Noto Sans KR"/>
              </a:defRPr>
            </a:pPr>
            <a:r>
              <a:rPr sz="1275" b="1">
                <a:solidFill>
                  <a:srgbClr val="2B1830"/>
                </a:solidFill>
                <a:latin typeface="Noto Sans KR"/>
                <a:ea typeface="Noto Sans KR"/>
                <a:cs typeface="Noto Sans KR"/>
              </a:rPr>
              <a:t>어디에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138EB731-93D9-4E27-B95B-56428CFF7E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63200" y="2762250"/>
            <a:ext cx="24384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425" b="1">
                <a:solidFill>
                  <a:srgbClr val="7B43AA"/>
                </a:solidFill>
                <a:latin typeface="Noto Sans KR"/>
                <a:ea typeface="Noto Sans KR"/>
                <a:cs typeface="Noto Sans KR"/>
              </a:defRPr>
            </a:pPr>
            <a:r>
              <a:rPr sz="1425" b="1">
                <a:solidFill>
                  <a:srgbClr val="7B43AA"/>
                </a:solidFill>
                <a:latin typeface="Noto Sans KR"/>
                <a:ea typeface="Noto Sans KR"/>
                <a:cs typeface="Noto Sans KR"/>
              </a:rPr>
              <a:t>AI와 규칙의 역할 분리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1656A76D-8B42-4B0F-832E-5962D6AB44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3124200"/>
            <a:ext cx="36576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38" b="0">
                <a:solidFill>
                  <a:srgbClr val="2B1830"/>
                </a:solidFill>
                <a:latin typeface="Noto Sans KR"/>
                <a:ea typeface="Noto Sans KR"/>
                <a:cs typeface="Noto Sans KR"/>
              </a:defRPr>
            </a:pPr>
            <a:r>
              <a:rPr sz="1238" b="0">
                <a:solidFill>
                  <a:srgbClr val="2B1830"/>
                </a:solidFill>
                <a:latin typeface="Noto Sans KR"/>
                <a:ea typeface="Noto Sans KR"/>
                <a:cs typeface="Noto Sans KR"/>
              </a:rPr>
              <a:t>AI는 감정 분류·원인 추출과 분류·근거 서술에 쓰고, 최종 검증은 명시된 서버 규칙으로 분리한다.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E2A477D3-605E-43D9-ADCC-D6A39E650C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3752850"/>
            <a:ext cx="3657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C9D4"/>
            </a:solidFill>
            <a:prstDash val="solid"/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EFAFA60E-0C5F-4FB7-83D7-6F6926E0CF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3867150"/>
            <a:ext cx="10668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D5C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57150" tIns="19050" rIns="571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75" b="1">
                <a:solidFill>
                  <a:srgbClr val="2B1830"/>
                </a:solidFill>
                <a:latin typeface="Noto Sans KR"/>
                <a:ea typeface="Noto Sans KR"/>
                <a:cs typeface="Noto Sans KR"/>
              </a:defRPr>
            </a:pPr>
            <a:r>
              <a:rPr sz="1275" b="1">
                <a:solidFill>
                  <a:srgbClr val="2B1830"/>
                </a:solidFill>
                <a:latin typeface="Noto Sans KR"/>
                <a:ea typeface="Noto Sans KR"/>
                <a:cs typeface="Noto Sans KR"/>
              </a:rPr>
              <a:t>어떻게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FE83E506-BBAB-4722-AC61-40634F64B3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63200" y="3848100"/>
            <a:ext cx="24384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425" b="1">
                <a:solidFill>
                  <a:srgbClr val="7B43AA"/>
                </a:solidFill>
                <a:latin typeface="Noto Sans KR"/>
                <a:ea typeface="Noto Sans KR"/>
                <a:cs typeface="Noto Sans KR"/>
              </a:defRPr>
            </a:pPr>
            <a:r>
              <a:rPr sz="1425" b="1">
                <a:solidFill>
                  <a:srgbClr val="7B43AA"/>
                </a:solidFill>
                <a:latin typeface="Noto Sans KR"/>
                <a:ea typeface="Noto Sans KR"/>
                <a:cs typeface="Noto Sans KR"/>
              </a:rPr>
              <a:t>State와 라우터로 협업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CA445461-ED88-42AA-B06F-7D49759708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4210050"/>
            <a:ext cx="36576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38" b="0">
                <a:solidFill>
                  <a:srgbClr val="2B1830"/>
                </a:solidFill>
                <a:latin typeface="Noto Sans KR"/>
                <a:ea typeface="Noto Sans KR"/>
                <a:cs typeface="Noto Sans KR"/>
              </a:defRPr>
            </a:pPr>
            <a:r>
              <a:rPr sz="1238" b="0">
                <a:solidFill>
                  <a:srgbClr val="2B1830"/>
                </a:solidFill>
                <a:latin typeface="Noto Sans KR"/>
                <a:ea typeface="Noto Sans KR"/>
                <a:cs typeface="Noto Sans KR"/>
              </a:rPr>
              <a:t>각 노드는 앞 단계의 계약된 출력을 State에 누적하고, 검증 결과가 통과·재실행·안전·폴백 경로를 결정한다.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2B7C7993-445A-49D5-A9EE-A31AB40099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4933950"/>
            <a:ext cx="3657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C9D4"/>
            </a:solidFill>
            <a:prstDash val="solid"/>
          </a:ln>
        </p:spPr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95F99FB3-5BC6-42ED-B22D-EB8570FA15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5048250"/>
            <a:ext cx="10668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D5C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57150" tIns="19050" rIns="571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75" b="1">
                <a:solidFill>
                  <a:srgbClr val="2B1830"/>
                </a:solidFill>
                <a:latin typeface="Noto Sans KR"/>
                <a:ea typeface="Noto Sans KR"/>
                <a:cs typeface="Noto Sans KR"/>
              </a:defRPr>
            </a:pPr>
            <a:r>
              <a:rPr sz="1275" b="1">
                <a:solidFill>
                  <a:srgbClr val="2B1830"/>
                </a:solidFill>
                <a:latin typeface="Noto Sans KR"/>
                <a:ea typeface="Noto Sans KR"/>
                <a:cs typeface="Noto Sans KR"/>
              </a:rPr>
              <a:t>왜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FB54E673-9F8F-4FFF-AFD5-CEC0685CA3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63200" y="5029200"/>
            <a:ext cx="24384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94876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425" b="1">
                <a:solidFill>
                  <a:srgbClr val="7B43AA"/>
                </a:solidFill>
                <a:latin typeface="Noto Sans KR"/>
                <a:ea typeface="Noto Sans KR"/>
                <a:cs typeface="Noto Sans KR"/>
              </a:defRPr>
            </a:pPr>
            <a:r>
              <a:rPr sz="1425" b="1">
                <a:solidFill>
                  <a:srgbClr val="7B43AA"/>
                </a:solidFill>
                <a:latin typeface="Noto Sans KR"/>
                <a:ea typeface="Noto Sans KR"/>
                <a:cs typeface="Noto Sans KR"/>
              </a:rPr>
              <a:t>오류 위치를 좁히고 통제하기 위해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2A4FB48B-C9D9-4FC1-9BE7-1EEDAF0082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5391150"/>
            <a:ext cx="36576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38" b="0">
                <a:solidFill>
                  <a:srgbClr val="2B1830"/>
                </a:solidFill>
                <a:latin typeface="Noto Sans KR"/>
                <a:ea typeface="Noto Sans KR"/>
                <a:cs typeface="Noto Sans KR"/>
              </a:defRPr>
            </a:pPr>
            <a:r>
              <a:rPr sz="1238" b="0">
                <a:solidFill>
                  <a:srgbClr val="2B1830"/>
                </a:solidFill>
                <a:latin typeface="Noto Sans KR"/>
                <a:ea typeface="Noto Sans KR"/>
                <a:cs typeface="Noto Sans KR"/>
              </a:rPr>
              <a:t>한 번의 거대 프롬프트보다 역할·출력 계약을 분리해 근거 누락과 표현 오류를 찾고 해당 단계만 다시 생성할 수 있다.</a:t>
            </a:r>
          </a:p>
        </p:txBody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962BF407-9457-4E85-85EC-3590FA3B5D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6419850"/>
            <a:ext cx="36576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183B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95250" tIns="57150" rIns="95250" bIns="57150" anchor="ctr">
            <a:normAutofit fontScale="91068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75" b="1">
                <a:solidFill>
                  <a:srgbClr val="FFF5EA"/>
                </a:solidFill>
                <a:latin typeface="Noto Sans KR"/>
                <a:ea typeface="Noto Sans KR"/>
                <a:cs typeface="Noto Sans KR"/>
              </a:defRPr>
            </a:pPr>
            <a:r>
              <a:rPr sz="1275" b="1">
                <a:solidFill>
                  <a:srgbClr val="FFF5EA"/>
                </a:solidFill>
                <a:latin typeface="Noto Sans KR"/>
                <a:ea typeface="Noto Sans KR"/>
                <a:cs typeface="Noto Sans KR"/>
              </a:rPr>
              <a:t>핵심: AI 생성과 규칙 검증을 분리한 추적 가능한 협업 구조</a:t>
            </a:r>
          </a:p>
        </p:txBody>
      </p:sp>
    </p:spTree>
    <p:extLst>
      <p:ext uri="{BB962C8B-B14F-4D97-AF65-F5344CB8AC3E}">
        <p14:creationId xmlns:p14="http://schemas.microsoft.com/office/powerpoint/2010/main" val="1616947021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21102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369746CE-CAB0-4E1E-99C9-38DE27BD69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590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1">
                <a:solidFill>
                  <a:srgbClr val="FF7D78"/>
                </a:solidFill>
                <a:latin typeface="Noto Sans KR"/>
                <a:ea typeface="Noto Sans KR"/>
                <a:cs typeface="Noto Sans KR"/>
              </a:defRPr>
            </a:pPr>
            <a:r>
              <a:rPr sz="1350" b="1">
                <a:solidFill>
                  <a:srgbClr val="FF7D78"/>
                </a:solidFill>
                <a:latin typeface="Noto Sans KR"/>
                <a:ea typeface="Noto Sans KR"/>
                <a:cs typeface="Noto Sans KR"/>
              </a:rPr>
              <a:t>APPENDIX</a:t>
            </a:r>
            <a:r>
              <a:rPr sz="1350" b="1">
                <a:solidFill>
                  <a:srgbClr val="FF7D78"/>
                </a:solidFill>
                <a:latin typeface="Noto Sans KR"/>
                <a:ea typeface="Noto Sans KR"/>
                <a:cs typeface="Noto Sans KR"/>
              </a:rPr>
              <a:t> · 마음리포트 · 리포트 생성 규칙과 원리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109108A-4E90-46CA-B490-74D8202A10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23431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E5D6E1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154CB0D-0225-4674-B4DF-DA35B69DA1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0375" y="68580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5D6E1"/>
          </a:solidFill>
          <a:ln xmlns:a="http://schemas.openxmlformats.org/drawingml/2006/main" w="0">
            <a:solidFill>
              <a:srgbClr val="E5D6E1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EA2F828-1496-4B5E-AF03-C25EDA630D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95350"/>
            <a:ext cx="123444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98765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3375" b="1">
                <a:solidFill>
                  <a:srgbClr val="FFF5EA"/>
                </a:solidFill>
                <a:latin typeface="Noto Sans KR"/>
                <a:ea typeface="Noto Sans KR"/>
                <a:cs typeface="Noto Sans KR"/>
              </a:defRPr>
            </a:pPr>
            <a:r>
              <a:rPr sz="3375" b="1">
                <a:solidFill>
                  <a:srgbClr val="FFF5EA"/>
                </a:solidFill>
                <a:latin typeface="Noto Sans KR"/>
                <a:ea typeface="Noto Sans KR"/>
                <a:cs typeface="Noto Sans KR"/>
              </a:rPr>
              <a:t>감정 점수 산정과 시계열 분석 방식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4D04C71-4E9B-47D5-8CB0-D3BD538827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514475"/>
            <a:ext cx="122682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500" b="0">
                <a:solidFill>
                  <a:srgbClr val="BFAABD"/>
                </a:solidFill>
                <a:latin typeface="Noto Sans KR"/>
                <a:ea typeface="Noto Sans KR"/>
                <a:cs typeface="Noto Sans KR"/>
              </a:defRPr>
            </a:pPr>
            <a:r>
              <a:rPr sz="1500" b="0">
                <a:solidFill>
                  <a:srgbClr val="BFAABD"/>
                </a:solidFill>
                <a:latin typeface="Noto Sans KR"/>
                <a:ea typeface="Noto Sans KR"/>
                <a:cs typeface="Noto Sans KR"/>
              </a:rPr>
              <a:t>모델은 발화의 감정을 분류하고, 점수·생성 기준·시계열 판정은 서버 규칙이 통제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5B72DBD-E9D2-42E4-8B70-E5727B1DCA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38350"/>
            <a:ext cx="7962900" cy="5010150"/>
          </a:xfrm>
          <a:prstGeom xmlns:a="http://schemas.openxmlformats.org/drawingml/2006/main" prst="roundRect">
            <a:avLst>
              <a:gd name="adj" fmla="val 2281"/>
            </a:avLst>
          </a:prstGeom>
          <a:solidFill xmlns:a="http://schemas.openxmlformats.org/drawingml/2006/main">
            <a:srgbClr val="2A1432"/>
          </a:solidFill>
          <a:ln xmlns:a="http://schemas.openxmlformats.org/drawingml/2006/main" w="19050">
            <a:solidFill>
              <a:srgbClr val="FF7D78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1929CC6-5B18-47C4-9761-A78D3520F1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171700"/>
            <a:ext cx="7543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725" b="1">
                <a:solidFill>
                  <a:srgbClr val="FF7D78"/>
                </a:solidFill>
                <a:latin typeface="Noto Sans KR"/>
                <a:ea typeface="Noto Sans KR"/>
                <a:cs typeface="Noto Sans KR"/>
              </a:defRPr>
            </a:pPr>
            <a:r>
              <a:rPr sz="1725" b="1">
                <a:solidFill>
                  <a:srgbClr val="FF7D78"/>
                </a:solidFill>
                <a:latin typeface="Noto Sans KR"/>
                <a:ea typeface="Noto Sans KR"/>
                <a:cs typeface="Noto Sans KR"/>
              </a:rPr>
              <a:t>감정 점수 생성 과정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26E9E0E-0B60-4719-A72B-0FD0AC7A5A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571750"/>
            <a:ext cx="7543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FF7D7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DFCDB03-2C07-42F6-873E-9396766C3C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3200400"/>
            <a:ext cx="304800" cy="190500"/>
          </a:xfrm>
          <a:prstGeom xmlns:a="http://schemas.openxmlformats.org/drawingml/2006/main" prst="downArrow">
            <a:avLst/>
          </a:prstGeom>
          <a:solidFill xmlns:a="http://schemas.openxmlformats.org/drawingml/2006/main">
            <a:srgbClr val="FF7D78"/>
          </a:solidFill>
          <a:ln xmlns:a="http://schemas.openxmlformats.org/drawingml/2006/main" w="0">
            <a:solidFill>
              <a:srgbClr val="FF7D78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260F3EA-1189-4963-9BBE-068CF32754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3943350"/>
            <a:ext cx="304800" cy="190500"/>
          </a:xfrm>
          <a:prstGeom xmlns:a="http://schemas.openxmlformats.org/drawingml/2006/main" prst="downArrow">
            <a:avLst/>
          </a:prstGeom>
          <a:solidFill xmlns:a="http://schemas.openxmlformats.org/drawingml/2006/main">
            <a:srgbClr val="FF7D78"/>
          </a:solidFill>
          <a:ln xmlns:a="http://schemas.openxmlformats.org/drawingml/2006/main" w="0">
            <a:solidFill>
              <a:srgbClr val="FF7D7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B345263-B2B4-4D02-9FCF-C4C389BE45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4686300"/>
            <a:ext cx="304800" cy="190500"/>
          </a:xfrm>
          <a:prstGeom xmlns:a="http://schemas.openxmlformats.org/drawingml/2006/main" prst="downArrow">
            <a:avLst/>
          </a:prstGeom>
          <a:solidFill xmlns:a="http://schemas.openxmlformats.org/drawingml/2006/main">
            <a:srgbClr val="FF7D78"/>
          </a:solidFill>
          <a:ln xmlns:a="http://schemas.openxmlformats.org/drawingml/2006/main" w="0">
            <a:solidFill>
              <a:srgbClr val="FF7D78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BDFA8B8-C96F-46A3-AC7A-89C5C109D4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5429250"/>
            <a:ext cx="304800" cy="190500"/>
          </a:xfrm>
          <a:prstGeom xmlns:a="http://schemas.openxmlformats.org/drawingml/2006/main" prst="downArrow">
            <a:avLst/>
          </a:prstGeom>
          <a:solidFill xmlns:a="http://schemas.openxmlformats.org/drawingml/2006/main">
            <a:srgbClr val="FF7D78"/>
          </a:solidFill>
          <a:ln xmlns:a="http://schemas.openxmlformats.org/drawingml/2006/main" w="0">
            <a:solidFill>
              <a:srgbClr val="FF7D78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C74D29D-8005-4524-88BF-3D4BCF6C4F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6172200"/>
            <a:ext cx="304800" cy="190500"/>
          </a:xfrm>
          <a:prstGeom xmlns:a="http://schemas.openxmlformats.org/drawingml/2006/main" prst="downArrow">
            <a:avLst/>
          </a:prstGeom>
          <a:solidFill xmlns:a="http://schemas.openxmlformats.org/drawingml/2006/main">
            <a:srgbClr val="FF7D78"/>
          </a:solidFill>
          <a:ln xmlns:a="http://schemas.openxmlformats.org/drawingml/2006/main" w="0">
            <a:solidFill>
              <a:srgbClr val="FF7D78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21A41F4-217A-4503-A9DC-1F89BE782C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647950"/>
            <a:ext cx="533400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FF5EA"/>
          </a:solidFill>
          <a:ln xmlns:a="http://schemas.openxmlformats.org/drawingml/2006/main" w="14288">
            <a:solidFill>
              <a:srgbClr val="FF7D78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8F5D7AA-85F3-4170-8FFA-17EF512683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647950"/>
            <a:ext cx="85725" cy="5524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7D78"/>
          </a:solidFill>
          <a:ln xmlns:a="http://schemas.openxmlformats.org/drawingml/2006/main" w="0">
            <a:solidFill>
              <a:srgbClr val="FF7D78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DE4F39D-FDCE-4E21-A5D3-4D037BAEEE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2705100"/>
            <a:ext cx="50101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8818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1">
                <a:solidFill>
                  <a:srgbClr val="2B1830"/>
                </a:solidFill>
                <a:latin typeface="Noto Sans KR"/>
                <a:ea typeface="Noto Sans KR"/>
                <a:cs typeface="Noto Sans KR"/>
              </a:defRPr>
            </a:pPr>
            <a:r>
              <a:rPr sz="1350" b="1">
                <a:solidFill>
                  <a:srgbClr val="2B1830"/>
                </a:solidFill>
                <a:latin typeface="Noto Sans KR"/>
                <a:ea typeface="Noto Sans KR"/>
                <a:cs typeface="Noto Sans KR"/>
              </a:rPr>
              <a:t>분석 대상 확정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5F86552-75CC-465B-A8D2-209A5E8E7B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2933700"/>
            <a:ext cx="50101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200" b="0">
                <a:solidFill>
                  <a:srgbClr val="2B1830"/>
                </a:solidFill>
                <a:latin typeface="Noto Sans KR"/>
                <a:ea typeface="Noto Sans KR"/>
                <a:cs typeface="Noto Sans KR"/>
              </a:defRPr>
            </a:pPr>
            <a:r>
              <a:rPr sz="1200" b="0">
                <a:solidFill>
                  <a:srgbClr val="2B1830"/>
                </a:solidFill>
                <a:latin typeface="Noto Sans KR"/>
                <a:ea typeface="Noto Sans KR"/>
                <a:cs typeface="Noto Sans KR"/>
              </a:rPr>
              <a:t>사용자 발화만 포함 · AI 응답 제외 · 주간 5개/월간 20개 이상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B00E188-763C-44E7-9114-9BD7258CD3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390900"/>
            <a:ext cx="533400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FF5EA"/>
          </a:solidFill>
          <a:ln xmlns:a="http://schemas.openxmlformats.org/drawingml/2006/main" w="14288">
            <a:solidFill>
              <a:srgbClr val="FF7D78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40CFE71-FD59-430E-ABB1-708AE01E9C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390900"/>
            <a:ext cx="85725" cy="5524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7D78"/>
          </a:solidFill>
          <a:ln xmlns:a="http://schemas.openxmlformats.org/drawingml/2006/main" w="0">
            <a:solidFill>
              <a:srgbClr val="FF7D78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5A25A25-DB9E-46D1-9B56-465CAF0C41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3448050"/>
            <a:ext cx="50101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8818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1">
                <a:solidFill>
                  <a:srgbClr val="2B1830"/>
                </a:solidFill>
                <a:latin typeface="Noto Sans KR"/>
                <a:ea typeface="Noto Sans KR"/>
                <a:cs typeface="Noto Sans KR"/>
              </a:defRPr>
            </a:pPr>
            <a:r>
              <a:rPr sz="1350" b="1">
                <a:solidFill>
                  <a:srgbClr val="2B1830"/>
                </a:solidFill>
                <a:latin typeface="Noto Sans KR"/>
                <a:ea typeface="Noto Sans KR"/>
                <a:cs typeface="Noto Sans KR"/>
              </a:rPr>
              <a:t>날짜별 대화 그룹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23310F6-1001-49CB-8048-A74FE2D8D7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3676650"/>
            <a:ext cx="50101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200" b="0">
                <a:solidFill>
                  <a:srgbClr val="2B1830"/>
                </a:solidFill>
                <a:latin typeface="Noto Sans KR"/>
                <a:ea typeface="Noto Sans KR"/>
                <a:cs typeface="Noto Sans KR"/>
              </a:defRPr>
            </a:pPr>
            <a:r>
              <a:rPr sz="1200" b="0">
                <a:solidFill>
                  <a:srgbClr val="2B1830"/>
                </a:solidFill>
                <a:latin typeface="Noto Sans KR"/>
                <a:ea typeface="Noto Sans KR"/>
                <a:cs typeface="Noto Sans KR"/>
              </a:rPr>
              <a:t>같은 날짜의 사용자 발화를 하나의 일별 분석 단위로 구성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1F4C131-8D4E-4456-BE92-B6B619EE2C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4133850"/>
            <a:ext cx="533400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FF5EA"/>
          </a:solidFill>
          <a:ln xmlns:a="http://schemas.openxmlformats.org/drawingml/2006/main" w="14288">
            <a:solidFill>
              <a:srgbClr val="FF7D78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25B3307-2784-49B4-9A1C-829B379C61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4133850"/>
            <a:ext cx="85725" cy="5524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7D78"/>
          </a:solidFill>
          <a:ln xmlns:a="http://schemas.openxmlformats.org/drawingml/2006/main" w="0">
            <a:solidFill>
              <a:srgbClr val="FF7D78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1B9ED4D-CC7D-4C53-873C-E8981687CE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4191000"/>
            <a:ext cx="50101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8818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1">
                <a:solidFill>
                  <a:srgbClr val="2B1830"/>
                </a:solidFill>
                <a:latin typeface="Noto Sans KR"/>
                <a:ea typeface="Noto Sans KR"/>
                <a:cs typeface="Noto Sans KR"/>
              </a:defRPr>
            </a:pPr>
            <a:r>
              <a:rPr sz="1350" b="1">
                <a:solidFill>
                  <a:srgbClr val="2B1830"/>
                </a:solidFill>
                <a:latin typeface="Noto Sans KR"/>
                <a:ea typeface="Noto Sans KR"/>
                <a:cs typeface="Noto Sans KR"/>
              </a:rPr>
              <a:t>KcELECTRA 감정 분류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1326AF1-F4EB-4695-B5B8-B657FF0673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4419600"/>
            <a:ext cx="50101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200" b="0">
                <a:solidFill>
                  <a:srgbClr val="2B1830"/>
                </a:solidFill>
                <a:latin typeface="Noto Sans KR"/>
                <a:ea typeface="Noto Sans KR"/>
                <a:cs typeface="Noto Sans KR"/>
              </a:defRPr>
            </a:pPr>
            <a:r>
              <a:rPr sz="1200" b="0">
                <a:solidFill>
                  <a:srgbClr val="2B1830"/>
                </a:solidFill>
                <a:latin typeface="Noto Sans KR"/>
                <a:ea typeface="Noto Sans KR"/>
                <a:cs typeface="Noto Sans KR"/>
              </a:rPr>
              <a:t>각 발화를 기쁨·일반·슬픔·분노의 확률로 출력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4A757E8-2C27-445B-AEFA-184764E909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4876800"/>
            <a:ext cx="533400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FF5EA"/>
          </a:solidFill>
          <a:ln xmlns:a="http://schemas.openxmlformats.org/drawingml/2006/main" w="14288">
            <a:solidFill>
              <a:srgbClr val="FF7D78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3740AB1-4392-463D-ADF8-B981A5E703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4876800"/>
            <a:ext cx="85725" cy="5524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7D78"/>
          </a:solidFill>
          <a:ln xmlns:a="http://schemas.openxmlformats.org/drawingml/2006/main" w="0">
            <a:solidFill>
              <a:srgbClr val="FF7D78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C5E4B40-D976-4911-8533-A010FD50F9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4933950"/>
            <a:ext cx="50101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8818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1">
                <a:solidFill>
                  <a:srgbClr val="2B1830"/>
                </a:solidFill>
                <a:latin typeface="Noto Sans KR"/>
                <a:ea typeface="Noto Sans KR"/>
                <a:cs typeface="Noto Sans KR"/>
              </a:defRPr>
            </a:pPr>
            <a:r>
              <a:rPr sz="1350" b="1">
                <a:solidFill>
                  <a:srgbClr val="2B1830"/>
                </a:solidFill>
                <a:latin typeface="Noto Sans KR"/>
                <a:ea typeface="Noto Sans KR"/>
                <a:cs typeface="Noto Sans KR"/>
              </a:rPr>
              <a:t>일별 확률 평균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23BB378-71DD-4390-BF68-C26BE45C48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5162550"/>
            <a:ext cx="50101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200" b="0">
                <a:solidFill>
                  <a:srgbClr val="2B1830"/>
                </a:solidFill>
                <a:latin typeface="Noto Sans KR"/>
                <a:ea typeface="Noto Sans KR"/>
                <a:cs typeface="Noto Sans KR"/>
              </a:defRPr>
            </a:pPr>
            <a:r>
              <a:rPr sz="1200" b="0">
                <a:solidFill>
                  <a:srgbClr val="2B1830"/>
                </a:solidFill>
                <a:latin typeface="Noto Sans KR"/>
                <a:ea typeface="Noto Sans KR"/>
                <a:cs typeface="Noto Sans KR"/>
              </a:rPr>
              <a:t>발화별 확률을 평균하고 가장 높은 감정을 대표 라벨로 보존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90E000E2-92EE-4674-9DC4-30065017BE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5619750"/>
            <a:ext cx="533400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FF5EA"/>
          </a:solidFill>
          <a:ln xmlns:a="http://schemas.openxmlformats.org/drawingml/2006/main" w="14288">
            <a:solidFill>
              <a:srgbClr val="FF7D78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26FF222C-0EE3-49F3-82C9-700D0343FA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5619750"/>
            <a:ext cx="85725" cy="5524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7D78"/>
          </a:solidFill>
          <a:ln xmlns:a="http://schemas.openxmlformats.org/drawingml/2006/main" w="0">
            <a:solidFill>
              <a:srgbClr val="FF7D78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0733E9FF-EA72-4FCC-AB51-E7B8AE3DED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5676900"/>
            <a:ext cx="50101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8818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1">
                <a:solidFill>
                  <a:srgbClr val="2B1830"/>
                </a:solidFill>
                <a:latin typeface="Noto Sans KR"/>
                <a:ea typeface="Noto Sans KR"/>
                <a:cs typeface="Noto Sans KR"/>
              </a:defRPr>
            </a:pPr>
            <a:r>
              <a:rPr sz="1350" b="1">
                <a:solidFill>
                  <a:srgbClr val="2B1830"/>
                </a:solidFill>
                <a:latin typeface="Noto Sans KR"/>
                <a:ea typeface="Noto Sans KR"/>
                <a:cs typeface="Noto Sans KR"/>
              </a:rPr>
              <a:t>감정 점수 가중합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92D1C594-1D04-41B3-86D9-5CA435A09C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5905500"/>
            <a:ext cx="50101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200" b="0">
                <a:solidFill>
                  <a:srgbClr val="2B1830"/>
                </a:solidFill>
                <a:latin typeface="Noto Sans KR"/>
                <a:ea typeface="Noto Sans KR"/>
                <a:cs typeface="Noto Sans KR"/>
              </a:defRPr>
            </a:pPr>
            <a:r>
              <a:rPr sz="1200" b="0">
                <a:solidFill>
                  <a:srgbClr val="2B1830"/>
                </a:solidFill>
                <a:latin typeface="Noto Sans KR"/>
                <a:ea typeface="Noto Sans KR"/>
                <a:cs typeface="Noto Sans KR"/>
              </a:rPr>
              <a:t>기쁨×70 + 일반×50 + 슬픔×40 + 분노×30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876B319E-0C1A-47F8-B4D6-CBC0852203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6362700"/>
            <a:ext cx="533400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FF5EA"/>
          </a:solidFill>
          <a:ln xmlns:a="http://schemas.openxmlformats.org/drawingml/2006/main" w="14288">
            <a:solidFill>
              <a:srgbClr val="FF7D78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4B05DC01-9581-423B-8630-2BDCE9CB27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6362700"/>
            <a:ext cx="85725" cy="5524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7D78"/>
          </a:solidFill>
          <a:ln xmlns:a="http://schemas.openxmlformats.org/drawingml/2006/main" w="0">
            <a:solidFill>
              <a:srgbClr val="FF7D78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C7A2C36E-6C57-4D6C-A38E-11A0003E71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6419850"/>
            <a:ext cx="50101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8818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1">
                <a:solidFill>
                  <a:srgbClr val="2B1830"/>
                </a:solidFill>
                <a:latin typeface="Noto Sans KR"/>
                <a:ea typeface="Noto Sans KR"/>
                <a:cs typeface="Noto Sans KR"/>
              </a:defRPr>
            </a:pPr>
            <a:r>
              <a:rPr sz="1350" b="1">
                <a:solidFill>
                  <a:srgbClr val="2B1830"/>
                </a:solidFill>
                <a:latin typeface="Noto Sans KR"/>
                <a:ea typeface="Noto Sans KR"/>
                <a:cs typeface="Noto Sans KR"/>
              </a:rPr>
              <a:t>시계열 판정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90DB4046-0181-4DE1-9D81-5E6AA6851D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6648450"/>
            <a:ext cx="50101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200" b="0">
                <a:solidFill>
                  <a:srgbClr val="2B1830"/>
                </a:solidFill>
                <a:latin typeface="Noto Sans KR"/>
                <a:ea typeface="Noto Sans KR"/>
                <a:cs typeface="Noto Sans KR"/>
              </a:defRPr>
            </a:pPr>
            <a:r>
              <a:rPr sz="1200" b="0">
                <a:solidFill>
                  <a:srgbClr val="2B1830"/>
                </a:solidFill>
                <a:latin typeface="Noto Sans KR"/>
                <a:ea typeface="Noto Sans KR"/>
                <a:cs typeface="Noto Sans KR"/>
              </a:rPr>
              <a:t>서로 다른 기록일 3일 이상이면 변동을 먼저 확인한 뒤 상승·하락·유지 판정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C3A65ACD-21F1-484E-8171-EF16440F37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686050"/>
            <a:ext cx="1790700" cy="1371600"/>
          </a:xfrm>
          <a:prstGeom xmlns:a="http://schemas.openxmlformats.org/drawingml/2006/main" prst="roundRect">
            <a:avLst>
              <a:gd name="adj" fmla="val 5556"/>
            </a:avLst>
          </a:prstGeom>
          <a:solidFill xmlns:a="http://schemas.openxmlformats.org/drawingml/2006/main">
            <a:srgbClr val="FFD5CF"/>
          </a:solidFill>
          <a:ln xmlns:a="http://schemas.openxmlformats.org/drawingml/2006/main" w="14288">
            <a:solidFill>
              <a:srgbClr val="FF7D78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1F47714B-FA0F-42CF-9118-4482222561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800350"/>
            <a:ext cx="1524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425" b="1">
                <a:solidFill>
                  <a:srgbClr val="2B1830"/>
                </a:solidFill>
                <a:latin typeface="Noto Sans KR"/>
                <a:ea typeface="Noto Sans KR"/>
                <a:cs typeface="Noto Sans KR"/>
              </a:defRPr>
            </a:pPr>
            <a:r>
              <a:rPr sz="1425" b="1">
                <a:solidFill>
                  <a:srgbClr val="2B1830"/>
                </a:solidFill>
                <a:latin typeface="Noto Sans KR"/>
                <a:ea typeface="Noto Sans KR"/>
                <a:cs typeface="Noto Sans KR"/>
              </a:rPr>
              <a:t>점수 상태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57922B68-D4D9-4AE0-AEA0-2FFA676758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143250"/>
            <a:ext cx="1524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350" b="1">
                <a:solidFill>
                  <a:srgbClr val="7B43AA"/>
                </a:solidFill>
                <a:latin typeface="Noto Sans KR"/>
                <a:ea typeface="Noto Sans KR"/>
                <a:cs typeface="Noto Sans KR"/>
              </a:defRPr>
            </a:pPr>
            <a:r>
              <a:rPr sz="1350" b="1">
                <a:solidFill>
                  <a:srgbClr val="7B43AA"/>
                </a:solidFill>
                <a:latin typeface="Noto Sans KR"/>
                <a:ea typeface="Noto Sans KR"/>
                <a:cs typeface="Noto Sans KR"/>
              </a:rPr>
              <a:t>&gt; 55  positive</a:t>
            </a:r>
          </a:p>
          <a:p xmlns:a="http://schemas.openxmlformats.org/drawingml/2006/main">
            <a:pPr algn="ctr">
              <a:lnSpc>
                <a:spcPct val="105000"/>
              </a:lnSpc>
              <a:buNone/>
              <a:defRPr sz="1350" b="1">
                <a:solidFill>
                  <a:srgbClr val="7B43AA"/>
                </a:solidFill>
                <a:latin typeface="Noto Sans KR"/>
                <a:ea typeface="Noto Sans KR"/>
                <a:cs typeface="Noto Sans KR"/>
              </a:defRPr>
            </a:pPr>
            <a:r>
              <a:rPr sz="1350" b="1">
                <a:solidFill>
                  <a:srgbClr val="7B43AA"/>
                </a:solidFill>
                <a:latin typeface="Noto Sans KR"/>
                <a:ea typeface="Noto Sans KR"/>
                <a:cs typeface="Noto Sans KR"/>
              </a:rPr>
              <a:t>45~55  neutral</a:t>
            </a:r>
          </a:p>
          <a:p xmlns:a="http://schemas.openxmlformats.org/drawingml/2006/main">
            <a:pPr algn="ctr">
              <a:lnSpc>
                <a:spcPct val="105000"/>
              </a:lnSpc>
              <a:buNone/>
              <a:defRPr sz="1350" b="1">
                <a:solidFill>
                  <a:srgbClr val="7B43AA"/>
                </a:solidFill>
                <a:latin typeface="Noto Sans KR"/>
                <a:ea typeface="Noto Sans KR"/>
                <a:cs typeface="Noto Sans KR"/>
              </a:defRPr>
            </a:pPr>
            <a:r>
              <a:rPr sz="1350" b="1">
                <a:solidFill>
                  <a:srgbClr val="7B43AA"/>
                </a:solidFill>
                <a:latin typeface="Noto Sans KR"/>
                <a:ea typeface="Noto Sans KR"/>
                <a:cs typeface="Noto Sans KR"/>
              </a:rPr>
              <a:t>&lt; 45  negative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62DC5EEF-AAC5-4873-89C2-500A718FC2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4267200"/>
            <a:ext cx="1790700" cy="1733550"/>
          </a:xfrm>
          <a:prstGeom xmlns:a="http://schemas.openxmlformats.org/drawingml/2006/main" prst="roundRect">
            <a:avLst>
              <a:gd name="adj" fmla="val 4396"/>
            </a:avLst>
          </a:prstGeom>
          <a:solidFill xmlns:a="http://schemas.openxmlformats.org/drawingml/2006/main">
            <a:srgbClr val="35183B"/>
          </a:solidFill>
          <a:ln xmlns:a="http://schemas.openxmlformats.org/drawingml/2006/main" w="14288">
            <a:solidFill>
              <a:srgbClr val="FF7D78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01135569-22A3-4194-BC84-E31DDC9B84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4381500"/>
            <a:ext cx="1524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425" b="1">
                <a:solidFill>
                  <a:srgbClr val="FF7D78"/>
                </a:solidFill>
                <a:latin typeface="Noto Sans KR"/>
                <a:ea typeface="Noto Sans KR"/>
                <a:cs typeface="Noto Sans KR"/>
              </a:defRPr>
            </a:pPr>
            <a:r>
              <a:rPr sz="1425" b="1">
                <a:solidFill>
                  <a:srgbClr val="FF7D78"/>
                </a:solidFill>
                <a:latin typeface="Noto Sans KR"/>
                <a:ea typeface="Noto Sans KR"/>
                <a:cs typeface="Noto Sans KR"/>
              </a:rPr>
              <a:t>흐름 규칙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A533B57F-4DE8-4DA4-A2F3-94F7DF3E23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4705350"/>
            <a:ext cx="15240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83772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088" b="0">
                <a:solidFill>
                  <a:srgbClr val="FFF5EA"/>
                </a:solidFill>
                <a:latin typeface="Noto Sans KR"/>
                <a:ea typeface="Noto Sans KR"/>
                <a:cs typeface="Noto Sans KR"/>
              </a:defRPr>
            </a:pPr>
            <a:r>
              <a:rPr sz="1088" b="0">
                <a:solidFill>
                  <a:srgbClr val="FFF5EA"/>
                </a:solidFill>
                <a:latin typeface="Noto Sans KR"/>
                <a:ea typeface="Noto Sans KR"/>
                <a:cs typeface="Noto Sans KR"/>
              </a:rPr>
              <a:t>변동(우선)</a:t>
            </a:r>
          </a:p>
          <a:p xmlns:a="http://schemas.openxmlformats.org/drawingml/2006/main">
            <a:pPr algn="ctr">
              <a:lnSpc>
                <a:spcPct val="105000"/>
              </a:lnSpc>
              <a:buNone/>
              <a:defRPr sz="1088" b="0">
                <a:solidFill>
                  <a:srgbClr val="FFF5EA"/>
                </a:solidFill>
                <a:latin typeface="Noto Sans KR"/>
                <a:ea typeface="Noto Sans KR"/>
                <a:cs typeface="Noto Sans KR"/>
              </a:defRPr>
            </a:pPr>
            <a:r>
              <a:rPr sz="1088" b="0">
                <a:solidFill>
                  <a:srgbClr val="FFF5EA"/>
                </a:solidFill>
                <a:latin typeface="Noto Sans KR"/>
                <a:ea typeface="Noto Sans KR"/>
                <a:cs typeface="Noto Sans KR"/>
              </a:rPr>
              <a:t>표준편차 16 이상 + 방향 전환</a:t>
            </a:r>
          </a:p>
          <a:p xmlns:a="http://schemas.openxmlformats.org/drawingml/2006/main">
            <a:pPr algn="ctr">
              <a:lnSpc>
                <a:spcPct val="105000"/>
              </a:lnSpc>
              <a:buNone/>
              <a:defRPr sz="1088" b="0">
                <a:solidFill>
                  <a:srgbClr val="FFF5EA"/>
                </a:solidFill>
                <a:latin typeface="Noto Sans KR"/>
                <a:ea typeface="Noto Sans KR"/>
                <a:cs typeface="Noto Sans KR"/>
              </a:defRPr>
            </a:pPr>
            <a:r>
              <a:rPr sz="1088" b="0">
                <a:solidFill>
                  <a:srgbClr val="FFF5EA"/>
                </a:solidFill>
                <a:latin typeface="Noto Sans KR"/>
                <a:ea typeface="Noto Sans KR"/>
                <a:cs typeface="Noto Sans KR"/>
              </a:rPr>
              <a:t>또는 ±18 이상 급등락 공존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ctr">
              <a:lnSpc>
                <a:spcPct val="105000"/>
              </a:lnSpc>
              <a:buNone/>
              <a:defRPr sz="1088" b="0">
                <a:solidFill>
                  <a:srgbClr val="FFF5EA"/>
                </a:solidFill>
                <a:latin typeface="Noto Sans KR"/>
                <a:ea typeface="Noto Sans KR"/>
                <a:cs typeface="Noto Sans KR"/>
              </a:defRPr>
            </a:pPr>
            <a:r>
              <a:rPr sz="1088" b="0">
                <a:solidFill>
                  <a:srgbClr val="FFF5EA"/>
                </a:solidFill>
                <a:latin typeface="Noto Sans KR"/>
                <a:ea typeface="Noto Sans KR"/>
                <a:cs typeface="Noto Sans KR"/>
              </a:rPr>
              <a:t>상승/하락</a:t>
            </a:r>
          </a:p>
          <a:p xmlns:a="http://schemas.openxmlformats.org/drawingml/2006/main">
            <a:pPr algn="ctr">
              <a:lnSpc>
                <a:spcPct val="105000"/>
              </a:lnSpc>
              <a:buNone/>
              <a:defRPr sz="1088" b="0">
                <a:solidFill>
                  <a:srgbClr val="FFF5EA"/>
                </a:solidFill>
                <a:latin typeface="Noto Sans KR"/>
                <a:ea typeface="Noto Sans KR"/>
                <a:cs typeface="Noto Sans KR"/>
              </a:defRPr>
            </a:pPr>
            <a:r>
              <a:rPr sz="1088" b="0">
                <a:solidFill>
                  <a:srgbClr val="FFF5EA"/>
                </a:solidFill>
                <a:latin typeface="Noto Sans KR"/>
                <a:ea typeface="Noto Sans KR"/>
                <a:cs typeface="Noto Sans KR"/>
              </a:rPr>
              <a:t>전후 평균 ±8 또는 순변화 ±12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88BF5280-0D73-4EE0-B93D-4533C2C704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0" y="2038350"/>
            <a:ext cx="4114800" cy="5010150"/>
          </a:xfrm>
          <a:prstGeom xmlns:a="http://schemas.openxmlformats.org/drawingml/2006/main" prst="roundRect">
            <a:avLst>
              <a:gd name="adj" fmla="val 2778"/>
            </a:avLst>
          </a:prstGeom>
          <a:solidFill xmlns:a="http://schemas.openxmlformats.org/drawingml/2006/main">
            <a:srgbClr val="FFF5EA"/>
          </a:solidFill>
          <a:ln xmlns:a="http://schemas.openxmlformats.org/drawingml/2006/main" w="19050">
            <a:solidFill>
              <a:srgbClr val="FF7D78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67021911-B2A9-4C84-9314-3807FBD052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2209800"/>
            <a:ext cx="36576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75" b="1">
                <a:solidFill>
                  <a:srgbClr val="2B1830"/>
                </a:solidFill>
                <a:latin typeface="Noto Sans KR"/>
                <a:ea typeface="Noto Sans KR"/>
                <a:cs typeface="Noto Sans KR"/>
              </a:defRPr>
            </a:pPr>
            <a:r>
              <a:rPr sz="1875" b="1">
                <a:solidFill>
                  <a:srgbClr val="2B1830"/>
                </a:solidFill>
                <a:latin typeface="Noto Sans KR"/>
                <a:ea typeface="Noto Sans KR"/>
                <a:cs typeface="Noto Sans KR"/>
              </a:rPr>
              <a:t>AI 적용과 설계 근거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3C4DD69A-FC83-4D80-A35F-4CB5A89D43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2628900"/>
            <a:ext cx="3657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FF7D78"/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277A371E-A20B-4E47-806E-6BED9DFBFD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2781300"/>
            <a:ext cx="10668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D5C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57150" tIns="19050" rIns="571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75" b="1">
                <a:solidFill>
                  <a:srgbClr val="2B1830"/>
                </a:solidFill>
                <a:latin typeface="Noto Sans KR"/>
                <a:ea typeface="Noto Sans KR"/>
                <a:cs typeface="Noto Sans KR"/>
              </a:defRPr>
            </a:pPr>
            <a:r>
              <a:rPr sz="1275" b="1">
                <a:solidFill>
                  <a:srgbClr val="2B1830"/>
                </a:solidFill>
                <a:latin typeface="Noto Sans KR"/>
                <a:ea typeface="Noto Sans KR"/>
                <a:cs typeface="Noto Sans KR"/>
              </a:rPr>
              <a:t>AI 역할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9DEB61B3-43EB-4B05-A3D6-57AAEBD944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63200" y="2762250"/>
            <a:ext cx="24384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425" b="1">
                <a:solidFill>
                  <a:srgbClr val="7B43AA"/>
                </a:solidFill>
                <a:latin typeface="Noto Sans KR"/>
                <a:ea typeface="Noto Sans KR"/>
                <a:cs typeface="Noto Sans KR"/>
              </a:defRPr>
            </a:pPr>
            <a:r>
              <a:rPr sz="1425" b="1">
                <a:solidFill>
                  <a:srgbClr val="7B43AA"/>
                </a:solidFill>
                <a:latin typeface="Noto Sans KR"/>
                <a:ea typeface="Noto Sans KR"/>
                <a:cs typeface="Noto Sans KR"/>
              </a:rPr>
              <a:t>자유 발화를 확률로 구조화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7038F28D-633E-452C-AD60-B44611EC08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3124200"/>
            <a:ext cx="36576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38" b="0">
                <a:solidFill>
                  <a:srgbClr val="2B1830"/>
                </a:solidFill>
                <a:latin typeface="Noto Sans KR"/>
                <a:ea typeface="Noto Sans KR"/>
                <a:cs typeface="Noto Sans KR"/>
              </a:defRPr>
            </a:pPr>
            <a:r>
              <a:rPr sz="1238" b="0">
                <a:solidFill>
                  <a:srgbClr val="2B1830"/>
                </a:solidFill>
                <a:latin typeface="Noto Sans KR"/>
                <a:ea typeface="Noto Sans KR"/>
                <a:cs typeface="Noto Sans KR"/>
              </a:rPr>
              <a:t>파인튜닝된 KcELECTRA가 자연어 발화를 네 감정 확률로 분류한다. 대표 라벨과 점수 상태는 별도로 보존한다.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B41224CB-4EF2-4732-97BA-C7C7ED5D6A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3848100"/>
            <a:ext cx="3657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C9D4"/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2BE09ECC-4EF9-41E6-BD12-9542712267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3962400"/>
            <a:ext cx="10668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D5C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57150" tIns="19050" rIns="571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75" b="1">
                <a:solidFill>
                  <a:srgbClr val="2B1830"/>
                </a:solidFill>
                <a:latin typeface="Noto Sans KR"/>
                <a:ea typeface="Noto Sans KR"/>
                <a:cs typeface="Noto Sans KR"/>
              </a:defRPr>
            </a:pPr>
            <a:r>
              <a:rPr sz="1275" b="1">
                <a:solidFill>
                  <a:srgbClr val="2B1830"/>
                </a:solidFill>
                <a:latin typeface="Noto Sans KR"/>
                <a:ea typeface="Noto Sans KR"/>
                <a:cs typeface="Noto Sans KR"/>
              </a:rPr>
              <a:t>규칙 역할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AF0EE915-0582-466F-B309-6FC8B8FFAC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63200" y="3943350"/>
            <a:ext cx="24384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425" b="1">
                <a:solidFill>
                  <a:srgbClr val="7B43AA"/>
                </a:solidFill>
                <a:latin typeface="Noto Sans KR"/>
                <a:ea typeface="Noto Sans KR"/>
                <a:cs typeface="Noto Sans KR"/>
              </a:defRPr>
            </a:pPr>
            <a:r>
              <a:rPr sz="1425" b="1">
                <a:solidFill>
                  <a:srgbClr val="7B43AA"/>
                </a:solidFill>
                <a:latin typeface="Noto Sans KR"/>
                <a:ea typeface="Noto Sans KR"/>
                <a:cs typeface="Noto Sans KR"/>
              </a:rPr>
              <a:t>비교 가능한 점수와 흐름 생성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D1CF3DAE-1CD4-46C5-B145-3BFDF95642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4305300"/>
            <a:ext cx="36576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38" b="0">
                <a:solidFill>
                  <a:srgbClr val="2B1830"/>
                </a:solidFill>
                <a:latin typeface="Noto Sans KR"/>
                <a:ea typeface="Noto Sans KR"/>
                <a:cs typeface="Noto Sans KR"/>
              </a:defRPr>
            </a:pPr>
            <a:r>
              <a:rPr sz="1238" b="0">
                <a:solidFill>
                  <a:srgbClr val="2B1830"/>
                </a:solidFill>
                <a:latin typeface="Noto Sans KR"/>
                <a:ea typeface="Noto Sans KR"/>
                <a:cs typeface="Noto Sans KR"/>
              </a:rPr>
              <a:t>확률 가중합, 데이터 충족 기준, 추세 임계값은 서버의 결정론적 제품 규칙으로 계산한다.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97A8F00F-8E64-48EC-9296-BC010C27AA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4953000"/>
            <a:ext cx="3657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C9D4"/>
            </a:solidFill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EFC9FFB5-35FE-48CD-ADB7-E97C411F04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5067300"/>
            <a:ext cx="10668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D5C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57150" tIns="19050" rIns="571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75" b="1">
                <a:solidFill>
                  <a:srgbClr val="2B1830"/>
                </a:solidFill>
                <a:latin typeface="Noto Sans KR"/>
                <a:ea typeface="Noto Sans KR"/>
                <a:cs typeface="Noto Sans KR"/>
              </a:defRPr>
            </a:pPr>
            <a:r>
              <a:rPr sz="1275" b="1">
                <a:solidFill>
                  <a:srgbClr val="2B1830"/>
                </a:solidFill>
                <a:latin typeface="Noto Sans KR"/>
                <a:ea typeface="Noto Sans KR"/>
                <a:cs typeface="Noto Sans KR"/>
              </a:rPr>
              <a:t>설계 이유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6EDA087D-A64D-47F0-ABAE-8D63508B3C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63200" y="5048250"/>
            <a:ext cx="24384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425" b="1">
                <a:solidFill>
                  <a:srgbClr val="7B43AA"/>
                </a:solidFill>
                <a:latin typeface="Noto Sans KR"/>
                <a:ea typeface="Noto Sans KR"/>
                <a:cs typeface="Noto Sans KR"/>
              </a:defRPr>
            </a:pPr>
            <a:r>
              <a:rPr sz="1425" b="1">
                <a:solidFill>
                  <a:srgbClr val="7B43AA"/>
                </a:solidFill>
                <a:latin typeface="Noto Sans KR"/>
                <a:ea typeface="Noto Sans KR"/>
                <a:cs typeface="Noto Sans KR"/>
              </a:rPr>
              <a:t>적은 데이터의 추세 단정 방지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E5D1DDDD-1DEC-48A6-9DCC-4329781C4E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5410200"/>
            <a:ext cx="36576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38" b="0">
                <a:solidFill>
                  <a:srgbClr val="2B1830"/>
                </a:solidFill>
                <a:latin typeface="Noto Sans KR"/>
                <a:ea typeface="Noto Sans KR"/>
                <a:cs typeface="Noto Sans KR"/>
              </a:defRPr>
            </a:pPr>
            <a:r>
              <a:rPr sz="1238" b="0">
                <a:solidFill>
                  <a:srgbClr val="2B1830"/>
                </a:solidFill>
                <a:latin typeface="Noto Sans KR"/>
                <a:ea typeface="Noto Sans KR"/>
                <a:cs typeface="Noto Sans KR"/>
              </a:rPr>
              <a:t>3일 미만이면 ‘흐름 근거 부족’으로 처리한다. 점수는 진단·위험도·치료 효과 평가가 아닌 날짜 간 비교 지표다.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CB5F305C-3FD6-4A31-9F64-BD796A2EFA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6419850"/>
            <a:ext cx="36576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183B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95250" tIns="57150" rIns="95250" bIns="57150" anchor="ctr">
            <a:normAutofit fontScale="94262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75" b="1">
                <a:solidFill>
                  <a:srgbClr val="FFF5EA"/>
                </a:solidFill>
                <a:latin typeface="Noto Sans KR"/>
                <a:ea typeface="Noto Sans KR"/>
                <a:cs typeface="Noto Sans KR"/>
              </a:defRPr>
            </a:pPr>
            <a:r>
              <a:rPr sz="1275" b="1">
                <a:solidFill>
                  <a:srgbClr val="FFF5EA"/>
                </a:solidFill>
                <a:latin typeface="Noto Sans KR"/>
                <a:ea typeface="Noto Sans KR"/>
                <a:cs typeface="Noto Sans KR"/>
              </a:rPr>
              <a:t>모델의 분류 + 명시된 계산 규칙 = 재현 가능한 감정 흐름</a:t>
            </a:r>
          </a:p>
        </p:txBody>
      </p:sp>
    </p:spTree>
    <p:extLst>
      <p:ext uri="{BB962C8B-B14F-4D97-AF65-F5344CB8AC3E}">
        <p14:creationId xmlns:p14="http://schemas.microsoft.com/office/powerpoint/2010/main" val="1626481094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21102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48891F94-85B3-4FE8-A963-061A03F85B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590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1">
                <a:solidFill>
                  <a:srgbClr val="FF7D78"/>
                </a:solidFill>
                <a:latin typeface="Noto Sans KR"/>
                <a:ea typeface="Noto Sans KR"/>
                <a:cs typeface="Noto Sans KR"/>
              </a:defRPr>
            </a:pPr>
            <a:r>
              <a:rPr sz="1350" b="1">
                <a:solidFill>
                  <a:srgbClr val="FF7D78"/>
                </a:solidFill>
                <a:latin typeface="Noto Sans KR"/>
                <a:ea typeface="Noto Sans KR"/>
                <a:cs typeface="Noto Sans KR"/>
              </a:rPr>
              <a:t>APPENDIX</a:t>
            </a:r>
            <a:r>
              <a:rPr sz="1350" b="1">
                <a:solidFill>
                  <a:srgbClr val="FF7D78"/>
                </a:solidFill>
                <a:latin typeface="Noto Sans KR"/>
                <a:ea typeface="Noto Sans KR"/>
                <a:cs typeface="Noto Sans KR"/>
              </a:rPr>
              <a:t> · 마음리포트 · 리포트 생성 규칙과 원리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F9B1285-A8F5-4D07-8AA0-9B1617644C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23431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E5D6E1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B2276DA-0A3B-4C93-81E4-9AE4E81999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0375" y="68580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5D6E1"/>
          </a:solidFill>
          <a:ln xmlns:a="http://schemas.openxmlformats.org/drawingml/2006/main" w="0">
            <a:solidFill>
              <a:srgbClr val="E5D6E1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9F40C89-76CC-4F09-B10F-C3F9050233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95350"/>
            <a:ext cx="123444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98765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3375" b="1">
                <a:solidFill>
                  <a:srgbClr val="FFF5EA"/>
                </a:solidFill>
                <a:latin typeface="Noto Sans KR"/>
                <a:ea typeface="Noto Sans KR"/>
                <a:cs typeface="Noto Sans KR"/>
              </a:defRPr>
            </a:pPr>
            <a:r>
              <a:rPr sz="3375" b="1">
                <a:solidFill>
                  <a:srgbClr val="FFF5EA"/>
                </a:solidFill>
                <a:latin typeface="Noto Sans KR"/>
                <a:ea typeface="Noto Sans KR"/>
                <a:cs typeface="Noto Sans KR"/>
              </a:rPr>
              <a:t>원인 근거 검증과 리포트 생성 과정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A60045E-4B23-42CD-A912-78F079F678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514475"/>
            <a:ext cx="122682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500" b="0">
                <a:solidFill>
                  <a:srgbClr val="BFAABD"/>
                </a:solidFill>
                <a:latin typeface="Noto Sans KR"/>
                <a:ea typeface="Noto Sans KR"/>
                <a:cs typeface="Noto Sans KR"/>
              </a:defRPr>
            </a:pPr>
            <a:r>
              <a:rPr sz="1500" b="0">
                <a:solidFill>
                  <a:srgbClr val="BFAABD"/>
                </a:solidFill>
                <a:latin typeface="Noto Sans KR"/>
                <a:ea typeface="Noto Sans KR"/>
                <a:cs typeface="Noto Sans KR"/>
              </a:rPr>
              <a:t>후보 추출과 독립 분류를 분리해 원문 근거를 재검토하고, 검증 실패는 해당 단계로 되돌림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4ABA905-21FD-4E5D-ABA9-481D39578C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38350"/>
            <a:ext cx="7962900" cy="5010150"/>
          </a:xfrm>
          <a:prstGeom xmlns:a="http://schemas.openxmlformats.org/drawingml/2006/main" prst="roundRect">
            <a:avLst>
              <a:gd name="adj" fmla="val 2281"/>
            </a:avLst>
          </a:prstGeom>
          <a:solidFill xmlns:a="http://schemas.openxmlformats.org/drawingml/2006/main">
            <a:srgbClr val="2A1432"/>
          </a:solidFill>
          <a:ln xmlns:a="http://schemas.openxmlformats.org/drawingml/2006/main" w="19050">
            <a:solidFill>
              <a:srgbClr val="FF7D78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31B0C56-2C6E-4CC9-92C0-E2E1F70ADA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171700"/>
            <a:ext cx="7543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725" b="1">
                <a:solidFill>
                  <a:srgbClr val="FF7D78"/>
                </a:solidFill>
                <a:latin typeface="Noto Sans KR"/>
                <a:ea typeface="Noto Sans KR"/>
                <a:cs typeface="Noto Sans KR"/>
              </a:defRPr>
            </a:pPr>
            <a:r>
              <a:rPr sz="1725" b="1">
                <a:solidFill>
                  <a:srgbClr val="FF7D78"/>
                </a:solidFill>
                <a:latin typeface="Noto Sans KR"/>
                <a:ea typeface="Noto Sans KR"/>
                <a:cs typeface="Noto Sans KR"/>
              </a:rPr>
              <a:t>원인 근거부터 최종 payload까지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6F59DCA-3649-4D12-80AB-33154B2A7E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571750"/>
            <a:ext cx="7543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FF7D7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8DBB2EF-5577-49BE-BDEA-A75A90ABB4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3143250"/>
            <a:ext cx="304800" cy="171450"/>
          </a:xfrm>
          <a:prstGeom xmlns:a="http://schemas.openxmlformats.org/drawingml/2006/main" prst="downArrow">
            <a:avLst/>
          </a:prstGeom>
          <a:solidFill xmlns:a="http://schemas.openxmlformats.org/drawingml/2006/main">
            <a:srgbClr val="FF7D78"/>
          </a:solidFill>
          <a:ln xmlns:a="http://schemas.openxmlformats.org/drawingml/2006/main" w="0">
            <a:solidFill>
              <a:srgbClr val="FF7D78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44E1F35-B0C0-4774-93AD-B3055F2CE7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3848100"/>
            <a:ext cx="304800" cy="171450"/>
          </a:xfrm>
          <a:prstGeom xmlns:a="http://schemas.openxmlformats.org/drawingml/2006/main" prst="downArrow">
            <a:avLst/>
          </a:prstGeom>
          <a:solidFill xmlns:a="http://schemas.openxmlformats.org/drawingml/2006/main">
            <a:srgbClr val="FF7D78"/>
          </a:solidFill>
          <a:ln xmlns:a="http://schemas.openxmlformats.org/drawingml/2006/main" w="0">
            <a:solidFill>
              <a:srgbClr val="FF7D7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7C87A05-32A7-4171-A097-8DDDC0DB56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4552950"/>
            <a:ext cx="304800" cy="171450"/>
          </a:xfrm>
          <a:prstGeom xmlns:a="http://schemas.openxmlformats.org/drawingml/2006/main" prst="downArrow">
            <a:avLst/>
          </a:prstGeom>
          <a:solidFill xmlns:a="http://schemas.openxmlformats.org/drawingml/2006/main">
            <a:srgbClr val="FF7D78"/>
          </a:solidFill>
          <a:ln xmlns:a="http://schemas.openxmlformats.org/drawingml/2006/main" w="0">
            <a:solidFill>
              <a:srgbClr val="FF7D78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408A421-C509-4078-9F8E-29487F9BDB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5257800"/>
            <a:ext cx="304800" cy="171450"/>
          </a:xfrm>
          <a:prstGeom xmlns:a="http://schemas.openxmlformats.org/drawingml/2006/main" prst="downArrow">
            <a:avLst/>
          </a:prstGeom>
          <a:solidFill xmlns:a="http://schemas.openxmlformats.org/drawingml/2006/main">
            <a:srgbClr val="FF7D78"/>
          </a:solidFill>
          <a:ln xmlns:a="http://schemas.openxmlformats.org/drawingml/2006/main" w="0">
            <a:solidFill>
              <a:srgbClr val="FF7D78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1753C20-4127-4A48-AA6D-E20FA7CC07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5962650"/>
            <a:ext cx="304800" cy="323850"/>
          </a:xfrm>
          <a:prstGeom xmlns:a="http://schemas.openxmlformats.org/drawingml/2006/main" prst="downArrow">
            <a:avLst/>
          </a:prstGeom>
          <a:solidFill xmlns:a="http://schemas.openxmlformats.org/drawingml/2006/main">
            <a:srgbClr val="FF7D78"/>
          </a:solidFill>
          <a:ln xmlns:a="http://schemas.openxmlformats.org/drawingml/2006/main" w="0">
            <a:solidFill>
              <a:srgbClr val="FF7D78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ABD4162-6A32-4176-9B5E-43366B7A71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076700"/>
            <a:ext cx="285750" cy="1905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FF7D78"/>
          </a:solidFill>
          <a:ln xmlns:a="http://schemas.openxmlformats.org/drawingml/2006/main" w="0">
            <a:solidFill>
              <a:srgbClr val="FF7D78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411588A-7C2E-4C15-9FF5-B7DE8EC3C4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467350"/>
            <a:ext cx="285750" cy="1905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FF7D78"/>
          </a:solidFill>
          <a:ln xmlns:a="http://schemas.openxmlformats.org/drawingml/2006/main" w="0">
            <a:solidFill>
              <a:srgbClr val="FF7D78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7C26218-D681-4422-BB95-8E1102D22C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609850"/>
            <a:ext cx="5219700" cy="5334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FFF5EA"/>
          </a:solidFill>
          <a:ln xmlns:a="http://schemas.openxmlformats.org/drawingml/2006/main" w="14288">
            <a:solidFill>
              <a:srgbClr val="FF7D78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58932AA-8278-4A38-8673-AA1DD3760C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609850"/>
            <a:ext cx="85725" cy="5334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7D78"/>
          </a:solidFill>
          <a:ln xmlns:a="http://schemas.openxmlformats.org/drawingml/2006/main" w="0">
            <a:solidFill>
              <a:srgbClr val="FF7D78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7684E45-E384-46EE-A02F-2F3D28CCCF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2667000"/>
            <a:ext cx="4895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8818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1">
                <a:solidFill>
                  <a:srgbClr val="2B1830"/>
                </a:solidFill>
                <a:latin typeface="Noto Sans KR"/>
                <a:ea typeface="Noto Sans KR"/>
                <a:cs typeface="Noto Sans KR"/>
              </a:defRPr>
            </a:pPr>
            <a:r>
              <a:rPr sz="1350" b="1">
                <a:solidFill>
                  <a:srgbClr val="2B1830"/>
                </a:solidFill>
                <a:latin typeface="Noto Sans KR"/>
                <a:ea typeface="Noto Sans KR"/>
                <a:cs typeface="Noto Sans KR"/>
              </a:rPr>
              <a:t>원본 대화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7FCA73E-3F08-4BE9-A58E-438803B6F9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2895600"/>
            <a:ext cx="48958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91912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200" b="0">
                <a:solidFill>
                  <a:srgbClr val="2B1830"/>
                </a:solidFill>
                <a:latin typeface="Noto Sans KR"/>
                <a:ea typeface="Noto Sans KR"/>
                <a:cs typeface="Noto Sans KR"/>
              </a:defRPr>
            </a:pPr>
            <a:r>
              <a:rPr sz="1200" b="0">
                <a:solidFill>
                  <a:srgbClr val="2B1830"/>
                </a:solidFill>
                <a:latin typeface="Noto Sans KR"/>
                <a:ea typeface="Noto Sans KR"/>
                <a:cs typeface="Noto Sans KR"/>
              </a:rPr>
              <a:t>기간 내 사용자 발화와 감정 흐름을 원인 분석 입력으로 사용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43EB8FB-CAF9-487A-9DAE-67CDC143D6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314700"/>
            <a:ext cx="5219700" cy="5334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FFF5EA"/>
          </a:solidFill>
          <a:ln xmlns:a="http://schemas.openxmlformats.org/drawingml/2006/main" w="14288">
            <a:solidFill>
              <a:srgbClr val="FF7D78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BA6E0B2-15D0-4A02-B97A-2C04CC977A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314700"/>
            <a:ext cx="85725" cy="5334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7D78"/>
          </a:solidFill>
          <a:ln xmlns:a="http://schemas.openxmlformats.org/drawingml/2006/main" w="0">
            <a:solidFill>
              <a:srgbClr val="FF7D78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CF748D8-E9EA-4431-8FD1-D2C9CBBF48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371850"/>
            <a:ext cx="4895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8818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1">
                <a:solidFill>
                  <a:srgbClr val="2B1830"/>
                </a:solidFill>
                <a:latin typeface="Noto Sans KR"/>
                <a:ea typeface="Noto Sans KR"/>
                <a:cs typeface="Noto Sans KR"/>
              </a:defRPr>
            </a:pPr>
            <a:r>
              <a:rPr sz="1350" b="1">
                <a:solidFill>
                  <a:srgbClr val="2B1830"/>
                </a:solidFill>
                <a:latin typeface="Noto Sans KR"/>
                <a:ea typeface="Noto Sans KR"/>
                <a:cs typeface="Noto Sans KR"/>
              </a:rPr>
              <a:t>후보 추출 LLM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F3F1B7B-F7E0-47DC-98FF-9AC933249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600450"/>
            <a:ext cx="48958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91912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200" b="0">
                <a:solidFill>
                  <a:srgbClr val="2B1830"/>
                </a:solidFill>
                <a:latin typeface="Noto Sans KR"/>
                <a:ea typeface="Noto Sans KR"/>
                <a:cs typeface="Noto Sans KR"/>
              </a:defRPr>
            </a:pPr>
            <a:r>
              <a:rPr sz="1200" b="0">
                <a:solidFill>
                  <a:srgbClr val="2B1830"/>
                </a:solidFill>
                <a:latin typeface="Noto Sans KR"/>
                <a:ea typeface="Noto Sans KR"/>
                <a:cs typeface="Noto Sans KR"/>
              </a:rPr>
              <a:t>명시적 인과·반복 연관·전후 변화가 있는 원인 후보를 탐색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4526529-9425-42BF-8A26-B54E429661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019550"/>
            <a:ext cx="5219700" cy="5334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FFF5EA"/>
          </a:solidFill>
          <a:ln xmlns:a="http://schemas.openxmlformats.org/drawingml/2006/main" w="14288">
            <a:solidFill>
              <a:srgbClr val="FF7D78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8D309DD-A827-4024-93CD-3CC43414B3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019550"/>
            <a:ext cx="85725" cy="5334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7D78"/>
          </a:solidFill>
          <a:ln xmlns:a="http://schemas.openxmlformats.org/drawingml/2006/main" w="0">
            <a:solidFill>
              <a:srgbClr val="FF7D78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3C24BFA-E447-47B0-AF3E-6933BD5AAC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076700"/>
            <a:ext cx="4895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8818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1">
                <a:solidFill>
                  <a:srgbClr val="2B1830"/>
                </a:solidFill>
                <a:latin typeface="Noto Sans KR"/>
                <a:ea typeface="Noto Sans KR"/>
                <a:cs typeface="Noto Sans KR"/>
              </a:defRPr>
            </a:pPr>
            <a:r>
              <a:rPr sz="1350" b="1">
                <a:solidFill>
                  <a:srgbClr val="2B1830"/>
                </a:solidFill>
                <a:latin typeface="Noto Sans KR"/>
                <a:ea typeface="Noto Sans KR"/>
                <a:cs typeface="Noto Sans KR"/>
              </a:rPr>
              <a:t>독립 분류 LLM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A7D1EC0-6970-45D0-8347-6EE1F89E5E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305300"/>
            <a:ext cx="48958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91912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200" b="0">
                <a:solidFill>
                  <a:srgbClr val="2B1830"/>
                </a:solidFill>
                <a:latin typeface="Noto Sans KR"/>
                <a:ea typeface="Noto Sans KR"/>
                <a:cs typeface="Noto Sans KR"/>
              </a:defRPr>
            </a:pPr>
            <a:r>
              <a:rPr sz="1200" b="0">
                <a:solidFill>
                  <a:srgbClr val="2B1830"/>
                </a:solidFill>
                <a:latin typeface="Noto Sans KR"/>
                <a:ea typeface="Noto Sans KR"/>
                <a:cs typeface="Noto Sans KR"/>
              </a:rPr>
              <a:t>후보별 원문 메시지를 다시 확인해 stress·relief·unresolved로 분류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AC99FB8-B1F1-4492-B7A9-BB493D4F56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724400"/>
            <a:ext cx="5219700" cy="5334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FFF5EA"/>
          </a:solidFill>
          <a:ln xmlns:a="http://schemas.openxmlformats.org/drawingml/2006/main" w="14288">
            <a:solidFill>
              <a:srgbClr val="FF7D78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2ED3A9C7-ED03-4CE3-82AF-0B06EA1671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724400"/>
            <a:ext cx="85725" cy="5334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7D78"/>
          </a:solidFill>
          <a:ln xmlns:a="http://schemas.openxmlformats.org/drawingml/2006/main" w="0">
            <a:solidFill>
              <a:srgbClr val="FF7D78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C65D4CE-5913-49E7-9D3A-472AE910A0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781550"/>
            <a:ext cx="4895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8818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1">
                <a:solidFill>
                  <a:srgbClr val="2B1830"/>
                </a:solidFill>
                <a:latin typeface="Noto Sans KR"/>
                <a:ea typeface="Noto Sans KR"/>
                <a:cs typeface="Noto Sans KR"/>
              </a:defRPr>
            </a:pPr>
            <a:r>
              <a:rPr sz="1350" b="1">
                <a:solidFill>
                  <a:srgbClr val="2B1830"/>
                </a:solidFill>
                <a:latin typeface="Noto Sans KR"/>
                <a:ea typeface="Noto Sans KR"/>
                <a:cs typeface="Noto Sans KR"/>
              </a:rPr>
              <a:t>게시 가능 근거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3DFC9486-85CE-453B-ABAD-EF87275753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010150"/>
            <a:ext cx="48958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91912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200" b="0">
                <a:solidFill>
                  <a:srgbClr val="2B1830"/>
                </a:solidFill>
                <a:latin typeface="Noto Sans KR"/>
                <a:ea typeface="Noto Sans KR"/>
                <a:cs typeface="Noto Sans KR"/>
              </a:defRPr>
            </a:pPr>
            <a:r>
              <a:rPr sz="1200" b="0">
                <a:solidFill>
                  <a:srgbClr val="2B1830"/>
                </a:solidFill>
                <a:latin typeface="Noto Sans KR"/>
                <a:ea typeface="Noto Sans KR"/>
                <a:cs typeface="Noto Sans KR"/>
              </a:rPr>
              <a:t>publishable=true인 stress·relief만 서술 생성 입력으로 전달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6102623B-1F8D-4FCD-9FBE-29BA99AF36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5429250"/>
            <a:ext cx="5219700" cy="5334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FFF5EA"/>
          </a:solidFill>
          <a:ln xmlns:a="http://schemas.openxmlformats.org/drawingml/2006/main" w="14288">
            <a:solidFill>
              <a:srgbClr val="FF7D78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E42EF3DC-35E9-4519-85B1-1B332FF9F3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5429250"/>
            <a:ext cx="85725" cy="5334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7D78"/>
          </a:solidFill>
          <a:ln xmlns:a="http://schemas.openxmlformats.org/drawingml/2006/main" w="0">
            <a:solidFill>
              <a:srgbClr val="FF7D78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1D2A291A-411D-43C5-8E66-B309D8A6E5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486400"/>
            <a:ext cx="4895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8818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1">
                <a:solidFill>
                  <a:srgbClr val="2B1830"/>
                </a:solidFill>
                <a:latin typeface="Noto Sans KR"/>
                <a:ea typeface="Noto Sans KR"/>
                <a:cs typeface="Noto Sans KR"/>
              </a:defRPr>
            </a:pPr>
            <a:r>
              <a:rPr sz="1350" b="1">
                <a:solidFill>
                  <a:srgbClr val="2B1830"/>
                </a:solidFill>
                <a:latin typeface="Noto Sans KR"/>
                <a:ea typeface="Noto Sans KR"/>
                <a:cs typeface="Noto Sans KR"/>
              </a:rPr>
              <a:t>서술 생성 LLM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0C92ECF5-E7ED-440A-A468-CD0D80F52B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715000"/>
            <a:ext cx="48958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91912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200" b="0">
                <a:solidFill>
                  <a:srgbClr val="2B1830"/>
                </a:solidFill>
                <a:latin typeface="Noto Sans KR"/>
                <a:ea typeface="Noto Sans KR"/>
                <a:cs typeface="Noto Sans KR"/>
              </a:defRPr>
            </a:pPr>
            <a:r>
              <a:rPr sz="1200" b="0">
                <a:solidFill>
                  <a:srgbClr val="2B1830"/>
                </a:solidFill>
                <a:latin typeface="Noto Sans KR"/>
                <a:ea typeface="Noto Sans KR"/>
                <a:cs typeface="Noto Sans KR"/>
              </a:rPr>
              <a:t>짧은 제목·한 문장 요약·근거 분석 3개 이상·실천 대안 생성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FD9E2BD4-CCA9-4CBA-9DBD-4381CE0FE9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6286500"/>
            <a:ext cx="5219700" cy="5334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FFF5EA"/>
          </a:solidFill>
          <a:ln xmlns:a="http://schemas.openxmlformats.org/drawingml/2006/main" w="14288">
            <a:solidFill>
              <a:srgbClr val="FF7D78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0E8778CB-7B6E-478C-BAFD-FE757B362B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6286500"/>
            <a:ext cx="85725" cy="5334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7D78"/>
          </a:solidFill>
          <a:ln xmlns:a="http://schemas.openxmlformats.org/drawingml/2006/main" w="0">
            <a:solidFill>
              <a:srgbClr val="FF7D78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F8E366B8-27BA-4D80-B847-3897D66DE1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6343650"/>
            <a:ext cx="4895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8818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1">
                <a:solidFill>
                  <a:srgbClr val="2B1830"/>
                </a:solidFill>
                <a:latin typeface="Noto Sans KR"/>
                <a:ea typeface="Noto Sans KR"/>
                <a:cs typeface="Noto Sans KR"/>
              </a:defRPr>
            </a:pPr>
            <a:r>
              <a:rPr sz="1350" b="1">
                <a:solidFill>
                  <a:srgbClr val="2B1830"/>
                </a:solidFill>
                <a:latin typeface="Noto Sans KR"/>
                <a:ea typeface="Noto Sans KR"/>
                <a:cs typeface="Noto Sans KR"/>
              </a:rPr>
              <a:t>검증 후 조립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D1DB3EB7-875F-47ED-92AB-97825C1F63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6572250"/>
            <a:ext cx="48958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91912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200" b="0">
                <a:solidFill>
                  <a:srgbClr val="2B1830"/>
                </a:solidFill>
                <a:latin typeface="Noto Sans KR"/>
                <a:ea typeface="Noto Sans KR"/>
                <a:cs typeface="Noto Sans KR"/>
              </a:defRPr>
            </a:pPr>
            <a:r>
              <a:rPr sz="1200" b="0">
                <a:solidFill>
                  <a:srgbClr val="2B1830"/>
                </a:solidFill>
                <a:latin typeface="Noto Sans KR"/>
                <a:ea typeface="Noto Sans KR"/>
                <a:cs typeface="Noto Sans KR"/>
              </a:rPr>
              <a:t>데이터·분석·안전성 통과 후 format_report로 최종 payload 생성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E2340216-3EB1-4A45-A0FA-4A00EADB12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3771900"/>
            <a:ext cx="1866900" cy="78105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35183B"/>
          </a:solidFill>
          <a:ln xmlns:a="http://schemas.openxmlformats.org/drawingml/2006/main" w="14288">
            <a:solidFill>
              <a:srgbClr val="FF7D78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CEEED764-E0DE-4A54-B351-9875443260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3867150"/>
            <a:ext cx="16002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98039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75" b="1">
                <a:solidFill>
                  <a:srgbClr val="FF7D78"/>
                </a:solidFill>
                <a:latin typeface="Noto Sans KR"/>
                <a:ea typeface="Noto Sans KR"/>
                <a:cs typeface="Noto Sans KR"/>
              </a:defRPr>
            </a:pPr>
            <a:r>
              <a:rPr sz="1275" b="1">
                <a:solidFill>
                  <a:srgbClr val="FF7D78"/>
                </a:solidFill>
                <a:latin typeface="Noto Sans KR"/>
                <a:ea typeface="Noto Sans KR"/>
                <a:cs typeface="Noto Sans KR"/>
              </a:rPr>
              <a:t>근거 없음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FD5012E2-92B0-4821-9480-6BFF3AAC84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4143375"/>
            <a:ext cx="16002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8814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013" b="0">
                <a:solidFill>
                  <a:srgbClr val="FFF5EA"/>
                </a:solidFill>
                <a:latin typeface="Noto Sans KR"/>
                <a:ea typeface="Noto Sans KR"/>
                <a:cs typeface="Noto Sans KR"/>
              </a:defRPr>
            </a:pPr>
            <a:r>
              <a:rPr sz="1013" b="0">
                <a:solidFill>
                  <a:srgbClr val="FFF5EA"/>
                </a:solidFill>
                <a:latin typeface="Noto Sans KR"/>
                <a:ea typeface="Noto Sans KR"/>
                <a:cs typeface="Noto Sans KR"/>
              </a:rPr>
              <a:t>no_supported_causes</a:t>
            </a:r>
          </a:p>
          <a:p xmlns:a="http://schemas.openxmlformats.org/drawingml/2006/main">
            <a:pPr algn="ctr">
              <a:lnSpc>
                <a:spcPct val="105000"/>
              </a:lnSpc>
              <a:buNone/>
              <a:defRPr sz="1013" b="0">
                <a:solidFill>
                  <a:srgbClr val="FFF5EA"/>
                </a:solidFill>
                <a:latin typeface="Noto Sans KR"/>
                <a:ea typeface="Noto Sans KR"/>
                <a:cs typeface="Noto Sans KR"/>
              </a:defRPr>
            </a:pPr>
            <a:r>
              <a:rPr sz="1013" b="0">
                <a:solidFill>
                  <a:srgbClr val="FFF5EA"/>
                </a:solidFill>
                <a:latin typeface="Noto Sans KR"/>
                <a:ea typeface="Noto Sans KR"/>
                <a:cs typeface="Noto Sans KR"/>
              </a:rPr>
              <a:t>빈 배열 + 안내 문구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B224DB01-403E-4EF4-ABE6-67C1535010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5162550"/>
            <a:ext cx="1866900" cy="933450"/>
          </a:xfrm>
          <a:prstGeom xmlns:a="http://schemas.openxmlformats.org/drawingml/2006/main" prst="roundRect">
            <a:avLst>
              <a:gd name="adj" fmla="val 8163"/>
            </a:avLst>
          </a:prstGeom>
          <a:solidFill xmlns:a="http://schemas.openxmlformats.org/drawingml/2006/main">
            <a:srgbClr val="FFD5CF"/>
          </a:solidFill>
          <a:ln xmlns:a="http://schemas.openxmlformats.org/drawingml/2006/main" w="14288">
            <a:solidFill>
              <a:srgbClr val="FF7D78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4D5E49D6-85B5-408F-B063-06BE52CC2F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5257800"/>
            <a:ext cx="16002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98039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75" b="1">
                <a:solidFill>
                  <a:srgbClr val="2B1830"/>
                </a:solidFill>
                <a:latin typeface="Noto Sans KR"/>
                <a:ea typeface="Noto Sans KR"/>
                <a:cs typeface="Noto Sans KR"/>
              </a:defRPr>
            </a:pPr>
            <a:r>
              <a:rPr sz="1275" b="1">
                <a:solidFill>
                  <a:srgbClr val="2B1830"/>
                </a:solidFill>
                <a:latin typeface="Noto Sans KR"/>
                <a:ea typeface="Noto Sans KR"/>
                <a:cs typeface="Noto Sans KR"/>
              </a:rPr>
              <a:t>서술 제한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02AE2737-2FA9-4404-BA8F-C8D9B01E79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5543550"/>
            <a:ext cx="16002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013" b="0">
                <a:solidFill>
                  <a:srgbClr val="2B1830"/>
                </a:solidFill>
                <a:latin typeface="Noto Sans KR"/>
                <a:ea typeface="Noto Sans KR"/>
                <a:cs typeface="Noto Sans KR"/>
              </a:defRPr>
            </a:pPr>
            <a:r>
              <a:rPr sz="1013" b="0">
                <a:solidFill>
                  <a:srgbClr val="2B1830"/>
                </a:solidFill>
                <a:latin typeface="Noto Sans KR"/>
                <a:ea typeface="Noto Sans KR"/>
                <a:cs typeface="Noto Sans KR"/>
              </a:rPr>
              <a:t>점수·내부 상태·직접 인용은</a:t>
            </a:r>
          </a:p>
          <a:p xmlns:a="http://schemas.openxmlformats.org/drawingml/2006/main">
            <a:pPr algn="ctr">
              <a:lnSpc>
                <a:spcPct val="105000"/>
              </a:lnSpc>
              <a:buNone/>
              <a:defRPr sz="1013" b="0">
                <a:solidFill>
                  <a:srgbClr val="2B1830"/>
                </a:solidFill>
                <a:latin typeface="Noto Sans KR"/>
                <a:ea typeface="Noto Sans KR"/>
                <a:cs typeface="Noto Sans KR"/>
              </a:defRPr>
            </a:pPr>
            <a:r>
              <a:rPr sz="1013" b="0">
                <a:solidFill>
                  <a:srgbClr val="2B1830"/>
                </a:solidFill>
                <a:latin typeface="Noto Sans KR"/>
                <a:ea typeface="Noto Sans KR"/>
                <a:cs typeface="Noto Sans KR"/>
              </a:rPr>
              <a:t>화면에 노출하지 않음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12158E23-8C5A-484C-80BF-434AD046CC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0" y="2038350"/>
            <a:ext cx="4114800" cy="5010150"/>
          </a:xfrm>
          <a:prstGeom xmlns:a="http://schemas.openxmlformats.org/drawingml/2006/main" prst="roundRect">
            <a:avLst>
              <a:gd name="adj" fmla="val 2778"/>
            </a:avLst>
          </a:prstGeom>
          <a:solidFill xmlns:a="http://schemas.openxmlformats.org/drawingml/2006/main">
            <a:srgbClr val="FFF5EA"/>
          </a:solidFill>
          <a:ln xmlns:a="http://schemas.openxmlformats.org/drawingml/2006/main" w="19050">
            <a:solidFill>
              <a:srgbClr val="FF7D78"/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81C96A9E-0EA5-42BC-ABC7-CDCD0BCB9A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2209800"/>
            <a:ext cx="36576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75" b="1">
                <a:solidFill>
                  <a:srgbClr val="2B1830"/>
                </a:solidFill>
                <a:latin typeface="Noto Sans KR"/>
                <a:ea typeface="Noto Sans KR"/>
                <a:cs typeface="Noto Sans KR"/>
              </a:defRPr>
            </a:pPr>
            <a:r>
              <a:rPr sz="1875" b="1">
                <a:solidFill>
                  <a:srgbClr val="2B1830"/>
                </a:solidFill>
                <a:latin typeface="Noto Sans KR"/>
                <a:ea typeface="Noto Sans KR"/>
                <a:cs typeface="Noto Sans KR"/>
              </a:rPr>
              <a:t>AI 적용과 설계 근거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FEA1E5C4-B01D-4B07-9A56-1511275418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2628900"/>
            <a:ext cx="3657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FF7D78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0970BA7B-EC7F-4BC3-9B3C-8E8073C800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2781300"/>
            <a:ext cx="10668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D5C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57150" tIns="19050" rIns="571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75" b="1">
                <a:solidFill>
                  <a:srgbClr val="2B1830"/>
                </a:solidFill>
                <a:latin typeface="Noto Sans KR"/>
                <a:ea typeface="Noto Sans KR"/>
                <a:cs typeface="Noto Sans KR"/>
              </a:defRPr>
            </a:pPr>
            <a:r>
              <a:rPr sz="1275" b="1">
                <a:solidFill>
                  <a:srgbClr val="2B1830"/>
                </a:solidFill>
                <a:latin typeface="Noto Sans KR"/>
                <a:ea typeface="Noto Sans KR"/>
                <a:cs typeface="Noto Sans KR"/>
              </a:rPr>
              <a:t>AI 역할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12E75ABA-40B7-4436-9CF0-A202278C44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63200" y="2762250"/>
            <a:ext cx="24384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425" b="1">
                <a:solidFill>
                  <a:srgbClr val="7B43AA"/>
                </a:solidFill>
                <a:latin typeface="Noto Sans KR"/>
                <a:ea typeface="Noto Sans KR"/>
                <a:cs typeface="Noto Sans KR"/>
              </a:defRPr>
            </a:pPr>
            <a:r>
              <a:rPr sz="1425" b="1">
                <a:solidFill>
                  <a:srgbClr val="7B43AA"/>
                </a:solidFill>
                <a:latin typeface="Noto Sans KR"/>
                <a:ea typeface="Noto Sans KR"/>
                <a:cs typeface="Noto Sans KR"/>
              </a:rPr>
              <a:t>추출·교차분류·서술 생성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4DF53737-7D75-4497-AB01-D3B1BE2E36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3124200"/>
            <a:ext cx="36576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38" b="0">
                <a:solidFill>
                  <a:srgbClr val="2B1830"/>
                </a:solidFill>
                <a:latin typeface="Noto Sans KR"/>
                <a:ea typeface="Noto Sans KR"/>
                <a:cs typeface="Noto Sans KR"/>
              </a:defRPr>
            </a:pPr>
            <a:r>
              <a:rPr sz="1238" b="0">
                <a:solidFill>
                  <a:srgbClr val="2B1830"/>
                </a:solidFill>
                <a:latin typeface="Noto Sans KR"/>
                <a:ea typeface="Noto Sans KR"/>
                <a:cs typeface="Noto Sans KR"/>
              </a:rPr>
              <a:t>한 모델의 첫 판단을 그대로 쓰지 않고, 후보 추출과 원문 재분류를 분리한 뒤 검증된 근거로만 분석 문장을 만든다.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49C0E1D9-32A3-4E25-8738-869735D28C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3886200"/>
            <a:ext cx="3657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C9D4"/>
            </a:solidFill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8AA1F324-FB54-4FFD-B362-2618892102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4000500"/>
            <a:ext cx="10668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D5C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57150" tIns="19050" rIns="571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75" b="1">
                <a:solidFill>
                  <a:srgbClr val="2B1830"/>
                </a:solidFill>
                <a:latin typeface="Noto Sans KR"/>
                <a:ea typeface="Noto Sans KR"/>
                <a:cs typeface="Noto Sans KR"/>
              </a:defRPr>
            </a:pPr>
            <a:r>
              <a:rPr sz="1275" b="1">
                <a:solidFill>
                  <a:srgbClr val="2B1830"/>
                </a:solidFill>
                <a:latin typeface="Noto Sans KR"/>
                <a:ea typeface="Noto Sans KR"/>
                <a:cs typeface="Noto Sans KR"/>
              </a:rPr>
              <a:t>생성 계약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FFF48C98-902A-4D08-ADC0-EC9F139003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63200" y="3981450"/>
            <a:ext cx="24384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425" b="1">
                <a:solidFill>
                  <a:srgbClr val="7B43AA"/>
                </a:solidFill>
                <a:latin typeface="Noto Sans KR"/>
                <a:ea typeface="Noto Sans KR"/>
                <a:cs typeface="Noto Sans KR"/>
              </a:defRPr>
            </a:pPr>
            <a:r>
              <a:rPr sz="1425" b="1">
                <a:solidFill>
                  <a:srgbClr val="7B43AA"/>
                </a:solidFill>
                <a:latin typeface="Noto Sans KR"/>
                <a:ea typeface="Noto Sans KR"/>
                <a:cs typeface="Noto Sans KR"/>
              </a:rPr>
              <a:t>근거·분량·실행 가능성 통제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7C030065-0A02-45A8-A6E0-C0A71401BB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4343400"/>
            <a:ext cx="36576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38" b="0">
                <a:solidFill>
                  <a:srgbClr val="2B1830"/>
                </a:solidFill>
                <a:latin typeface="Noto Sans KR"/>
                <a:ea typeface="Noto Sans KR"/>
                <a:cs typeface="Noto Sans KR"/>
              </a:defRPr>
            </a:pPr>
            <a:r>
              <a:rPr sz="1238" b="0">
                <a:solidFill>
                  <a:srgbClr val="2B1830"/>
                </a:solidFill>
                <a:latin typeface="Noto Sans KR"/>
                <a:ea typeface="Noto Sans KR"/>
                <a:cs typeface="Noto Sans KR"/>
              </a:rPr>
              <a:t>근거 기반 분석 3개 이상과 ‘이유+시작 방법’이 있는 행동 제안을 요구하며, 직접 인용과 내부 점수는 제외한다.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8A7BA4AE-E632-452D-A372-30A81E2D9E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5105400"/>
            <a:ext cx="3657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C9D4"/>
            </a:solidFill>
            <a:prstDash val="solid"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BF761C7B-DA1C-4AF7-99F2-74E054DE0C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5219700"/>
            <a:ext cx="10668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D5C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57150" tIns="19050" rIns="571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75" b="1">
                <a:solidFill>
                  <a:srgbClr val="2B1830"/>
                </a:solidFill>
                <a:latin typeface="Noto Sans KR"/>
                <a:ea typeface="Noto Sans KR"/>
                <a:cs typeface="Noto Sans KR"/>
              </a:defRPr>
            </a:pPr>
            <a:r>
              <a:rPr sz="1275" b="1">
                <a:solidFill>
                  <a:srgbClr val="2B1830"/>
                </a:solidFill>
                <a:latin typeface="Noto Sans KR"/>
                <a:ea typeface="Noto Sans KR"/>
                <a:cs typeface="Noto Sans KR"/>
              </a:rPr>
              <a:t>실패 처리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80BD29A4-6FED-49A8-A2F3-F3AF254AF9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63200" y="5200650"/>
            <a:ext cx="24384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425" b="1">
                <a:solidFill>
                  <a:srgbClr val="7B43AA"/>
                </a:solidFill>
                <a:latin typeface="Noto Sans KR"/>
                <a:ea typeface="Noto Sans KR"/>
                <a:cs typeface="Noto Sans KR"/>
              </a:defRPr>
            </a:pPr>
            <a:r>
              <a:rPr sz="1425" b="1">
                <a:solidFill>
                  <a:srgbClr val="7B43AA"/>
                </a:solidFill>
                <a:latin typeface="Noto Sans KR"/>
                <a:ea typeface="Noto Sans KR"/>
                <a:cs typeface="Noto Sans KR"/>
              </a:rPr>
              <a:t>없는 원인은 만들지 않음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14BAC1C8-B20A-42E1-8431-D33A13C642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5562600"/>
            <a:ext cx="36576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38" b="0">
                <a:solidFill>
                  <a:srgbClr val="2B1830"/>
                </a:solidFill>
                <a:latin typeface="Noto Sans KR"/>
                <a:ea typeface="Noto Sans KR"/>
                <a:cs typeface="Noto Sans KR"/>
              </a:defRPr>
            </a:pPr>
            <a:r>
              <a:rPr sz="1238" b="0">
                <a:solidFill>
                  <a:srgbClr val="2B1830"/>
                </a:solidFill>
                <a:latin typeface="Noto Sans KR"/>
                <a:ea typeface="Noto Sans KR"/>
                <a:cs typeface="Noto Sans KR"/>
              </a:rPr>
              <a:t>근거가 없으면 빈 원인 배열과 안내 문구를 반환한다. 오류는 원인·서술 등 해당 에이전트만 재실행하고, 고위험은 안전 응답으로 전환한다.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33D5AF8F-0D76-4951-88C0-5EB5D8A6D6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6419850"/>
            <a:ext cx="36576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183B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95250" tIns="57150" rIns="95250" bIns="57150" anchor="ctr">
            <a:normAutofit fontScale="83679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75" b="1">
                <a:solidFill>
                  <a:srgbClr val="FFF5EA"/>
                </a:solidFill>
                <a:latin typeface="Noto Sans KR"/>
                <a:ea typeface="Noto Sans KR"/>
                <a:cs typeface="Noto Sans KR"/>
              </a:defRPr>
            </a:pPr>
            <a:r>
              <a:rPr sz="1275" b="1">
                <a:solidFill>
                  <a:srgbClr val="FFF5EA"/>
                </a:solidFill>
                <a:latin typeface="Noto Sans KR"/>
                <a:ea typeface="Noto Sans KR"/>
                <a:cs typeface="Noto Sans KR"/>
              </a:rPr>
              <a:t>최종 출력: 제목·요약·감정 흐름·검증된 원인·분석·실천 대안</a:t>
            </a:r>
          </a:p>
        </p:txBody>
      </p:sp>
    </p:spTree>
    <p:extLst>
      <p:ext uri="{BB962C8B-B14F-4D97-AF65-F5344CB8AC3E}">
        <p14:creationId xmlns:p14="http://schemas.microsoft.com/office/powerpoint/2010/main" val="2011701998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21102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C04FB84E-2D69-40FA-893D-8E09315AA9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590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1">
                <a:solidFill>
                  <a:srgbClr val="B882F2"/>
                </a:solidFill>
                <a:latin typeface="Noto Sans KR"/>
                <a:ea typeface="Noto Sans KR"/>
                <a:cs typeface="Noto Sans KR"/>
              </a:defRPr>
            </a:pPr>
            <a:r>
              <a:rPr sz="1350" b="1">
                <a:solidFill>
                  <a:srgbClr val="B882F2"/>
                </a:solidFill>
                <a:latin typeface="Noto Sans KR"/>
                <a:ea typeface="Noto Sans KR"/>
                <a:cs typeface="Noto Sans KR"/>
              </a:rPr>
              <a:t>APPENDIX</a:t>
            </a:r>
            <a:r>
              <a:rPr sz="1350" b="1">
                <a:solidFill>
                  <a:srgbClr val="B882F2"/>
                </a:solidFill>
                <a:latin typeface="Noto Sans KR"/>
                <a:ea typeface="Noto Sans KR"/>
                <a:cs typeface="Noto Sans KR"/>
              </a:rPr>
              <a:t> · MBTI 분석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69419F1-14F5-4A3F-8C90-05FD0C9F4C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23431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E5D6E1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F6F342E-A288-40FC-9C9D-D624BF8FBD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0375" y="68580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5D6E1"/>
          </a:solidFill>
          <a:ln xmlns:a="http://schemas.openxmlformats.org/drawingml/2006/main" w="0">
            <a:solidFill>
              <a:srgbClr val="E5D6E1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A66D33E-C30B-48BF-8F6E-241E799741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95350"/>
            <a:ext cx="123444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98765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3375" b="1">
                <a:solidFill>
                  <a:srgbClr val="FFF5EA"/>
                </a:solidFill>
                <a:latin typeface="Noto Sans KR"/>
                <a:ea typeface="Noto Sans KR"/>
                <a:cs typeface="Noto Sans KR"/>
              </a:defRPr>
            </a:pPr>
            <a:r>
              <a:rPr sz="3375" b="1">
                <a:solidFill>
                  <a:srgbClr val="FFF5EA"/>
                </a:solidFill>
                <a:latin typeface="Noto Sans KR"/>
                <a:ea typeface="Noto Sans KR"/>
                <a:cs typeface="Noto Sans KR"/>
              </a:rPr>
              <a:t>대화 기록에서 월간 성향으로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05CC528-0E52-4195-A978-C425BF51DF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514475"/>
            <a:ext cx="122682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500" b="0">
                <a:solidFill>
                  <a:srgbClr val="BFAABD"/>
                </a:solidFill>
                <a:latin typeface="Noto Sans KR"/>
                <a:ea typeface="Noto Sans KR"/>
                <a:cs typeface="Noto Sans KR"/>
              </a:defRPr>
            </a:pPr>
            <a:r>
              <a:rPr sz="1500" b="0">
                <a:solidFill>
                  <a:srgbClr val="BFAABD"/>
                </a:solidFill>
                <a:latin typeface="Noto Sans KR"/>
                <a:ea typeface="Noto Sans KR"/>
                <a:cs typeface="Noto Sans KR"/>
              </a:rPr>
              <a:t>대화 중 별도 규칙으로 제시된 전용 MBTI 질문과 답변을 DB에 저장해 월간 분석에 사용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A8EB090-A169-491D-90E8-FB52A6D505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38350"/>
            <a:ext cx="7429500" cy="5010150"/>
          </a:xfrm>
          <a:prstGeom xmlns:a="http://schemas.openxmlformats.org/drawingml/2006/main" prst="roundRect">
            <a:avLst>
              <a:gd name="adj" fmla="val 2281"/>
            </a:avLst>
          </a:prstGeom>
          <a:solidFill xmlns:a="http://schemas.openxmlformats.org/drawingml/2006/main">
            <a:srgbClr val="2A1432"/>
          </a:solidFill>
          <a:ln xmlns:a="http://schemas.openxmlformats.org/drawingml/2006/main" w="19050">
            <a:solidFill>
              <a:srgbClr val="B882F2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AAC55CD-7588-4AEC-9AE0-D65AF017AE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171700"/>
            <a:ext cx="7010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725" b="1">
                <a:solidFill>
                  <a:srgbClr val="B882F2"/>
                </a:solidFill>
                <a:latin typeface="Noto Sans KR"/>
                <a:ea typeface="Noto Sans KR"/>
                <a:cs typeface="Noto Sans KR"/>
              </a:defRPr>
            </a:pPr>
            <a:r>
              <a:rPr sz="1725" b="1">
                <a:solidFill>
                  <a:srgbClr val="B882F2"/>
                </a:solidFill>
                <a:latin typeface="Noto Sans KR"/>
                <a:ea typeface="Noto Sans KR"/>
                <a:cs typeface="Noto Sans KR"/>
              </a:rPr>
              <a:t>서비스 안에서의 역할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6C14EEC-FECA-4953-8E47-80D1EE81E8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571750"/>
            <a:ext cx="701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B882F2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D89B22E-0E13-4AA4-A863-004CDA05CD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857500"/>
            <a:ext cx="1981200" cy="142875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FF5EA"/>
          </a:solidFill>
          <a:ln xmlns:a="http://schemas.openxmlformats.org/drawingml/2006/main" w="17145">
            <a:solidFill>
              <a:srgbClr val="B882F2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F8C49E2-3D53-4389-8D67-D94521D651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028950"/>
            <a:ext cx="1638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500" b="1">
                <a:solidFill>
                  <a:srgbClr val="2B1830"/>
                </a:solidFill>
                <a:latin typeface="Noto Sans KR"/>
                <a:ea typeface="Noto Sans KR"/>
                <a:cs typeface="Noto Sans KR"/>
              </a:defRPr>
            </a:pPr>
            <a:r>
              <a:rPr sz="1500" b="1">
                <a:solidFill>
                  <a:srgbClr val="2B1830"/>
                </a:solidFill>
                <a:latin typeface="Noto Sans KR"/>
                <a:ea typeface="Noto Sans KR"/>
                <a:cs typeface="Noto Sans KR"/>
              </a:rPr>
              <a:t>전용 질문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7A49BEB-8779-4EE8-A4F9-DE3D494FC5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448050"/>
            <a:ext cx="16383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0">
                <a:solidFill>
                  <a:srgbClr val="2B1830"/>
                </a:solidFill>
                <a:latin typeface="Noto Sans KR"/>
                <a:ea typeface="Noto Sans KR"/>
                <a:cs typeface="Noto Sans KR"/>
              </a:defRPr>
            </a:pPr>
            <a:r>
              <a:rPr sz="1200" b="0">
                <a:solidFill>
                  <a:srgbClr val="2B1830"/>
                </a:solidFill>
                <a:latin typeface="Noto Sans KR"/>
                <a:ea typeface="Noto Sans KR"/>
                <a:cs typeface="Noto Sans KR"/>
              </a:rPr>
              <a:t>대화 흐름에 맞춰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200" b="0">
                <a:solidFill>
                  <a:srgbClr val="2B1830"/>
                </a:solidFill>
                <a:latin typeface="Noto Sans KR"/>
                <a:ea typeface="Noto Sans KR"/>
                <a:cs typeface="Noto Sans KR"/>
              </a:defRPr>
            </a:pPr>
            <a:r>
              <a:rPr sz="1200" b="0">
                <a:solidFill>
                  <a:srgbClr val="2B1830"/>
                </a:solidFill>
                <a:latin typeface="Noto Sans KR"/>
                <a:ea typeface="Noto Sans KR"/>
                <a:cs typeface="Noto Sans KR"/>
              </a:rPr>
              <a:t>자연스럽게 제시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993140F-A96E-42F6-BBFF-7E823E8467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3371850"/>
            <a:ext cx="247650" cy="3429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B882F2"/>
          </a:solidFill>
          <a:ln xmlns:a="http://schemas.openxmlformats.org/drawingml/2006/main" w="0">
            <a:solidFill>
              <a:srgbClr val="B882F2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5856BC6-B9B5-4840-BBBA-B1C0B3637C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2857500"/>
            <a:ext cx="1981200" cy="142875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7D4FA"/>
          </a:solidFill>
          <a:ln xmlns:a="http://schemas.openxmlformats.org/drawingml/2006/main" w="17145">
            <a:solidFill>
              <a:srgbClr val="B882F2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4357294-16B2-4459-870A-67F4789B6D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3028950"/>
            <a:ext cx="1638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500" b="1">
                <a:solidFill>
                  <a:srgbClr val="2B1830"/>
                </a:solidFill>
                <a:latin typeface="Noto Sans KR"/>
                <a:ea typeface="Noto Sans KR"/>
                <a:cs typeface="Noto Sans KR"/>
              </a:defRPr>
            </a:pPr>
            <a:r>
              <a:rPr sz="1500" b="1">
                <a:solidFill>
                  <a:srgbClr val="2B1830"/>
                </a:solidFill>
                <a:latin typeface="Noto Sans KR"/>
                <a:ea typeface="Noto Sans KR"/>
                <a:cs typeface="Noto Sans KR"/>
              </a:rPr>
              <a:t>DB 저장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FD0CFEB-327A-4CEA-800B-F0C7BA929C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3448050"/>
            <a:ext cx="16383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0">
                <a:solidFill>
                  <a:srgbClr val="2B1830"/>
                </a:solidFill>
                <a:latin typeface="Noto Sans KR"/>
                <a:ea typeface="Noto Sans KR"/>
                <a:cs typeface="Noto Sans KR"/>
              </a:defRPr>
            </a:pPr>
            <a:r>
              <a:rPr sz="1200" b="0">
                <a:solidFill>
                  <a:srgbClr val="2B1830"/>
                </a:solidFill>
                <a:latin typeface="Noto Sans KR"/>
                <a:ea typeface="Noto Sans KR"/>
                <a:cs typeface="Noto Sans KR"/>
              </a:rPr>
              <a:t>질문·답변과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200" b="0">
                <a:solidFill>
                  <a:srgbClr val="2B1830"/>
                </a:solidFill>
                <a:latin typeface="Noto Sans KR"/>
                <a:ea typeface="Noto Sans KR"/>
                <a:cs typeface="Noto Sans KR"/>
              </a:defRPr>
            </a:pPr>
            <a:r>
              <a:rPr sz="1200" b="0">
                <a:solidFill>
                  <a:srgbClr val="2B1830"/>
                </a:solidFill>
                <a:latin typeface="Noto Sans KR"/>
                <a:ea typeface="Noto Sans KR"/>
                <a:cs typeface="Noto Sans KR"/>
              </a:rPr>
              <a:t>대상 축을 함께 저장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54B55D6-D796-4CA5-A087-991DD5EA55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2100" y="3371850"/>
            <a:ext cx="247650" cy="3429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B882F2"/>
          </a:solidFill>
          <a:ln xmlns:a="http://schemas.openxmlformats.org/drawingml/2006/main" w="0">
            <a:solidFill>
              <a:srgbClr val="B882F2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C005A1F-F38B-45EF-A813-DC9B867270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2857500"/>
            <a:ext cx="1981200" cy="142875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FF5EA"/>
          </a:solidFill>
          <a:ln xmlns:a="http://schemas.openxmlformats.org/drawingml/2006/main" w="17145">
            <a:solidFill>
              <a:srgbClr val="B882F2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37397D3-DF61-4FD9-BE0D-5D65C44D12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48350" y="3028950"/>
            <a:ext cx="1638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500" b="1">
                <a:solidFill>
                  <a:srgbClr val="2B1830"/>
                </a:solidFill>
                <a:latin typeface="Noto Sans KR"/>
                <a:ea typeface="Noto Sans KR"/>
                <a:cs typeface="Noto Sans KR"/>
              </a:defRPr>
            </a:pPr>
            <a:r>
              <a:rPr sz="1500" b="1">
                <a:solidFill>
                  <a:srgbClr val="2B1830"/>
                </a:solidFill>
                <a:latin typeface="Noto Sans KR"/>
                <a:ea typeface="Noto Sans KR"/>
                <a:cs typeface="Noto Sans KR"/>
              </a:rPr>
              <a:t>월간 분석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32EFE91-E31C-4F54-B9E9-6F1A94AF7E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48350" y="3448050"/>
            <a:ext cx="16383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0">
                <a:solidFill>
                  <a:srgbClr val="2B1830"/>
                </a:solidFill>
                <a:latin typeface="Noto Sans KR"/>
                <a:ea typeface="Noto Sans KR"/>
                <a:cs typeface="Noto Sans KR"/>
              </a:defRPr>
            </a:pPr>
            <a:r>
              <a:rPr sz="1200" b="0">
                <a:solidFill>
                  <a:srgbClr val="2B1830"/>
                </a:solidFill>
                <a:latin typeface="Noto Sans KR"/>
                <a:ea typeface="Noto Sans KR"/>
                <a:cs typeface="Noto Sans KR"/>
              </a:rPr>
              <a:t>저장된 Q&amp;A로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200" b="0">
                <a:solidFill>
                  <a:srgbClr val="2B1830"/>
                </a:solidFill>
                <a:latin typeface="Noto Sans KR"/>
                <a:ea typeface="Noto Sans KR"/>
                <a:cs typeface="Noto Sans KR"/>
              </a:defRPr>
            </a:pPr>
            <a:r>
              <a:rPr sz="1200" b="0">
                <a:solidFill>
                  <a:srgbClr val="2B1830"/>
                </a:solidFill>
                <a:latin typeface="Noto Sans KR"/>
                <a:ea typeface="Noto Sans KR"/>
                <a:cs typeface="Noto Sans KR"/>
              </a:rPr>
              <a:t>성향 근거와 변화 확인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626D4E2-0987-4BCA-BE31-7BDC436C6A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686300"/>
            <a:ext cx="12001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D4F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75" b="1">
                <a:solidFill>
                  <a:srgbClr val="2B1830"/>
                </a:solidFill>
                <a:latin typeface="Noto Sans KR"/>
                <a:ea typeface="Noto Sans KR"/>
                <a:cs typeface="Noto Sans KR"/>
              </a:defRPr>
            </a:pPr>
            <a:r>
              <a:rPr sz="1275" b="1">
                <a:solidFill>
                  <a:srgbClr val="2B1830"/>
                </a:solidFill>
                <a:latin typeface="Noto Sans KR"/>
                <a:ea typeface="Noto Sans KR"/>
                <a:cs typeface="Noto Sans KR"/>
              </a:rPr>
              <a:t>서비스 효과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ABA176E-8691-418B-A061-94B9910042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4629150"/>
            <a:ext cx="53149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90987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500" b="1">
                <a:solidFill>
                  <a:srgbClr val="FFF5EA"/>
                </a:solidFill>
                <a:latin typeface="Noto Sans KR"/>
                <a:ea typeface="Noto Sans KR"/>
                <a:cs typeface="Noto Sans KR"/>
              </a:defRPr>
            </a:pPr>
            <a:r>
              <a:rPr sz="1500" b="1">
                <a:solidFill>
                  <a:srgbClr val="FFF5EA"/>
                </a:solidFill>
                <a:latin typeface="Noto Sans KR"/>
                <a:ea typeface="Noto Sans KR"/>
                <a:cs typeface="Noto Sans KR"/>
              </a:rPr>
              <a:t>대화의 자연스러움은 유지하고, 월간 결과에는 실제 질문·답변 근거를 남김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9CBEECA-3857-4F26-B18B-DC45C5D075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5181600"/>
            <a:ext cx="6667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B882F2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3BA5C41-33B3-4859-B953-D6A5D7CB36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5410200"/>
            <a:ext cx="12001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D4F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75" b="1">
                <a:solidFill>
                  <a:srgbClr val="2B1830"/>
                </a:solidFill>
                <a:latin typeface="Noto Sans KR"/>
                <a:ea typeface="Noto Sans KR"/>
                <a:cs typeface="Noto Sans KR"/>
              </a:defRPr>
            </a:pPr>
            <a:r>
              <a:rPr sz="1275" b="1">
                <a:solidFill>
                  <a:srgbClr val="2B1830"/>
                </a:solidFill>
                <a:latin typeface="Noto Sans KR"/>
                <a:ea typeface="Noto Sans KR"/>
                <a:cs typeface="Noto Sans KR"/>
              </a:rPr>
              <a:t>기능의 위치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04DF826-5A6A-49C2-9626-AEA5FC19F3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5353050"/>
            <a:ext cx="53149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350" b="0">
                <a:solidFill>
                  <a:srgbClr val="FFF5EA"/>
                </a:solidFill>
                <a:latin typeface="Noto Sans KR"/>
                <a:ea typeface="Noto Sans KR"/>
                <a:cs typeface="Noto Sans KR"/>
              </a:defRPr>
            </a:pPr>
            <a:r>
              <a:rPr sz="1350" b="0">
                <a:solidFill>
                  <a:srgbClr val="FFF5EA"/>
                </a:solidFill>
                <a:latin typeface="Noto Sans KR"/>
                <a:ea typeface="Noto Sans KR"/>
                <a:cs typeface="Noto Sans KR"/>
              </a:rPr>
              <a:t>챗봇에서 축적한 전용 Q&amp;A를 마이페이지의 월간 성향 분석과 근거 리포트에 연결한다.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DF324B3-6201-4A57-AC1D-71C89427EA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2038350"/>
            <a:ext cx="4648200" cy="5010150"/>
          </a:xfrm>
          <a:prstGeom xmlns:a="http://schemas.openxmlformats.org/drawingml/2006/main" prst="roundRect">
            <a:avLst>
              <a:gd name="adj" fmla="val 2459"/>
            </a:avLst>
          </a:prstGeom>
          <a:solidFill xmlns:a="http://schemas.openxmlformats.org/drawingml/2006/main">
            <a:srgbClr val="FFF5EA"/>
          </a:solidFill>
          <a:ln xmlns:a="http://schemas.openxmlformats.org/drawingml/2006/main" w="19050">
            <a:solidFill>
              <a:srgbClr val="B882F2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750B2EA-D4E8-4115-8434-AD3C8F1E34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2209800"/>
            <a:ext cx="4191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75" b="1">
                <a:solidFill>
                  <a:srgbClr val="2B1830"/>
                </a:solidFill>
                <a:latin typeface="Noto Sans KR"/>
                <a:ea typeface="Noto Sans KR"/>
                <a:cs typeface="Noto Sans KR"/>
              </a:defRPr>
            </a:pPr>
            <a:r>
              <a:rPr sz="1875" b="1">
                <a:solidFill>
                  <a:srgbClr val="2B1830"/>
                </a:solidFill>
                <a:latin typeface="Noto Sans KR"/>
                <a:ea typeface="Noto Sans KR"/>
                <a:cs typeface="Noto Sans KR"/>
              </a:rPr>
              <a:t>AI 적용과 설계 근거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7F4363F-0E67-4699-83AA-AB32AD7C5A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2628900"/>
            <a:ext cx="4191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B882F2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1470FB2-3A50-4BA3-A3FB-16D31FFF1C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2781300"/>
            <a:ext cx="10668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D4F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57150" tIns="19050" rIns="571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75" b="1">
                <a:solidFill>
                  <a:srgbClr val="2B1830"/>
                </a:solidFill>
                <a:latin typeface="Noto Sans KR"/>
                <a:ea typeface="Noto Sans KR"/>
                <a:cs typeface="Noto Sans KR"/>
              </a:defRPr>
            </a:pPr>
            <a:r>
              <a:rPr sz="1275" b="1">
                <a:solidFill>
                  <a:srgbClr val="2B1830"/>
                </a:solidFill>
                <a:latin typeface="Noto Sans KR"/>
                <a:ea typeface="Noto Sans KR"/>
                <a:cs typeface="Noto Sans KR"/>
              </a:rPr>
              <a:t>필요성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D356D0A4-9E5D-4C25-83E1-BA8240D7FC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9800" y="2762250"/>
            <a:ext cx="2971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425" b="1">
                <a:solidFill>
                  <a:srgbClr val="7B43AA"/>
                </a:solidFill>
                <a:latin typeface="Noto Sans KR"/>
                <a:ea typeface="Noto Sans KR"/>
                <a:cs typeface="Noto Sans KR"/>
              </a:defRPr>
            </a:pPr>
            <a:r>
              <a:rPr sz="1425" b="1">
                <a:solidFill>
                  <a:srgbClr val="7B43AA"/>
                </a:solidFill>
                <a:latin typeface="Noto Sans KR"/>
                <a:ea typeface="Noto Sans KR"/>
                <a:cs typeface="Noto Sans KR"/>
              </a:rPr>
              <a:t>검사 부담을 낮춘 근거 수집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E2089BBF-B507-4715-ACDE-05163EB371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3124200"/>
            <a:ext cx="4191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38" b="0">
                <a:solidFill>
                  <a:srgbClr val="2B1830"/>
                </a:solidFill>
                <a:latin typeface="Noto Sans KR"/>
                <a:ea typeface="Noto Sans KR"/>
                <a:cs typeface="Noto Sans KR"/>
              </a:defRPr>
            </a:pPr>
            <a:r>
              <a:rPr sz="1238" b="0">
                <a:solidFill>
                  <a:srgbClr val="2B1830"/>
                </a:solidFill>
                <a:latin typeface="Noto Sans KR"/>
                <a:ea typeface="Noto Sans KR"/>
                <a:cs typeface="Noto Sans KR"/>
              </a:rPr>
              <a:t>정형 검사지를 반복하지 않아도 대화 흐름 속 짧은 질문으로 성향 근거를 자연스럽게 축적할 수 있다.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229C2923-2538-4CB0-B146-57A5A6CB9D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3848100"/>
            <a:ext cx="4191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C9D4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9249F654-7908-4550-BBE4-99E3F0FD68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3962400"/>
            <a:ext cx="10668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D4F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57150" tIns="19050" rIns="571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75" b="1">
                <a:solidFill>
                  <a:srgbClr val="2B1830"/>
                </a:solidFill>
                <a:latin typeface="Noto Sans KR"/>
                <a:ea typeface="Noto Sans KR"/>
                <a:cs typeface="Noto Sans KR"/>
              </a:defRPr>
            </a:pPr>
            <a:r>
              <a:rPr sz="1275" b="1">
                <a:solidFill>
                  <a:srgbClr val="2B1830"/>
                </a:solidFill>
                <a:latin typeface="Noto Sans KR"/>
                <a:ea typeface="Noto Sans KR"/>
                <a:cs typeface="Noto Sans KR"/>
              </a:rPr>
              <a:t>근거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343F2B2C-BF93-46E5-AEA5-3DCA807E4E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9800" y="3943350"/>
            <a:ext cx="2971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425" b="1">
                <a:solidFill>
                  <a:srgbClr val="7B43AA"/>
                </a:solidFill>
                <a:latin typeface="Noto Sans KR"/>
                <a:ea typeface="Noto Sans KR"/>
                <a:cs typeface="Noto Sans KR"/>
              </a:defRPr>
            </a:pPr>
            <a:r>
              <a:rPr sz="1425" b="1">
                <a:solidFill>
                  <a:srgbClr val="7B43AA"/>
                </a:solidFill>
                <a:latin typeface="Noto Sans KR"/>
                <a:ea typeface="Noto Sans KR"/>
                <a:cs typeface="Noto Sans KR"/>
              </a:rPr>
              <a:t>전용 질문·답변만 DB 저장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E38D32A3-598F-4C73-82E8-A821AF45C3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4305300"/>
            <a:ext cx="4191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38" b="0">
                <a:solidFill>
                  <a:srgbClr val="2B1830"/>
                </a:solidFill>
                <a:latin typeface="Noto Sans KR"/>
                <a:ea typeface="Noto Sans KR"/>
                <a:cs typeface="Noto Sans KR"/>
              </a:defRPr>
            </a:pPr>
            <a:r>
              <a:rPr sz="1238" b="0">
                <a:solidFill>
                  <a:srgbClr val="2B1830"/>
                </a:solidFill>
                <a:latin typeface="Noto Sans KR"/>
                <a:ea typeface="Noto Sans KR"/>
                <a:cs typeface="Noto Sans KR"/>
              </a:rPr>
              <a:t>일반 대화 전체를 분석하지 않는다. 별도 규칙에 따라 제시된 MBTI 질문과 실제 답변을 축 정보와 함께 저장하고 그 Q&amp;A만 사용한다.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8ED774D1-F425-407A-B373-A6BE8CC2BA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5105400"/>
            <a:ext cx="4191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C9D4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3C9DDC4B-3DFB-435B-BBE2-00B58D392D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5219700"/>
            <a:ext cx="10668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D4F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57150" tIns="19050" rIns="571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75" b="1">
                <a:solidFill>
                  <a:srgbClr val="2B1830"/>
                </a:solidFill>
                <a:latin typeface="Noto Sans KR"/>
                <a:ea typeface="Noto Sans KR"/>
                <a:cs typeface="Noto Sans KR"/>
              </a:defRPr>
            </a:pPr>
            <a:r>
              <a:rPr sz="1275" b="1">
                <a:solidFill>
                  <a:srgbClr val="2B1830"/>
                </a:solidFill>
                <a:latin typeface="Noto Sans KR"/>
                <a:ea typeface="Noto Sans KR"/>
                <a:cs typeface="Noto Sans KR"/>
              </a:rPr>
              <a:t>AI 역할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394478B6-F705-455D-A742-541F66E24C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9800" y="5200650"/>
            <a:ext cx="2971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425" b="1">
                <a:solidFill>
                  <a:srgbClr val="7B43AA"/>
                </a:solidFill>
                <a:latin typeface="Noto Sans KR"/>
                <a:ea typeface="Noto Sans KR"/>
                <a:cs typeface="Noto Sans KR"/>
              </a:defRPr>
            </a:pPr>
            <a:r>
              <a:rPr sz="1425" b="1">
                <a:solidFill>
                  <a:srgbClr val="7B43AA"/>
                </a:solidFill>
                <a:latin typeface="Noto Sans KR"/>
                <a:ea typeface="Noto Sans KR"/>
                <a:cs typeface="Noto Sans KR"/>
              </a:rPr>
              <a:t>질문 표현·답변 채점·리포트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1A1D11B8-C119-4DFA-8EB4-51F58B963A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5562600"/>
            <a:ext cx="4191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38" b="0">
                <a:solidFill>
                  <a:srgbClr val="2B1830"/>
                </a:solidFill>
                <a:latin typeface="Noto Sans KR"/>
                <a:ea typeface="Noto Sans KR"/>
                <a:cs typeface="Noto Sans KR"/>
              </a:defRPr>
            </a:pPr>
            <a:r>
              <a:rPr sz="1238" b="0">
                <a:solidFill>
                  <a:srgbClr val="2B1830"/>
                </a:solidFill>
                <a:latin typeface="Noto Sans KR"/>
                <a:ea typeface="Noto Sans KR"/>
                <a:cs typeface="Noto Sans KR"/>
              </a:rPr>
              <a:t>AI는 질문을 대화에 어울리게 표현하고, 저장된 답변의 의미를 채점한 뒤 대표 근거를 월간 설명으로 정리한다.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B61428AC-F184-49AB-8924-2F6C83B9D3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6419850"/>
            <a:ext cx="4191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183B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95250" tIns="57150" rIns="95250" bIns="57150" anchor="ctr">
            <a:normAutofit fontScale="80479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75" b="1">
                <a:solidFill>
                  <a:srgbClr val="FFF5EA"/>
                </a:solidFill>
                <a:latin typeface="Noto Sans KR"/>
                <a:ea typeface="Noto Sans KR"/>
                <a:cs typeface="Noto Sans KR"/>
              </a:defRPr>
            </a:pPr>
            <a:r>
              <a:rPr sz="1275" b="1">
                <a:solidFill>
                  <a:srgbClr val="FFF5EA"/>
                </a:solidFill>
                <a:latin typeface="Noto Sans KR"/>
                <a:ea typeface="Noto Sans KR"/>
                <a:cs typeface="Noto Sans KR"/>
              </a:rPr>
              <a:t>일반 대화가 아니라 DB에 저장된 전용 MBTI 질문·답변만 분석 근거로 사용</a:t>
            </a:r>
          </a:p>
        </p:txBody>
      </p:sp>
    </p:spTree>
    <p:extLst>
      <p:ext uri="{BB962C8B-B14F-4D97-AF65-F5344CB8AC3E}">
        <p14:creationId xmlns:p14="http://schemas.microsoft.com/office/powerpoint/2010/main" val="960671324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21102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C2F4DEBB-2CEE-4883-9381-6769E5237D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590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1">
                <a:solidFill>
                  <a:srgbClr val="B882F2"/>
                </a:solidFill>
                <a:latin typeface="Noto Sans KR"/>
                <a:ea typeface="Noto Sans KR"/>
                <a:cs typeface="Noto Sans KR"/>
              </a:defRPr>
            </a:pPr>
            <a:r>
              <a:rPr sz="1350" b="1">
                <a:solidFill>
                  <a:srgbClr val="B882F2"/>
                </a:solidFill>
                <a:latin typeface="Noto Sans KR"/>
                <a:ea typeface="Noto Sans KR"/>
                <a:cs typeface="Noto Sans KR"/>
              </a:rPr>
              <a:t>APPENDIX</a:t>
            </a:r>
            <a:r>
              <a:rPr sz="1350" b="1">
                <a:solidFill>
                  <a:srgbClr val="B882F2"/>
                </a:solidFill>
                <a:latin typeface="Noto Sans KR"/>
                <a:ea typeface="Noto Sans KR"/>
                <a:cs typeface="Noto Sans KR"/>
              </a:rPr>
              <a:t> · MBTI 분석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EF5941F-5910-4FBF-82E0-1CF5365337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23431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E5D6E1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FCCEE3E-3C00-45F3-B7AD-A85234CB30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0375" y="68580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5D6E1"/>
          </a:solidFill>
          <a:ln xmlns:a="http://schemas.openxmlformats.org/drawingml/2006/main" w="0">
            <a:solidFill>
              <a:srgbClr val="E5D6E1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B8041D9-5C48-4CD5-A8BA-30B107EE2F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95350"/>
            <a:ext cx="123444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98765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3375" b="1">
                <a:solidFill>
                  <a:srgbClr val="FFF5EA"/>
                </a:solidFill>
                <a:latin typeface="Noto Sans KR"/>
                <a:ea typeface="Noto Sans KR"/>
                <a:cs typeface="Noto Sans KR"/>
              </a:defRPr>
            </a:pPr>
            <a:r>
              <a:rPr sz="3375" b="1">
                <a:solidFill>
                  <a:srgbClr val="FFF5EA"/>
                </a:solidFill>
                <a:latin typeface="Noto Sans KR"/>
                <a:ea typeface="Noto Sans KR"/>
                <a:cs typeface="Noto Sans KR"/>
              </a:rPr>
              <a:t>월간 MBTI 분석은 어떻게 진행되는가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98765AC-F881-474F-ACE5-DFAAE2FE30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514475"/>
            <a:ext cx="122682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500" b="0">
                <a:solidFill>
                  <a:srgbClr val="BFAABD"/>
                </a:solidFill>
                <a:latin typeface="Noto Sans KR"/>
                <a:ea typeface="Noto Sans KR"/>
                <a:cs typeface="Noto Sans KR"/>
              </a:defRPr>
            </a:pPr>
            <a:r>
              <a:rPr sz="1500" b="0">
                <a:solidFill>
                  <a:srgbClr val="BFAABD"/>
                </a:solidFill>
                <a:latin typeface="Noto Sans KR"/>
                <a:ea typeface="Noto Sans KR"/>
                <a:cs typeface="Noto Sans KR"/>
              </a:rPr>
              <a:t>대화 중 생성·저장된 전용 MBTI Q&amp;A의 답변 수와 유효 채점을 확인한 뒤 개방된 축만 계산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A4B76FD-B4FF-44B1-BE07-3BD44BC298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38350"/>
            <a:ext cx="7429500" cy="5010150"/>
          </a:xfrm>
          <a:prstGeom xmlns:a="http://schemas.openxmlformats.org/drawingml/2006/main" prst="roundRect">
            <a:avLst>
              <a:gd name="adj" fmla="val 2281"/>
            </a:avLst>
          </a:prstGeom>
          <a:solidFill xmlns:a="http://schemas.openxmlformats.org/drawingml/2006/main">
            <a:srgbClr val="2A1432"/>
          </a:solidFill>
          <a:ln xmlns:a="http://schemas.openxmlformats.org/drawingml/2006/main" w="19050">
            <a:solidFill>
              <a:srgbClr val="B882F2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73E75B4-6A0E-4817-8925-3C4CED8463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171700"/>
            <a:ext cx="7010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725" b="1">
                <a:solidFill>
                  <a:srgbClr val="B882F2"/>
                </a:solidFill>
                <a:latin typeface="Noto Sans KR"/>
                <a:ea typeface="Noto Sans KR"/>
                <a:cs typeface="Noto Sans KR"/>
              </a:defRPr>
            </a:pPr>
            <a:r>
              <a:rPr sz="1725" b="1">
                <a:solidFill>
                  <a:srgbClr val="B882F2"/>
                </a:solidFill>
                <a:latin typeface="Noto Sans KR"/>
                <a:ea typeface="Noto Sans KR"/>
                <a:cs typeface="Noto Sans KR"/>
              </a:rPr>
              <a:t>월간 성향 추론 프로세스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C3F22B9-D175-4BB2-A0CE-BB0775DB8B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571750"/>
            <a:ext cx="701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B882F2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197D5CD-B264-4F13-B0D6-98CA6564DD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4700" y="3238500"/>
            <a:ext cx="304800" cy="114300"/>
          </a:xfrm>
          <a:prstGeom xmlns:a="http://schemas.openxmlformats.org/drawingml/2006/main" prst="downArrow">
            <a:avLst/>
          </a:prstGeom>
          <a:solidFill xmlns:a="http://schemas.openxmlformats.org/drawingml/2006/main">
            <a:srgbClr val="B882F2"/>
          </a:solidFill>
          <a:ln xmlns:a="http://schemas.openxmlformats.org/drawingml/2006/main" w="0">
            <a:solidFill>
              <a:srgbClr val="B882F2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570E088-F990-4A99-8D27-72178E0130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4700" y="3943350"/>
            <a:ext cx="304800" cy="114300"/>
          </a:xfrm>
          <a:prstGeom xmlns:a="http://schemas.openxmlformats.org/drawingml/2006/main" prst="downArrow">
            <a:avLst/>
          </a:prstGeom>
          <a:solidFill xmlns:a="http://schemas.openxmlformats.org/drawingml/2006/main">
            <a:srgbClr val="B882F2"/>
          </a:solidFill>
          <a:ln xmlns:a="http://schemas.openxmlformats.org/drawingml/2006/main" w="0">
            <a:solidFill>
              <a:srgbClr val="B882F2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795FF98-7648-4B84-8160-E3B9325AB8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4700" y="4648200"/>
            <a:ext cx="304800" cy="114300"/>
          </a:xfrm>
          <a:prstGeom xmlns:a="http://schemas.openxmlformats.org/drawingml/2006/main" prst="downArrow">
            <a:avLst/>
          </a:prstGeom>
          <a:solidFill xmlns:a="http://schemas.openxmlformats.org/drawingml/2006/main">
            <a:srgbClr val="B882F2"/>
          </a:solidFill>
          <a:ln xmlns:a="http://schemas.openxmlformats.org/drawingml/2006/main" w="0">
            <a:solidFill>
              <a:srgbClr val="B882F2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F8070E6-8BE2-4652-B0BD-F507911485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4700" y="5353050"/>
            <a:ext cx="304800" cy="114300"/>
          </a:xfrm>
          <a:prstGeom xmlns:a="http://schemas.openxmlformats.org/drawingml/2006/main" prst="downArrow">
            <a:avLst/>
          </a:prstGeom>
          <a:solidFill xmlns:a="http://schemas.openxmlformats.org/drawingml/2006/main">
            <a:srgbClr val="B882F2"/>
          </a:solidFill>
          <a:ln xmlns:a="http://schemas.openxmlformats.org/drawingml/2006/main" w="0">
            <a:solidFill>
              <a:srgbClr val="B882F2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FC46B7A-4F76-4594-8D60-0D73BA0712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4700" y="6057900"/>
            <a:ext cx="304800" cy="114300"/>
          </a:xfrm>
          <a:prstGeom xmlns:a="http://schemas.openxmlformats.org/drawingml/2006/main" prst="downArrow">
            <a:avLst/>
          </a:prstGeom>
          <a:solidFill xmlns:a="http://schemas.openxmlformats.org/drawingml/2006/main">
            <a:srgbClr val="B882F2"/>
          </a:solidFill>
          <a:ln xmlns:a="http://schemas.openxmlformats.org/drawingml/2006/main" w="0">
            <a:solidFill>
              <a:srgbClr val="B882F2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6730A49-E231-474A-8D99-A27E799CE4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647950"/>
            <a:ext cx="4953000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FFF5EA"/>
          </a:solidFill>
          <a:ln xmlns:a="http://schemas.openxmlformats.org/drawingml/2006/main" w="14288">
            <a:solidFill>
              <a:srgbClr val="B882F2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458D613-8D71-441A-BDA3-48CE097DA7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647950"/>
            <a:ext cx="85725" cy="5905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B882F2"/>
          </a:solidFill>
          <a:ln xmlns:a="http://schemas.openxmlformats.org/drawingml/2006/main" w="0">
            <a:solidFill>
              <a:srgbClr val="B882F2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864CB73-5879-4696-8736-3BE38119FF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2705100"/>
            <a:ext cx="46291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8818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1">
                <a:solidFill>
                  <a:srgbClr val="2B1830"/>
                </a:solidFill>
                <a:latin typeface="Noto Sans KR"/>
                <a:ea typeface="Noto Sans KR"/>
                <a:cs typeface="Noto Sans KR"/>
              </a:defRPr>
            </a:pPr>
            <a:r>
              <a:rPr sz="1350" b="1">
                <a:solidFill>
                  <a:srgbClr val="2B1830"/>
                </a:solidFill>
                <a:latin typeface="Noto Sans KR"/>
                <a:ea typeface="Noto Sans KR"/>
                <a:cs typeface="Noto Sans KR"/>
              </a:rPr>
              <a:t>전용 Q&amp;A·기준값 로드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A3DBEAD-A5C8-4458-B383-A35C93BC4F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2933700"/>
            <a:ext cx="46291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89216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163" b="0">
                <a:solidFill>
                  <a:srgbClr val="2B1830"/>
                </a:solidFill>
                <a:latin typeface="Noto Sans KR"/>
                <a:ea typeface="Noto Sans KR"/>
                <a:cs typeface="Noto Sans KR"/>
              </a:defRPr>
            </a:pPr>
            <a:r>
              <a:rPr sz="1163" b="0">
                <a:solidFill>
                  <a:srgbClr val="2B1830"/>
                </a:solidFill>
                <a:latin typeface="Noto Sans KR"/>
                <a:ea typeface="Noto Sans KR"/>
                <a:cs typeface="Noto Sans KR"/>
              </a:rPr>
              <a:t>DB에 저장된 이번 달 MBTI 질문·답변을 축별로 묶고 이전 달 결과·온보딩 MBTI 준비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E348D78-BB47-44BB-9487-59CF4304C3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352800"/>
            <a:ext cx="4953000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FFF5EA"/>
          </a:solidFill>
          <a:ln xmlns:a="http://schemas.openxmlformats.org/drawingml/2006/main" w="14288">
            <a:solidFill>
              <a:srgbClr val="B882F2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2CAD091-2F90-4235-B81D-C1905D72BA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352800"/>
            <a:ext cx="85725" cy="5905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B882F2"/>
          </a:solidFill>
          <a:ln xmlns:a="http://schemas.openxmlformats.org/drawingml/2006/main" w="0">
            <a:solidFill>
              <a:srgbClr val="B882F2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5F85C7A-C6EB-428E-9313-E4FE59C536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409950"/>
            <a:ext cx="46291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8818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1">
                <a:solidFill>
                  <a:srgbClr val="2B1830"/>
                </a:solidFill>
                <a:latin typeface="Noto Sans KR"/>
                <a:ea typeface="Noto Sans KR"/>
                <a:cs typeface="Noto Sans KR"/>
              </a:defRPr>
            </a:pPr>
            <a:r>
              <a:rPr sz="1350" b="1">
                <a:solidFill>
                  <a:srgbClr val="2B1830"/>
                </a:solidFill>
                <a:latin typeface="Noto Sans KR"/>
                <a:ea typeface="Noto Sans KR"/>
                <a:cs typeface="Noto Sans KR"/>
              </a:rPr>
              <a:t>1차 개방: 답변 수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77718F0-E3FD-4BD5-8A48-FD814EECDE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638550"/>
            <a:ext cx="46291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163" b="0">
                <a:solidFill>
                  <a:srgbClr val="2B1830"/>
                </a:solidFill>
                <a:latin typeface="Noto Sans KR"/>
                <a:ea typeface="Noto Sans KR"/>
                <a:cs typeface="Noto Sans KR"/>
              </a:defRPr>
            </a:pPr>
            <a:r>
              <a:rPr sz="1163" b="0">
                <a:solidFill>
                  <a:srgbClr val="2B1830"/>
                </a:solidFill>
                <a:latin typeface="Noto Sans KR"/>
                <a:ea typeface="Noto Sans KR"/>
                <a:cs typeface="Noto Sans KR"/>
              </a:rPr>
              <a:t>IE·SN·TF·JP 각 축의 Q&amp;A가 5개 이상일 때만 AI 채점 대상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B1D6DD8-7FC1-4CD0-B5DF-753905A7F9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057650"/>
            <a:ext cx="4953000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FFF5EA"/>
          </a:solidFill>
          <a:ln xmlns:a="http://schemas.openxmlformats.org/drawingml/2006/main" w="14288">
            <a:solidFill>
              <a:srgbClr val="B882F2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05DA175-7A66-456A-904B-3E4F526E1E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057650"/>
            <a:ext cx="85725" cy="5905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B882F2"/>
          </a:solidFill>
          <a:ln xmlns:a="http://schemas.openxmlformats.org/drawingml/2006/main" w="0">
            <a:solidFill>
              <a:srgbClr val="B882F2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EEFE756-A0C0-487E-A13E-43A44520F0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114800"/>
            <a:ext cx="46291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8818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1">
                <a:solidFill>
                  <a:srgbClr val="2B1830"/>
                </a:solidFill>
                <a:latin typeface="Noto Sans KR"/>
                <a:ea typeface="Noto Sans KR"/>
                <a:cs typeface="Noto Sans KR"/>
              </a:defRPr>
            </a:pPr>
            <a:r>
              <a:rPr sz="1350" b="1">
                <a:solidFill>
                  <a:srgbClr val="2B1830"/>
                </a:solidFill>
                <a:latin typeface="Noto Sans KR"/>
                <a:ea typeface="Noto Sans KR"/>
                <a:cs typeface="Noto Sans KR"/>
              </a:rPr>
              <a:t>LLM 의미 채점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F87A008-8D90-4329-B0FD-5BBC2FB491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343400"/>
            <a:ext cx="46291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163" b="0">
                <a:solidFill>
                  <a:srgbClr val="2B1830"/>
                </a:solidFill>
                <a:latin typeface="Noto Sans KR"/>
                <a:ea typeface="Noto Sans KR"/>
                <a:cs typeface="Noto Sans KR"/>
              </a:defRPr>
            </a:pPr>
            <a:r>
              <a:rPr sz="1163" b="0">
                <a:solidFill>
                  <a:srgbClr val="2B1830"/>
                </a:solidFill>
                <a:latin typeface="Noto Sans KR"/>
                <a:ea typeface="Noto Sans KR"/>
                <a:cs typeface="Noto Sans KR"/>
              </a:rPr>
              <a:t>GPT-5.4-mini가 유효 답변을 {-1, -0.5, 0, +0.5, +1}로 코딩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CD2D6FE-316F-4776-9E14-9908D025B6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762500"/>
            <a:ext cx="4953000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FFF5EA"/>
          </a:solidFill>
          <a:ln xmlns:a="http://schemas.openxmlformats.org/drawingml/2006/main" w="14288">
            <a:solidFill>
              <a:srgbClr val="B882F2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83A7BD9-CC03-4928-96E7-7F3A7243C0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762500"/>
            <a:ext cx="85725" cy="5905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B882F2"/>
          </a:solidFill>
          <a:ln xmlns:a="http://schemas.openxmlformats.org/drawingml/2006/main" w="0">
            <a:solidFill>
              <a:srgbClr val="B882F2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A67FEBA-1192-405D-B003-1FBC0DFA5A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19650"/>
            <a:ext cx="46291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8818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1">
                <a:solidFill>
                  <a:srgbClr val="2B1830"/>
                </a:solidFill>
                <a:latin typeface="Noto Sans KR"/>
                <a:ea typeface="Noto Sans KR"/>
                <a:cs typeface="Noto Sans KR"/>
              </a:defRPr>
            </a:pPr>
            <a:r>
              <a:rPr sz="1350" b="1">
                <a:solidFill>
                  <a:srgbClr val="2B1830"/>
                </a:solidFill>
                <a:latin typeface="Noto Sans KR"/>
                <a:ea typeface="Noto Sans KR"/>
                <a:cs typeface="Noto Sans KR"/>
              </a:rPr>
              <a:t>2차 개방·비율 계산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E887631-DD1F-4DCE-96C0-181686A3BA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048250"/>
            <a:ext cx="46291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163" b="0">
                <a:solidFill>
                  <a:srgbClr val="2B1830"/>
                </a:solidFill>
                <a:latin typeface="Noto Sans KR"/>
                <a:ea typeface="Noto Sans KR"/>
                <a:cs typeface="Noto Sans KR"/>
              </a:defRPr>
            </a:pPr>
            <a:r>
              <a:rPr sz="1163" b="0">
                <a:solidFill>
                  <a:srgbClr val="2B1830"/>
                </a:solidFill>
                <a:latin typeface="Noto Sans KR"/>
                <a:ea typeface="Noto Sans KR"/>
                <a:cs typeface="Noto Sans KR"/>
              </a:rPr>
              <a:t>유효 점수 1개 이상인 축의 평균을 구해 양쪽 선호 비율로 변환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0D53973F-5760-4F04-8BCF-9AE4FBB73E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5467350"/>
            <a:ext cx="4953000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FFF5EA"/>
          </a:solidFill>
          <a:ln xmlns:a="http://schemas.openxmlformats.org/drawingml/2006/main" w="14288">
            <a:solidFill>
              <a:srgbClr val="B882F2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9B480CA6-BD8F-489C-83E0-CF0E43220A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5467350"/>
            <a:ext cx="85725" cy="5905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B882F2"/>
          </a:solidFill>
          <a:ln xmlns:a="http://schemas.openxmlformats.org/drawingml/2006/main" w="0">
            <a:solidFill>
              <a:srgbClr val="B882F2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55338A91-FF15-4682-936A-EEB3543FE7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524500"/>
            <a:ext cx="46291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8818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1">
                <a:solidFill>
                  <a:srgbClr val="2B1830"/>
                </a:solidFill>
                <a:latin typeface="Noto Sans KR"/>
                <a:ea typeface="Noto Sans KR"/>
                <a:cs typeface="Noto Sans KR"/>
              </a:defRPr>
            </a:pPr>
            <a:r>
              <a:rPr sz="1350" b="1">
                <a:solidFill>
                  <a:srgbClr val="2B1830"/>
                </a:solidFill>
                <a:latin typeface="Noto Sans KR"/>
                <a:ea typeface="Noto Sans KR"/>
                <a:cs typeface="Noto Sans KR"/>
              </a:rPr>
              <a:t>유형·대표 근거 확정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7972C058-3F5C-4817-A666-5F100F652A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753100"/>
            <a:ext cx="46291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163" b="0">
                <a:solidFill>
                  <a:srgbClr val="2B1830"/>
                </a:solidFill>
                <a:latin typeface="Noto Sans KR"/>
                <a:ea typeface="Noto Sans KR"/>
                <a:cs typeface="Noto Sans KR"/>
              </a:defRPr>
            </a:pPr>
            <a:r>
              <a:rPr sz="1163" b="0">
                <a:solidFill>
                  <a:srgbClr val="2B1830"/>
                </a:solidFill>
                <a:latin typeface="Noto Sans KR"/>
                <a:ea typeface="Noto Sans KR"/>
                <a:cs typeface="Noto Sans KR"/>
              </a:rPr>
              <a:t>동률/미개방 축은 이전 달→온보딩 순 유지 · 축별 대표 근거 최대 2개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F6F5A362-E373-4EBB-88B9-4E60C06FD9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6286500"/>
            <a:ext cx="4953000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FFF5EA"/>
          </a:solidFill>
          <a:ln xmlns:a="http://schemas.openxmlformats.org/drawingml/2006/main" w="14288">
            <a:solidFill>
              <a:srgbClr val="B882F2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695E332F-244A-440E-BAED-135FD4907A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6286500"/>
            <a:ext cx="85725" cy="5905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B882F2"/>
          </a:solidFill>
          <a:ln xmlns:a="http://schemas.openxmlformats.org/drawingml/2006/main" w="0">
            <a:solidFill>
              <a:srgbClr val="B882F2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1AEB9EFD-A1FE-45F6-A844-A3873F9E85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6343650"/>
            <a:ext cx="46291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8818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1">
                <a:solidFill>
                  <a:srgbClr val="2B1830"/>
                </a:solidFill>
                <a:latin typeface="Noto Sans KR"/>
                <a:ea typeface="Noto Sans KR"/>
                <a:cs typeface="Noto Sans KR"/>
              </a:defRPr>
            </a:pPr>
            <a:r>
              <a:rPr sz="1350" b="1">
                <a:solidFill>
                  <a:srgbClr val="2B1830"/>
                </a:solidFill>
                <a:latin typeface="Noto Sans KR"/>
                <a:ea typeface="Noto Sans KR"/>
                <a:cs typeface="Noto Sans KR"/>
              </a:rPr>
              <a:t>월간 성향 리포트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F38CF6EC-759D-47EB-9217-45E55483AA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6572250"/>
            <a:ext cx="46291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163" b="0">
                <a:solidFill>
                  <a:srgbClr val="2B1830"/>
                </a:solidFill>
                <a:latin typeface="Noto Sans KR"/>
                <a:ea typeface="Noto Sans KR"/>
                <a:cs typeface="Noto Sans KR"/>
              </a:defRPr>
            </a:pPr>
            <a:r>
              <a:rPr sz="1163" b="0">
                <a:solidFill>
                  <a:srgbClr val="2B1830"/>
                </a:solidFill>
                <a:latin typeface="Noto Sans KR"/>
                <a:ea typeface="Noto Sans KR"/>
                <a:cs typeface="Noto Sans KR"/>
              </a:rPr>
              <a:t>성향 근거의 변화와 최종 유형의 일반적 특징을 3개 섹션으로 작성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CF5F6C74-7528-4A0F-9EBA-86F9E4D305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3219450"/>
            <a:ext cx="1638300" cy="125730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35183B"/>
          </a:solidFill>
          <a:ln xmlns:a="http://schemas.openxmlformats.org/drawingml/2006/main" w="14288">
            <a:solidFill>
              <a:srgbClr val="B882F2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3235F05A-1E28-4BAF-8D1F-04E717D32D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3333750"/>
            <a:ext cx="13716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75" b="1">
                <a:solidFill>
                  <a:srgbClr val="B882F2"/>
                </a:solidFill>
                <a:latin typeface="Noto Sans KR"/>
                <a:ea typeface="Noto Sans KR"/>
                <a:cs typeface="Noto Sans KR"/>
              </a:defRPr>
            </a:pPr>
            <a:r>
              <a:rPr sz="1275" b="1">
                <a:solidFill>
                  <a:srgbClr val="B882F2"/>
                </a:solidFill>
                <a:latin typeface="Noto Sans KR"/>
                <a:ea typeface="Noto Sans KR"/>
                <a:cs typeface="Noto Sans KR"/>
              </a:rPr>
              <a:t>축 방향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B65E9159-E85A-446F-AFDE-6BC5823DF5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3695700"/>
            <a:ext cx="13716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00" b="0">
                <a:solidFill>
                  <a:srgbClr val="FFF5EA"/>
                </a:solidFill>
                <a:latin typeface="Noto Sans KR"/>
                <a:ea typeface="Noto Sans KR"/>
                <a:cs typeface="Noto Sans KR"/>
              </a:defRPr>
            </a:pPr>
            <a:r>
              <a:rPr sz="1200" b="0">
                <a:solidFill>
                  <a:srgbClr val="FFF5EA"/>
                </a:solidFill>
                <a:latin typeface="Noto Sans KR"/>
                <a:ea typeface="Noto Sans KR"/>
                <a:cs typeface="Noto Sans KR"/>
              </a:rPr>
              <a:t>음수: I·N·F·P</a:t>
            </a:r>
          </a:p>
          <a:p xmlns:a="http://schemas.openxmlformats.org/drawingml/2006/main">
            <a:pPr algn="ctr">
              <a:lnSpc>
                <a:spcPct val="105000"/>
              </a:lnSpc>
              <a:buNone/>
              <a:defRPr sz="1200" b="0">
                <a:solidFill>
                  <a:srgbClr val="FFF5EA"/>
                </a:solidFill>
                <a:latin typeface="Noto Sans KR"/>
                <a:ea typeface="Noto Sans KR"/>
                <a:cs typeface="Noto Sans KR"/>
              </a:defRPr>
            </a:pPr>
            <a:r>
              <a:rPr sz="1200" b="0">
                <a:solidFill>
                  <a:srgbClr val="FFF5EA"/>
                </a:solidFill>
                <a:latin typeface="Noto Sans KR"/>
                <a:ea typeface="Noto Sans KR"/>
                <a:cs typeface="Noto Sans KR"/>
              </a:rPr>
              <a:t>양수: E·S·T·J</a:t>
            </a:r>
          </a:p>
          <a:p xmlns:a="http://schemas.openxmlformats.org/drawingml/2006/main">
            <a:pPr algn="ctr">
              <a:lnSpc>
                <a:spcPct val="105000"/>
              </a:lnSpc>
              <a:buNone/>
              <a:defRPr sz="1200" b="0">
                <a:solidFill>
                  <a:srgbClr val="FFF5EA"/>
                </a:solidFill>
                <a:latin typeface="Noto Sans KR"/>
                <a:ea typeface="Noto Sans KR"/>
                <a:cs typeface="Noto Sans KR"/>
              </a:defRPr>
            </a:pPr>
            <a:r>
              <a:rPr sz="1200" b="0">
                <a:solidFill>
                  <a:srgbClr val="FFF5EA"/>
                </a:solidFill>
                <a:latin typeface="Noto Sans KR"/>
                <a:ea typeface="Noto Sans KR"/>
                <a:cs typeface="Noto Sans KR"/>
              </a:rPr>
              <a:t>0: 중립/혼합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0BF234A0-BD2B-4DF6-A951-E0D372B0D1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4800600"/>
            <a:ext cx="16383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D4F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00" b="1">
                <a:solidFill>
                  <a:srgbClr val="2B1830"/>
                </a:solidFill>
                <a:latin typeface="Noto Sans KR"/>
                <a:ea typeface="Noto Sans KR"/>
                <a:cs typeface="Noto Sans KR"/>
              </a:defRPr>
            </a:pPr>
            <a:r>
              <a:rPr sz="1200" b="1">
                <a:solidFill>
                  <a:srgbClr val="2B1830"/>
                </a:solidFill>
                <a:latin typeface="Noto Sans KR"/>
                <a:ea typeface="Noto Sans KR"/>
                <a:cs typeface="Noto Sans KR"/>
              </a:rPr>
              <a:t>기준값 우선순위</a:t>
            </a:r>
          </a:p>
          <a:p xmlns:a="http://schemas.openxmlformats.org/drawingml/2006/main">
            <a:pPr algn="ctr">
              <a:lnSpc>
                <a:spcPct val="105000"/>
              </a:lnSpc>
              <a:buNone/>
              <a:defRPr sz="1200" b="1">
                <a:solidFill>
                  <a:srgbClr val="2B1830"/>
                </a:solidFill>
                <a:latin typeface="Noto Sans KR"/>
                <a:ea typeface="Noto Sans KR"/>
                <a:cs typeface="Noto Sans KR"/>
              </a:defRPr>
            </a:pPr>
            <a:r>
              <a:rPr sz="1200" b="1">
                <a:solidFill>
                  <a:srgbClr val="2B1830"/>
                </a:solidFill>
                <a:latin typeface="Noto Sans KR"/>
                <a:ea typeface="Noto Sans KR"/>
                <a:cs typeface="Noto Sans KR"/>
              </a:rPr>
              <a:t>이전 달 → 온보딩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2E95FD03-7BA8-4890-A2A0-B925B765D6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5562600"/>
            <a:ext cx="16383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D4F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00" b="1">
                <a:solidFill>
                  <a:srgbClr val="2B1830"/>
                </a:solidFill>
                <a:latin typeface="Noto Sans KR"/>
                <a:ea typeface="Noto Sans KR"/>
                <a:cs typeface="Noto Sans KR"/>
              </a:defRPr>
            </a:pPr>
            <a:r>
              <a:rPr sz="1200" b="1">
                <a:solidFill>
                  <a:srgbClr val="2B1830"/>
                </a:solidFill>
                <a:latin typeface="Noto Sans KR"/>
                <a:ea typeface="Noto Sans KR"/>
                <a:cs typeface="Noto Sans KR"/>
              </a:rPr>
              <a:t>정확히 50:50이면</a:t>
            </a:r>
          </a:p>
          <a:p xmlns:a="http://schemas.openxmlformats.org/drawingml/2006/main">
            <a:pPr algn="ctr">
              <a:lnSpc>
                <a:spcPct val="105000"/>
              </a:lnSpc>
              <a:buNone/>
              <a:defRPr sz="1200" b="1">
                <a:solidFill>
                  <a:srgbClr val="2B1830"/>
                </a:solidFill>
                <a:latin typeface="Noto Sans KR"/>
                <a:ea typeface="Noto Sans KR"/>
                <a:cs typeface="Noto Sans KR"/>
              </a:defRPr>
            </a:pPr>
            <a:r>
              <a:rPr sz="1200" b="1">
                <a:solidFill>
                  <a:srgbClr val="2B1830"/>
                </a:solidFill>
                <a:latin typeface="Noto Sans KR"/>
                <a:ea typeface="Noto Sans KR"/>
                <a:cs typeface="Noto Sans KR"/>
              </a:rPr>
              <a:t>기준값 방향 유지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0C5DDEA8-BFBD-453D-8508-FC846E980B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2038350"/>
            <a:ext cx="4648200" cy="5010150"/>
          </a:xfrm>
          <a:prstGeom xmlns:a="http://schemas.openxmlformats.org/drawingml/2006/main" prst="roundRect">
            <a:avLst>
              <a:gd name="adj" fmla="val 2459"/>
            </a:avLst>
          </a:prstGeom>
          <a:solidFill xmlns:a="http://schemas.openxmlformats.org/drawingml/2006/main">
            <a:srgbClr val="FFF5EA"/>
          </a:solidFill>
          <a:ln xmlns:a="http://schemas.openxmlformats.org/drawingml/2006/main" w="19050">
            <a:solidFill>
              <a:srgbClr val="B882F2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6D209159-5632-4A7E-A986-F8CD12E288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2209800"/>
            <a:ext cx="4191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75" b="1">
                <a:solidFill>
                  <a:srgbClr val="2B1830"/>
                </a:solidFill>
                <a:latin typeface="Noto Sans KR"/>
                <a:ea typeface="Noto Sans KR"/>
                <a:cs typeface="Noto Sans KR"/>
              </a:defRPr>
            </a:pPr>
            <a:r>
              <a:rPr sz="1875" b="1">
                <a:solidFill>
                  <a:srgbClr val="2B1830"/>
                </a:solidFill>
                <a:latin typeface="Noto Sans KR"/>
                <a:ea typeface="Noto Sans KR"/>
                <a:cs typeface="Noto Sans KR"/>
              </a:rPr>
              <a:t>AI 적용과 설계 근거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FACAAFE0-4E52-4D75-B359-3078EDF104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2628900"/>
            <a:ext cx="4191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B882F2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C0D789D7-A74C-4CD1-95EC-0DA12911FA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2781300"/>
            <a:ext cx="10668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D4F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57150" tIns="19050" rIns="571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75" b="1">
                <a:solidFill>
                  <a:srgbClr val="2B1830"/>
                </a:solidFill>
                <a:latin typeface="Noto Sans KR"/>
                <a:ea typeface="Noto Sans KR"/>
                <a:cs typeface="Noto Sans KR"/>
              </a:defRPr>
            </a:pPr>
            <a:r>
              <a:rPr sz="1275" b="1">
                <a:solidFill>
                  <a:srgbClr val="2B1830"/>
                </a:solidFill>
                <a:latin typeface="Noto Sans KR"/>
                <a:ea typeface="Noto Sans KR"/>
                <a:cs typeface="Noto Sans KR"/>
              </a:rPr>
              <a:t>AI 채점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2E5D1CC4-1287-4A7D-A4A9-3CA575D973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9800" y="2762250"/>
            <a:ext cx="2971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425" b="1">
                <a:solidFill>
                  <a:srgbClr val="7B43AA"/>
                </a:solidFill>
                <a:latin typeface="Noto Sans KR"/>
                <a:ea typeface="Noto Sans KR"/>
                <a:cs typeface="Noto Sans KR"/>
              </a:defRPr>
            </a:pPr>
            <a:r>
              <a:rPr sz="1425" b="1">
                <a:solidFill>
                  <a:srgbClr val="7B43AA"/>
                </a:solidFill>
                <a:latin typeface="Noto Sans KR"/>
                <a:ea typeface="Noto Sans KR"/>
                <a:cs typeface="Noto Sans KR"/>
              </a:rPr>
              <a:t>답변 의미를 5단계로 코딩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D29644E0-9D7E-4C18-B5E5-1D7A0BE24C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3124200"/>
            <a:ext cx="4191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38" b="0">
                <a:solidFill>
                  <a:srgbClr val="2B1830"/>
                </a:solidFill>
                <a:latin typeface="Noto Sans KR"/>
                <a:ea typeface="Noto Sans KR"/>
                <a:cs typeface="Noto Sans KR"/>
              </a:defRPr>
            </a:pPr>
            <a:r>
              <a:rPr sz="1238" b="0">
                <a:solidFill>
                  <a:srgbClr val="2B1830"/>
                </a:solidFill>
                <a:latin typeface="Noto Sans KR"/>
                <a:ea typeface="Noto Sans KR"/>
                <a:cs typeface="Noto Sans KR"/>
              </a:rPr>
              <a:t>문맥이 충분한 답변만 축 방향과 강도로 변환한다. 판단할 수 없는 답변은 null로 두어 평균에서 제외한다.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1735B347-0966-4D32-B4CC-000562C005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3848100"/>
            <a:ext cx="4191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C9D4"/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50FEE521-72ED-4CE7-B228-E41E96516E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3962400"/>
            <a:ext cx="10668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D4F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57150" tIns="19050" rIns="571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75" b="1">
                <a:solidFill>
                  <a:srgbClr val="2B1830"/>
                </a:solidFill>
                <a:latin typeface="Noto Sans KR"/>
                <a:ea typeface="Noto Sans KR"/>
                <a:cs typeface="Noto Sans KR"/>
              </a:defRPr>
            </a:pPr>
            <a:r>
              <a:rPr sz="1275" b="1">
                <a:solidFill>
                  <a:srgbClr val="2B1830"/>
                </a:solidFill>
                <a:latin typeface="Noto Sans KR"/>
                <a:ea typeface="Noto Sans KR"/>
                <a:cs typeface="Noto Sans KR"/>
              </a:rPr>
              <a:t>규칙 계산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9EAB5981-8BBB-40ED-9BED-7DC187F1BE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9800" y="3943350"/>
            <a:ext cx="2971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425" b="1">
                <a:solidFill>
                  <a:srgbClr val="7B43AA"/>
                </a:solidFill>
                <a:latin typeface="Noto Sans KR"/>
                <a:ea typeface="Noto Sans KR"/>
                <a:cs typeface="Noto Sans KR"/>
              </a:defRPr>
            </a:pPr>
            <a:r>
              <a:rPr sz="1425" b="1">
                <a:solidFill>
                  <a:srgbClr val="7B43AA"/>
                </a:solidFill>
                <a:latin typeface="Noto Sans KR"/>
                <a:ea typeface="Noto Sans KR"/>
                <a:cs typeface="Noto Sans KR"/>
              </a:rPr>
              <a:t>평균을 양쪽 선호 비율로 변환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A6173806-EA49-4524-A6B0-93EB0CFA14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4305300"/>
            <a:ext cx="4191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38" b="0">
                <a:solidFill>
                  <a:srgbClr val="2B1830"/>
                </a:solidFill>
                <a:latin typeface="Noto Sans KR"/>
                <a:ea typeface="Noto Sans KR"/>
                <a:cs typeface="Noto Sans KR"/>
              </a:defRPr>
            </a:pPr>
            <a:r>
              <a:rPr sz="1238" b="0">
                <a:solidFill>
                  <a:srgbClr val="2B1830"/>
                </a:solidFill>
                <a:latin typeface="Noto Sans KR"/>
                <a:ea typeface="Noto Sans KR"/>
                <a:cs typeface="Noto Sans KR"/>
              </a:rPr>
              <a:t>축 평균이 a이면 양수 쪽 비율은 (a+1)/2, 음수 쪽은 1-양수 비율이다. 더 큰 쪽 문자가 월간 유형에 반영된다.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1A8CD5C5-D9AA-411B-828B-35A0C78519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5124450"/>
            <a:ext cx="4191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C9D4"/>
            </a:solidFill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6C6B1A42-62F7-4F99-857A-8D3349A263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5238750"/>
            <a:ext cx="10668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D4F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57150" tIns="19050" rIns="571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75" b="1">
                <a:solidFill>
                  <a:srgbClr val="2B1830"/>
                </a:solidFill>
                <a:latin typeface="Noto Sans KR"/>
                <a:ea typeface="Noto Sans KR"/>
                <a:cs typeface="Noto Sans KR"/>
              </a:defRPr>
            </a:pPr>
            <a:r>
              <a:rPr sz="1275" b="1">
                <a:solidFill>
                  <a:srgbClr val="2B1830"/>
                </a:solidFill>
                <a:latin typeface="Noto Sans KR"/>
                <a:ea typeface="Noto Sans KR"/>
                <a:cs typeface="Noto Sans KR"/>
              </a:rPr>
              <a:t>안정 장치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A0914106-E971-48BD-A716-C69C2E2108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9800" y="5219700"/>
            <a:ext cx="2971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425" b="1">
                <a:solidFill>
                  <a:srgbClr val="7B43AA"/>
                </a:solidFill>
                <a:latin typeface="Noto Sans KR"/>
                <a:ea typeface="Noto Sans KR"/>
                <a:cs typeface="Noto Sans KR"/>
              </a:defRPr>
            </a:pPr>
            <a:r>
              <a:rPr sz="1425" b="1">
                <a:solidFill>
                  <a:srgbClr val="7B43AA"/>
                </a:solidFill>
                <a:latin typeface="Noto Sans KR"/>
                <a:ea typeface="Noto Sans KR"/>
                <a:cs typeface="Noto Sans KR"/>
              </a:rPr>
              <a:t>근거 부족과 동률은 유지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13B88D09-5A1F-4772-A2AB-251D10709B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5581650"/>
            <a:ext cx="4191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38" b="0">
                <a:solidFill>
                  <a:srgbClr val="2B1830"/>
                </a:solidFill>
                <a:latin typeface="Noto Sans KR"/>
                <a:ea typeface="Noto Sans KR"/>
                <a:cs typeface="Noto Sans KR"/>
              </a:defRPr>
            </a:pPr>
            <a:r>
              <a:rPr sz="1238" b="0">
                <a:solidFill>
                  <a:srgbClr val="2B1830"/>
                </a:solidFill>
                <a:latin typeface="Noto Sans KR"/>
                <a:ea typeface="Noto Sans KR"/>
                <a:cs typeface="Noto Sans KR"/>
              </a:rPr>
              <a:t>축별 답변 5개 또는 유효 점수 1개 조건을 통과하지 못하면 새 유형을 만들지 않는다. 정확한 동률도 기준값을 따른다.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2282505E-6770-4F86-917D-17B94644C7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6419850"/>
            <a:ext cx="4191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183B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95250" tIns="57150" rIns="95250" bIns="57150" anchor="ctr">
            <a:normAutofit fontScale="86873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75" b="1">
                <a:solidFill>
                  <a:srgbClr val="FFF5EA"/>
                </a:solidFill>
                <a:latin typeface="Noto Sans KR"/>
                <a:ea typeface="Noto Sans KR"/>
                <a:cs typeface="Noto Sans KR"/>
              </a:defRPr>
            </a:pPr>
            <a:r>
              <a:rPr sz="1275" b="1">
                <a:solidFill>
                  <a:srgbClr val="FFF5EA"/>
                </a:solidFill>
                <a:latin typeface="Noto Sans KR"/>
                <a:ea typeface="Noto Sans KR"/>
                <a:cs typeface="Noto Sans KR"/>
              </a:rPr>
              <a:t>이번 달 답변이 충분한 축만 갱신하고, 나머지는 이전 결과를 이어 간다</a:t>
            </a:r>
          </a:p>
        </p:txBody>
      </p:sp>
    </p:spTree>
    <p:extLst>
      <p:ext uri="{BB962C8B-B14F-4D97-AF65-F5344CB8AC3E}">
        <p14:creationId xmlns:p14="http://schemas.microsoft.com/office/powerpoint/2010/main" val="505587360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21102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19ABE27F-59DF-4F1A-A0A9-60329DED40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590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1">
                <a:solidFill>
                  <a:srgbClr val="B882F2"/>
                </a:solidFill>
                <a:latin typeface="Noto Sans KR"/>
                <a:ea typeface="Noto Sans KR"/>
                <a:cs typeface="Noto Sans KR"/>
              </a:defRPr>
            </a:pPr>
            <a:r>
              <a:rPr sz="1350" b="1">
                <a:solidFill>
                  <a:srgbClr val="B882F2"/>
                </a:solidFill>
                <a:latin typeface="Noto Sans KR"/>
                <a:ea typeface="Noto Sans KR"/>
                <a:cs typeface="Noto Sans KR"/>
              </a:rPr>
              <a:t>APPENDIX</a:t>
            </a:r>
            <a:r>
              <a:rPr sz="1350" b="1">
                <a:solidFill>
                  <a:srgbClr val="B882F2"/>
                </a:solidFill>
                <a:latin typeface="Noto Sans KR"/>
                <a:ea typeface="Noto Sans KR"/>
                <a:cs typeface="Noto Sans KR"/>
              </a:rPr>
              <a:t> · MBTI 분석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16F6046-A9BD-4D65-9206-6464B30027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23431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E5D6E1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042B066-2FAE-475A-A8C9-83D5D73DAD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0375" y="68580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5D6E1"/>
          </a:solidFill>
          <a:ln xmlns:a="http://schemas.openxmlformats.org/drawingml/2006/main" w="0">
            <a:solidFill>
              <a:srgbClr val="E5D6E1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5A1B654-98AF-4D17-915E-19619073FC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95350"/>
            <a:ext cx="123444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98765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3375" b="1">
                <a:solidFill>
                  <a:srgbClr val="FFF5EA"/>
                </a:solidFill>
                <a:latin typeface="Noto Sans KR"/>
                <a:ea typeface="Noto Sans KR"/>
                <a:cs typeface="Noto Sans KR"/>
              </a:defRPr>
            </a:pPr>
            <a:r>
              <a:rPr sz="3375" b="1">
                <a:solidFill>
                  <a:srgbClr val="FFF5EA"/>
                </a:solidFill>
                <a:latin typeface="Noto Sans KR"/>
                <a:ea typeface="Noto Sans KR"/>
                <a:cs typeface="Noto Sans KR"/>
              </a:rPr>
              <a:t>점수와 리포트는 어떤 근거로 만들어지는가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E393B5A-89A3-42BA-B0FE-2CC14033E7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514475"/>
            <a:ext cx="122682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500" b="0">
                <a:solidFill>
                  <a:srgbClr val="BFAABD"/>
                </a:solidFill>
                <a:latin typeface="Noto Sans KR"/>
                <a:ea typeface="Noto Sans KR"/>
                <a:cs typeface="Noto Sans KR"/>
              </a:defRPr>
            </a:pPr>
            <a:r>
              <a:rPr sz="1500" b="0">
                <a:solidFill>
                  <a:srgbClr val="BFAABD"/>
                </a:solidFill>
                <a:latin typeface="Noto Sans KR"/>
                <a:ea typeface="Noto Sans KR"/>
                <a:cs typeface="Noto Sans KR"/>
              </a:rPr>
              <a:t>축별 수치 계산, 대표 답변 선택, 최종 리포트의 세 부분을 분리해 확인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0C2C3A4-4FA0-4ED8-BC01-D72B07C969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38350"/>
            <a:ext cx="5905500" cy="5010150"/>
          </a:xfrm>
          <a:prstGeom xmlns:a="http://schemas.openxmlformats.org/drawingml/2006/main" prst="roundRect">
            <a:avLst>
              <a:gd name="adj" fmla="val 2281"/>
            </a:avLst>
          </a:prstGeom>
          <a:solidFill xmlns:a="http://schemas.openxmlformats.org/drawingml/2006/main">
            <a:srgbClr val="2A1432"/>
          </a:solidFill>
          <a:ln xmlns:a="http://schemas.openxmlformats.org/drawingml/2006/main" w="19050">
            <a:solidFill>
              <a:srgbClr val="B882F2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9006756-46F7-4D22-8CD0-908AB39509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171700"/>
            <a:ext cx="5486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725" b="1">
                <a:solidFill>
                  <a:srgbClr val="B882F2"/>
                </a:solidFill>
                <a:latin typeface="Noto Sans KR"/>
                <a:ea typeface="Noto Sans KR"/>
                <a:cs typeface="Noto Sans KR"/>
              </a:defRPr>
            </a:pPr>
            <a:r>
              <a:rPr sz="1725" b="1">
                <a:solidFill>
                  <a:srgbClr val="B882F2"/>
                </a:solidFill>
                <a:latin typeface="Noto Sans KR"/>
                <a:ea typeface="Noto Sans KR"/>
                <a:cs typeface="Noto Sans KR"/>
              </a:rPr>
              <a:t>점수 산정 기준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0076C96-C3EF-45B3-8678-84FED738EB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571750"/>
            <a:ext cx="5486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B882F2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CD2B575-000D-4910-ACCF-3FCB22861A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724150"/>
            <a:ext cx="7239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D4F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75" b="1">
                <a:solidFill>
                  <a:srgbClr val="2B1830"/>
                </a:solidFill>
                <a:latin typeface="Noto Sans KR"/>
                <a:ea typeface="Noto Sans KR"/>
                <a:cs typeface="Noto Sans KR"/>
              </a:defRPr>
            </a:pPr>
            <a:r>
              <a:rPr sz="1275" b="1">
                <a:solidFill>
                  <a:srgbClr val="2B1830"/>
                </a:solidFill>
                <a:latin typeface="Noto Sans KR"/>
                <a:ea typeface="Noto Sans KR"/>
                <a:cs typeface="Noto Sans KR"/>
              </a:rPr>
              <a:t>축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B32ED27-F4A8-46CC-8026-BABBD3F687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47850" y="2724150"/>
            <a:ext cx="43434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D4F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75" b="1">
                <a:solidFill>
                  <a:srgbClr val="2B1830"/>
                </a:solidFill>
                <a:latin typeface="Noto Sans KR"/>
                <a:ea typeface="Noto Sans KR"/>
                <a:cs typeface="Noto Sans KR"/>
              </a:defRPr>
            </a:pPr>
            <a:r>
              <a:rPr sz="1275" b="1">
                <a:solidFill>
                  <a:srgbClr val="2B1830"/>
                </a:solidFill>
                <a:latin typeface="Noto Sans KR"/>
                <a:ea typeface="Noto Sans KR"/>
                <a:cs typeface="Noto Sans KR"/>
              </a:rPr>
              <a:t>-1.0  ←  답변 의미  →  +1.0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7603DEB-B258-4731-968E-1CA325833F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143250"/>
            <a:ext cx="723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350" b="1">
                <a:solidFill>
                  <a:srgbClr val="B882F2"/>
                </a:solidFill>
                <a:latin typeface="Noto Sans KR"/>
                <a:ea typeface="Noto Sans KR"/>
                <a:cs typeface="Noto Sans KR"/>
              </a:defRPr>
            </a:pPr>
            <a:r>
              <a:rPr sz="1350" b="1">
                <a:solidFill>
                  <a:srgbClr val="B882F2"/>
                </a:solidFill>
                <a:latin typeface="Noto Sans KR"/>
                <a:ea typeface="Noto Sans KR"/>
                <a:cs typeface="Noto Sans KR"/>
              </a:rPr>
              <a:t>IE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F440F8E-7B4C-45C0-8E87-70884E6E34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0" y="3143250"/>
            <a:ext cx="12001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75" b="0">
                <a:solidFill>
                  <a:srgbClr val="FFF5EA"/>
                </a:solidFill>
                <a:latin typeface="Noto Sans KR"/>
                <a:ea typeface="Noto Sans KR"/>
                <a:cs typeface="Noto Sans KR"/>
              </a:defRPr>
            </a:pPr>
            <a:r>
              <a:rPr sz="1275" b="0">
                <a:solidFill>
                  <a:srgbClr val="FFF5EA"/>
                </a:solidFill>
                <a:latin typeface="Noto Sans KR"/>
                <a:ea typeface="Noto Sans KR"/>
                <a:cs typeface="Noto Sans KR"/>
              </a:rPr>
              <a:t>I 내향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DA4E54C-6D5D-4EF1-975E-02818E481B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3305175"/>
            <a:ext cx="1676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B882F2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C216F68-E71A-4507-90A2-95EED3140C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3143250"/>
            <a:ext cx="12001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1275" b="0">
                <a:solidFill>
                  <a:srgbClr val="FFF5EA"/>
                </a:solidFill>
                <a:latin typeface="Noto Sans KR"/>
                <a:ea typeface="Noto Sans KR"/>
                <a:cs typeface="Noto Sans KR"/>
              </a:defRPr>
            </a:pPr>
            <a:r>
              <a:rPr sz="1275" b="0">
                <a:solidFill>
                  <a:srgbClr val="FFF5EA"/>
                </a:solidFill>
                <a:latin typeface="Noto Sans KR"/>
                <a:ea typeface="Noto Sans KR"/>
                <a:cs typeface="Noto Sans KR"/>
              </a:rPr>
              <a:t>E 외향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160E086-8C80-4B09-8A6F-F791E52C44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600450"/>
            <a:ext cx="723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350" b="1">
                <a:solidFill>
                  <a:srgbClr val="B882F2"/>
                </a:solidFill>
                <a:latin typeface="Noto Sans KR"/>
                <a:ea typeface="Noto Sans KR"/>
                <a:cs typeface="Noto Sans KR"/>
              </a:defRPr>
            </a:pPr>
            <a:r>
              <a:rPr sz="1350" b="1">
                <a:solidFill>
                  <a:srgbClr val="B882F2"/>
                </a:solidFill>
                <a:latin typeface="Noto Sans KR"/>
                <a:ea typeface="Noto Sans KR"/>
                <a:cs typeface="Noto Sans KR"/>
              </a:rPr>
              <a:t>SN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9C5A55D-D951-4FE9-AFA2-F40D88DCE3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0" y="3600450"/>
            <a:ext cx="12001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75" b="0">
                <a:solidFill>
                  <a:srgbClr val="FFF5EA"/>
                </a:solidFill>
                <a:latin typeface="Noto Sans KR"/>
                <a:ea typeface="Noto Sans KR"/>
                <a:cs typeface="Noto Sans KR"/>
              </a:defRPr>
            </a:pPr>
            <a:r>
              <a:rPr sz="1275" b="0">
                <a:solidFill>
                  <a:srgbClr val="FFF5EA"/>
                </a:solidFill>
                <a:latin typeface="Noto Sans KR"/>
                <a:ea typeface="Noto Sans KR"/>
                <a:cs typeface="Noto Sans KR"/>
              </a:rPr>
              <a:t>N 직관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E7A415D-F4CC-4DA0-97D9-7A3AE39F7B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3762375"/>
            <a:ext cx="1676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B882F2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8B3C15F-F2B1-4CEB-9EC4-E38EA3A4F6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3600450"/>
            <a:ext cx="12001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1275" b="0">
                <a:solidFill>
                  <a:srgbClr val="FFF5EA"/>
                </a:solidFill>
                <a:latin typeface="Noto Sans KR"/>
                <a:ea typeface="Noto Sans KR"/>
                <a:cs typeface="Noto Sans KR"/>
              </a:defRPr>
            </a:pPr>
            <a:r>
              <a:rPr sz="1275" b="0">
                <a:solidFill>
                  <a:srgbClr val="FFF5EA"/>
                </a:solidFill>
                <a:latin typeface="Noto Sans KR"/>
                <a:ea typeface="Noto Sans KR"/>
                <a:cs typeface="Noto Sans KR"/>
              </a:rPr>
              <a:t>S 감각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0B8E79A-FAB7-4813-A86F-2D1596B0C0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057650"/>
            <a:ext cx="723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350" b="1">
                <a:solidFill>
                  <a:srgbClr val="B882F2"/>
                </a:solidFill>
                <a:latin typeface="Noto Sans KR"/>
                <a:ea typeface="Noto Sans KR"/>
                <a:cs typeface="Noto Sans KR"/>
              </a:defRPr>
            </a:pPr>
            <a:r>
              <a:rPr sz="1350" b="1">
                <a:solidFill>
                  <a:srgbClr val="B882F2"/>
                </a:solidFill>
                <a:latin typeface="Noto Sans KR"/>
                <a:ea typeface="Noto Sans KR"/>
                <a:cs typeface="Noto Sans KR"/>
              </a:rPr>
              <a:t>TF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C963667-4C03-4511-ABA0-C05FC05EC3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0" y="4057650"/>
            <a:ext cx="12001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75" b="0">
                <a:solidFill>
                  <a:srgbClr val="FFF5EA"/>
                </a:solidFill>
                <a:latin typeface="Noto Sans KR"/>
                <a:ea typeface="Noto Sans KR"/>
                <a:cs typeface="Noto Sans KR"/>
              </a:defRPr>
            </a:pPr>
            <a:r>
              <a:rPr sz="1275" b="0">
                <a:solidFill>
                  <a:srgbClr val="FFF5EA"/>
                </a:solidFill>
                <a:latin typeface="Noto Sans KR"/>
                <a:ea typeface="Noto Sans KR"/>
                <a:cs typeface="Noto Sans KR"/>
              </a:rPr>
              <a:t>F 감정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A607CF3-3989-4E1E-AF26-02BA06A68E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4219575"/>
            <a:ext cx="1676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B882F2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408C0B0-932A-4960-9802-CD02B8AEA9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4057650"/>
            <a:ext cx="12001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1275" b="0">
                <a:solidFill>
                  <a:srgbClr val="FFF5EA"/>
                </a:solidFill>
                <a:latin typeface="Noto Sans KR"/>
                <a:ea typeface="Noto Sans KR"/>
                <a:cs typeface="Noto Sans KR"/>
              </a:defRPr>
            </a:pPr>
            <a:r>
              <a:rPr sz="1275" b="0">
                <a:solidFill>
                  <a:srgbClr val="FFF5EA"/>
                </a:solidFill>
                <a:latin typeface="Noto Sans KR"/>
                <a:ea typeface="Noto Sans KR"/>
                <a:cs typeface="Noto Sans KR"/>
              </a:rPr>
              <a:t>T 사고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57A1690-9A11-4EE9-83A5-C7500E54C8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514850"/>
            <a:ext cx="723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350" b="1">
                <a:solidFill>
                  <a:srgbClr val="B882F2"/>
                </a:solidFill>
                <a:latin typeface="Noto Sans KR"/>
                <a:ea typeface="Noto Sans KR"/>
                <a:cs typeface="Noto Sans KR"/>
              </a:defRPr>
            </a:pPr>
            <a:r>
              <a:rPr sz="1350" b="1">
                <a:solidFill>
                  <a:srgbClr val="B882F2"/>
                </a:solidFill>
                <a:latin typeface="Noto Sans KR"/>
                <a:ea typeface="Noto Sans KR"/>
                <a:cs typeface="Noto Sans KR"/>
              </a:rPr>
              <a:t>JP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ECB8AB4-3198-42B3-8A1B-99BB9B998B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0" y="4514850"/>
            <a:ext cx="12001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75" b="0">
                <a:solidFill>
                  <a:srgbClr val="FFF5EA"/>
                </a:solidFill>
                <a:latin typeface="Noto Sans KR"/>
                <a:ea typeface="Noto Sans KR"/>
                <a:cs typeface="Noto Sans KR"/>
              </a:defRPr>
            </a:pPr>
            <a:r>
              <a:rPr sz="1275" b="0">
                <a:solidFill>
                  <a:srgbClr val="FFF5EA"/>
                </a:solidFill>
                <a:latin typeface="Noto Sans KR"/>
                <a:ea typeface="Noto Sans KR"/>
                <a:cs typeface="Noto Sans KR"/>
              </a:rPr>
              <a:t>P 인식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D3AABEC-A959-4A23-9F79-24E8F22883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4676775"/>
            <a:ext cx="1676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B882F2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BDAEC97-F886-4A78-B8CD-C55FAB6A1A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4514850"/>
            <a:ext cx="12001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1275" b="0">
                <a:solidFill>
                  <a:srgbClr val="FFF5EA"/>
                </a:solidFill>
                <a:latin typeface="Noto Sans KR"/>
                <a:ea typeface="Noto Sans KR"/>
                <a:cs typeface="Noto Sans KR"/>
              </a:defRPr>
            </a:pPr>
            <a:r>
              <a:rPr sz="1275" b="0">
                <a:solidFill>
                  <a:srgbClr val="FFF5EA"/>
                </a:solidFill>
                <a:latin typeface="Noto Sans KR"/>
                <a:ea typeface="Noto Sans KR"/>
                <a:cs typeface="Noto Sans KR"/>
              </a:rPr>
              <a:t>J 판단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583700C-9D3D-452D-A8CF-EAB7199630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5105400"/>
            <a:ext cx="5200650" cy="800100"/>
          </a:xfrm>
          <a:prstGeom xmlns:a="http://schemas.openxmlformats.org/drawingml/2006/main" prst="roundRect">
            <a:avLst>
              <a:gd name="adj" fmla="val 9524"/>
            </a:avLst>
          </a:prstGeom>
          <a:solidFill xmlns:a="http://schemas.openxmlformats.org/drawingml/2006/main">
            <a:srgbClr val="FFF5EA"/>
          </a:solidFill>
          <a:ln xmlns:a="http://schemas.openxmlformats.org/drawingml/2006/main" w="14288">
            <a:solidFill>
              <a:srgbClr val="B882F2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5592516-B567-45DB-B270-15FA36637B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219700"/>
            <a:ext cx="4819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97002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350" b="1">
                <a:solidFill>
                  <a:srgbClr val="2B1830"/>
                </a:solidFill>
                <a:latin typeface="Noto Sans KR"/>
                <a:ea typeface="Noto Sans KR"/>
                <a:cs typeface="Noto Sans KR"/>
              </a:defRPr>
            </a:pPr>
            <a:r>
              <a:rPr sz="1350" b="1">
                <a:solidFill>
                  <a:srgbClr val="2B1830"/>
                </a:solidFill>
                <a:latin typeface="Noto Sans KR"/>
                <a:ea typeface="Noto Sans KR"/>
                <a:cs typeface="Noto Sans KR"/>
              </a:rPr>
              <a:t>축 평균 a = 유효 답변 점수의 평균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8D3F88C-5D2B-45FD-B366-43D75A22AD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524500"/>
            <a:ext cx="4819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96161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38" b="0">
                <a:solidFill>
                  <a:srgbClr val="2B1830"/>
                </a:solidFill>
                <a:latin typeface="Noto Sans KR"/>
                <a:ea typeface="Noto Sans KR"/>
                <a:cs typeface="Noto Sans KR"/>
              </a:defRPr>
            </a:pPr>
            <a:r>
              <a:rPr sz="1238" b="0">
                <a:solidFill>
                  <a:srgbClr val="2B1830"/>
                </a:solidFill>
                <a:latin typeface="Noto Sans KR"/>
                <a:ea typeface="Noto Sans KR"/>
                <a:cs typeface="Noto Sans KR"/>
              </a:rPr>
              <a:t>양수 비율 = (a + 1) ÷ 2  ·  음수 비율 = 1 − 양수 비율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38FA0C45-1726-4707-88C7-3F27F72C86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6153150"/>
            <a:ext cx="52006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183B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38" b="1">
                <a:solidFill>
                  <a:srgbClr val="FFF5EA"/>
                </a:solidFill>
                <a:latin typeface="Noto Sans KR"/>
                <a:ea typeface="Noto Sans KR"/>
                <a:cs typeface="Noto Sans KR"/>
              </a:defRPr>
            </a:pPr>
            <a:r>
              <a:rPr sz="1238" b="1">
                <a:solidFill>
                  <a:srgbClr val="FFF5EA"/>
                </a:solidFill>
                <a:latin typeface="Noto Sans KR"/>
                <a:ea typeface="Noto Sans KR"/>
                <a:cs typeface="Noto Sans KR"/>
              </a:rPr>
              <a:t>사용 점수: -1.0 · -0.5 · 0 · +0.5 · +1.0   |   판단 불가: null(계산 제외)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2F0AFCF0-B56D-4537-8337-A4B3C57EB4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2038350"/>
            <a:ext cx="6172200" cy="5010150"/>
          </a:xfrm>
          <a:prstGeom xmlns:a="http://schemas.openxmlformats.org/drawingml/2006/main" prst="roundRect">
            <a:avLst>
              <a:gd name="adj" fmla="val 2281"/>
            </a:avLst>
          </a:prstGeom>
          <a:solidFill xmlns:a="http://schemas.openxmlformats.org/drawingml/2006/main">
            <a:srgbClr val="2A1432"/>
          </a:solidFill>
          <a:ln xmlns:a="http://schemas.openxmlformats.org/drawingml/2006/main" w="19050">
            <a:solidFill>
              <a:srgbClr val="B882F2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6B71810A-4DA9-4A11-B2AF-61FC8B3CBE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2171700"/>
            <a:ext cx="57531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725" b="1">
                <a:solidFill>
                  <a:srgbClr val="B882F2"/>
                </a:solidFill>
                <a:latin typeface="Noto Sans KR"/>
                <a:ea typeface="Noto Sans KR"/>
                <a:cs typeface="Noto Sans KR"/>
              </a:defRPr>
            </a:pPr>
            <a:r>
              <a:rPr sz="1725" b="1">
                <a:solidFill>
                  <a:srgbClr val="B882F2"/>
                </a:solidFill>
                <a:latin typeface="Noto Sans KR"/>
                <a:ea typeface="Noto Sans KR"/>
                <a:cs typeface="Noto Sans KR"/>
              </a:rPr>
              <a:t>대표 근거와 리포트 구성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4B9DADE3-04AF-442F-BA1D-510316D398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2571750"/>
            <a:ext cx="5753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B882F2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56DC0063-93AA-46C2-96D8-4FB5B215F7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2686050"/>
            <a:ext cx="18097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D4F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350" b="1">
                <a:solidFill>
                  <a:srgbClr val="2B1830"/>
                </a:solidFill>
                <a:latin typeface="Noto Sans KR"/>
                <a:ea typeface="Noto Sans KR"/>
                <a:cs typeface="Noto Sans KR"/>
              </a:defRPr>
            </a:pPr>
            <a:r>
              <a:rPr sz="1350" b="1">
                <a:solidFill>
                  <a:srgbClr val="2B1830"/>
                </a:solidFill>
                <a:latin typeface="Noto Sans KR"/>
                <a:ea typeface="Noto Sans KR"/>
                <a:cs typeface="Noto Sans KR"/>
              </a:rPr>
              <a:t>대표 답변 선택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D0DC8FD2-4EFE-42F7-B5DA-151AB11B9E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2647950"/>
            <a:ext cx="35623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82885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38" b="0">
                <a:solidFill>
                  <a:srgbClr val="FFF5EA"/>
                </a:solidFill>
                <a:latin typeface="Noto Sans KR"/>
                <a:ea typeface="Noto Sans KR"/>
                <a:cs typeface="Noto Sans KR"/>
              </a:defRPr>
            </a:pPr>
            <a:r>
              <a:rPr sz="1238" b="0">
                <a:solidFill>
                  <a:srgbClr val="FFF5EA"/>
                </a:solidFill>
                <a:latin typeface="Noto Sans KR"/>
                <a:ea typeface="Noto Sans KR"/>
                <a:cs typeface="Noto Sans KR"/>
              </a:rPr>
              <a:t>최종 문자와 같은 방향의 이번 달 유효 답변만 사용 · 축별 최대 2개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238" b="0">
                <a:solidFill>
                  <a:srgbClr val="FFF5EA"/>
                </a:solidFill>
                <a:latin typeface="Noto Sans KR"/>
                <a:ea typeface="Noto Sans KR"/>
                <a:cs typeface="Noto Sans KR"/>
              </a:defRPr>
            </a:pPr>
            <a:r>
              <a:rPr sz="1238" b="0">
                <a:solidFill>
                  <a:srgbClr val="FFF5EA"/>
                </a:solidFill>
                <a:latin typeface="Noto Sans KR"/>
                <a:ea typeface="Noto Sans KR"/>
                <a:cs typeface="Noto Sans KR"/>
              </a:rPr>
              <a:t>우선순위: 점수 변화에 직접 기여한 답변 → 변화 폭/강도가 큰 답변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996EF84F-72D5-4084-9D59-F382C3DD20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3390900"/>
            <a:ext cx="5562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B882F2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949B4865-FFC3-4FED-9BD8-52EA5539C5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363855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882F2"/>
          </a:solidFill>
          <a:ln xmlns:a="http://schemas.openxmlformats.org/drawingml/2006/main" w="0">
            <a:solidFill>
              <a:srgbClr val="B882F2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344924BD-3BB8-4E52-8158-6E106931F9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3648075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350" b="1">
                <a:solidFill>
                  <a:srgbClr val="FFF5EA"/>
                </a:solidFill>
                <a:latin typeface="Noto Sans KR"/>
                <a:ea typeface="Noto Sans KR"/>
                <a:cs typeface="Noto Sans KR"/>
              </a:defRPr>
            </a:pPr>
            <a:r>
              <a:rPr sz="1350" b="1">
                <a:solidFill>
                  <a:srgbClr val="FFF5EA"/>
                </a:solidFill>
                <a:latin typeface="Noto Sans KR"/>
                <a:ea typeface="Noto Sans KR"/>
                <a:cs typeface="Noto Sans KR"/>
              </a:rPr>
              <a:t>1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D1025E61-8E5A-4928-986B-BEF6414169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3619500"/>
            <a:ext cx="2000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1">
                <a:solidFill>
                  <a:srgbClr val="B882F2"/>
                </a:solidFill>
                <a:latin typeface="Noto Sans KR"/>
                <a:ea typeface="Noto Sans KR"/>
                <a:cs typeface="Noto Sans KR"/>
              </a:defRPr>
            </a:pPr>
            <a:r>
              <a:rPr sz="1350" b="1">
                <a:solidFill>
                  <a:srgbClr val="B882F2"/>
                </a:solidFill>
                <a:latin typeface="Noto Sans KR"/>
                <a:ea typeface="Noto Sans KR"/>
                <a:cs typeface="Noto Sans KR"/>
              </a:rPr>
              <a:t>성향 근거의 변화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2892ECBD-314B-443A-B0F7-8073540968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3924300"/>
            <a:ext cx="4953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00" b="0">
                <a:solidFill>
                  <a:srgbClr val="FFF5EA"/>
                </a:solidFill>
                <a:latin typeface="Noto Sans KR"/>
                <a:ea typeface="Noto Sans KR"/>
                <a:cs typeface="Noto Sans KR"/>
              </a:defRPr>
            </a:pPr>
            <a:r>
              <a:rPr sz="1200" b="0">
                <a:solidFill>
                  <a:srgbClr val="FFF5EA"/>
                </a:solidFill>
                <a:latin typeface="Noto Sans KR"/>
                <a:ea typeface="Noto Sans KR"/>
                <a:cs typeface="Noto Sans KR"/>
              </a:rPr>
              <a:t>실제로 달라진 축과 비율 변화를 설명하고, 변화가 없으면 안정적으로 유지됐음을 표시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BF19F87E-79FD-41C5-AD60-B16DBA5682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451485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882F2"/>
          </a:solidFill>
          <a:ln xmlns:a="http://schemas.openxmlformats.org/drawingml/2006/main" w="0">
            <a:solidFill>
              <a:srgbClr val="B882F2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272017D2-0F82-41A5-A6B4-0076C88DB1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4524375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350" b="1">
                <a:solidFill>
                  <a:srgbClr val="FFF5EA"/>
                </a:solidFill>
                <a:latin typeface="Noto Sans KR"/>
                <a:ea typeface="Noto Sans KR"/>
                <a:cs typeface="Noto Sans KR"/>
              </a:defRPr>
            </a:pPr>
            <a:r>
              <a:rPr sz="1350" b="1">
                <a:solidFill>
                  <a:srgbClr val="FFF5EA"/>
                </a:solidFill>
                <a:latin typeface="Noto Sans KR"/>
                <a:ea typeface="Noto Sans KR"/>
                <a:cs typeface="Noto Sans KR"/>
              </a:rPr>
              <a:t>2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633A8814-9DA9-4EE5-8DDB-BB95D32E04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4495800"/>
            <a:ext cx="2000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1">
                <a:solidFill>
                  <a:srgbClr val="B882F2"/>
                </a:solidFill>
                <a:latin typeface="Noto Sans KR"/>
                <a:ea typeface="Noto Sans KR"/>
                <a:cs typeface="Noto Sans KR"/>
              </a:defRPr>
            </a:pPr>
            <a:r>
              <a:rPr sz="1350" b="1">
                <a:solidFill>
                  <a:srgbClr val="B882F2"/>
                </a:solidFill>
                <a:latin typeface="Noto Sans KR"/>
                <a:ea typeface="Noto Sans KR"/>
                <a:cs typeface="Noto Sans KR"/>
              </a:rPr>
              <a:t>대표 답변 근거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30CC139F-85C3-4811-A552-658FDD8DC3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4800600"/>
            <a:ext cx="4953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00" b="0">
                <a:solidFill>
                  <a:srgbClr val="FFF5EA"/>
                </a:solidFill>
                <a:latin typeface="Noto Sans KR"/>
                <a:ea typeface="Noto Sans KR"/>
                <a:cs typeface="Noto Sans KR"/>
              </a:defRPr>
            </a:pPr>
            <a:r>
              <a:rPr sz="1200" b="0">
                <a:solidFill>
                  <a:srgbClr val="FFF5EA"/>
                </a:solidFill>
                <a:latin typeface="Noto Sans KR"/>
                <a:ea typeface="Noto Sans KR"/>
                <a:cs typeface="Noto Sans KR"/>
              </a:rPr>
              <a:t>변화를 만든 대표 Q&amp;A를 설명하고, 변화 근거가 없으면 현재 방향을 뒷받침하는 답변을 제시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E4D60B2C-845C-441C-91D5-501AB1A995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539115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882F2"/>
          </a:solidFill>
          <a:ln xmlns:a="http://schemas.openxmlformats.org/drawingml/2006/main" w="0">
            <a:solidFill>
              <a:srgbClr val="B882F2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1C7902E8-4625-4029-874D-4FCD145CBC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5400675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350" b="1">
                <a:solidFill>
                  <a:srgbClr val="FFF5EA"/>
                </a:solidFill>
                <a:latin typeface="Noto Sans KR"/>
                <a:ea typeface="Noto Sans KR"/>
                <a:cs typeface="Noto Sans KR"/>
              </a:defRPr>
            </a:pPr>
            <a:r>
              <a:rPr sz="1350" b="1">
                <a:solidFill>
                  <a:srgbClr val="FFF5EA"/>
                </a:solidFill>
                <a:latin typeface="Noto Sans KR"/>
                <a:ea typeface="Noto Sans KR"/>
                <a:cs typeface="Noto Sans KR"/>
              </a:rPr>
              <a:t>3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035770F1-615B-48EF-A548-12F08ADC59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5372100"/>
            <a:ext cx="2000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1">
                <a:solidFill>
                  <a:srgbClr val="B882F2"/>
                </a:solidFill>
                <a:latin typeface="Noto Sans KR"/>
                <a:ea typeface="Noto Sans KR"/>
                <a:cs typeface="Noto Sans KR"/>
              </a:defRPr>
            </a:pPr>
            <a:r>
              <a:rPr sz="1350" b="1">
                <a:solidFill>
                  <a:srgbClr val="B882F2"/>
                </a:solidFill>
                <a:latin typeface="Noto Sans KR"/>
                <a:ea typeface="Noto Sans KR"/>
                <a:cs typeface="Noto Sans KR"/>
              </a:rPr>
              <a:t>최종 유형의 특징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751B40B9-4FB0-417C-B585-BF5E23D27E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5676900"/>
            <a:ext cx="4953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00" b="0">
                <a:solidFill>
                  <a:srgbClr val="FFF5EA"/>
                </a:solidFill>
                <a:latin typeface="Noto Sans KR"/>
                <a:ea typeface="Noto Sans KR"/>
                <a:cs typeface="Noto Sans KR"/>
              </a:defRPr>
            </a:pPr>
            <a:r>
              <a:rPr sz="1200" b="0">
                <a:solidFill>
                  <a:srgbClr val="FFF5EA"/>
                </a:solidFill>
                <a:latin typeface="Noto Sans KR"/>
                <a:ea typeface="Noto Sans KR"/>
                <a:cs typeface="Noto Sans KR"/>
              </a:rPr>
              <a:t>확정된 4자 유형의 일반적 특징만 정리하며 점수·변화·근거 해석은 섞지 않음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DEB366BC-9096-4124-9889-A765328749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6400800"/>
            <a:ext cx="55626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D4F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99314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38" b="1">
                <a:solidFill>
                  <a:srgbClr val="2B1830"/>
                </a:solidFill>
                <a:latin typeface="Noto Sans KR"/>
                <a:ea typeface="Noto Sans KR"/>
                <a:cs typeface="Noto Sans KR"/>
              </a:defRPr>
            </a:pPr>
            <a:r>
              <a:rPr sz="1238" b="1">
                <a:solidFill>
                  <a:srgbClr val="2B1830"/>
                </a:solidFill>
                <a:latin typeface="Noto Sans KR"/>
                <a:ea typeface="Noto Sans KR"/>
                <a:cs typeface="Noto Sans KR"/>
              </a:rPr>
              <a:t>리포트 원칙: 실제 답변에 없는 변화는 만들지 않고, 성격을 고정적으로 단정하지 않는다</a:t>
            </a:r>
          </a:p>
        </p:txBody>
      </p:sp>
    </p:spTree>
    <p:extLst>
      <p:ext uri="{BB962C8B-B14F-4D97-AF65-F5344CB8AC3E}">
        <p14:creationId xmlns:p14="http://schemas.microsoft.com/office/powerpoint/2010/main" val="2047989433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21102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A117EE2A-BB0C-49F0-A4FE-B697189CA7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590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1">
                <a:solidFill>
                  <a:srgbClr val="F7B95B"/>
                </a:solidFill>
                <a:latin typeface="Noto Sans KR"/>
                <a:ea typeface="Noto Sans KR"/>
                <a:cs typeface="Noto Sans KR"/>
              </a:defRPr>
            </a:pPr>
            <a:r>
              <a:rPr sz="1350" b="1">
                <a:solidFill>
                  <a:srgbClr val="F7B95B"/>
                </a:solidFill>
                <a:latin typeface="Noto Sans KR"/>
                <a:ea typeface="Noto Sans KR"/>
                <a:cs typeface="Noto Sans KR"/>
              </a:rPr>
              <a:t>APPENDIX</a:t>
            </a:r>
            <a:r>
              <a:rPr sz="1350" b="1">
                <a:solidFill>
                  <a:srgbClr val="F7B95B"/>
                </a:solidFill>
                <a:latin typeface="Noto Sans KR"/>
                <a:ea typeface="Noto Sans KR"/>
                <a:cs typeface="Noto Sans KR"/>
              </a:rPr>
              <a:t> · AI 도서 추천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FE75644-1ED4-4A43-A0A2-875D4DC89D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23431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E5D6E1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7C89E3B-48D0-4E97-A08E-6AAC1CD472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0375" y="68580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5D6E1"/>
          </a:solidFill>
          <a:ln xmlns:a="http://schemas.openxmlformats.org/drawingml/2006/main" w="0">
            <a:solidFill>
              <a:srgbClr val="E5D6E1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A9FBA20-12BB-4530-A80B-9CF4E85721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95350"/>
            <a:ext cx="123444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98765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3375" b="1">
                <a:solidFill>
                  <a:srgbClr val="FFF5EA"/>
                </a:solidFill>
                <a:latin typeface="Noto Sans KR"/>
                <a:ea typeface="Noto Sans KR"/>
                <a:cs typeface="Noto Sans KR"/>
              </a:defRPr>
            </a:pPr>
            <a:r>
              <a:rPr sz="3375" b="1">
                <a:solidFill>
                  <a:srgbClr val="FFF5EA"/>
                </a:solidFill>
                <a:latin typeface="Noto Sans KR"/>
                <a:ea typeface="Noto Sans KR"/>
                <a:cs typeface="Noto Sans KR"/>
              </a:rPr>
              <a:t>감정과 관심사를 실제 책으로 연결하기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63F846C-9266-4674-88BD-90B32843E8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514475"/>
            <a:ext cx="122682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500" b="0">
                <a:solidFill>
                  <a:srgbClr val="BFAABD"/>
                </a:solidFill>
                <a:latin typeface="Noto Sans KR"/>
                <a:ea typeface="Noto Sans KR"/>
                <a:cs typeface="Noto Sans KR"/>
              </a:defRPr>
            </a:pPr>
            <a:r>
              <a:rPr sz="1500" b="0">
                <a:solidFill>
                  <a:srgbClr val="BFAABD"/>
                </a:solidFill>
                <a:latin typeface="Noto Sans KR"/>
                <a:ea typeface="Noto Sans KR"/>
                <a:cs typeface="Noto Sans KR"/>
              </a:rPr>
              <a:t>대화에서 파악한 오늘의 상태와 프로필을 읽을거리라는 구체적인 다음 행동으로 전환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75DE5E9-5BA2-426E-9F8B-CB3EDF7C4E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38350"/>
            <a:ext cx="7429500" cy="5010150"/>
          </a:xfrm>
          <a:prstGeom xmlns:a="http://schemas.openxmlformats.org/drawingml/2006/main" prst="roundRect">
            <a:avLst>
              <a:gd name="adj" fmla="val 2281"/>
            </a:avLst>
          </a:prstGeom>
          <a:solidFill xmlns:a="http://schemas.openxmlformats.org/drawingml/2006/main">
            <a:srgbClr val="2A1432"/>
          </a:solidFill>
          <a:ln xmlns:a="http://schemas.openxmlformats.org/drawingml/2006/main" w="19050">
            <a:solidFill>
              <a:srgbClr val="F7B95B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D3A376C-936F-4468-922C-65068C55D2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171700"/>
            <a:ext cx="7010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725" b="1">
                <a:solidFill>
                  <a:srgbClr val="F7B95B"/>
                </a:solidFill>
                <a:latin typeface="Noto Sans KR"/>
                <a:ea typeface="Noto Sans KR"/>
                <a:cs typeface="Noto Sans KR"/>
              </a:defRPr>
            </a:pPr>
            <a:r>
              <a:rPr sz="1725" b="1">
                <a:solidFill>
                  <a:srgbClr val="F7B95B"/>
                </a:solidFill>
                <a:latin typeface="Noto Sans KR"/>
                <a:ea typeface="Noto Sans KR"/>
                <a:cs typeface="Noto Sans KR"/>
              </a:rPr>
              <a:t>서비스 안에서의 역할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629C31D-CE6A-43B0-B06E-CA3A5BF5A7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571750"/>
            <a:ext cx="701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F7B95B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B597DAD-3FDB-4106-99CC-B1601A1DEA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857500"/>
            <a:ext cx="1981200" cy="142875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FF5EA"/>
          </a:solidFill>
          <a:ln xmlns:a="http://schemas.openxmlformats.org/drawingml/2006/main" w="17145">
            <a:solidFill>
              <a:srgbClr val="F7B95B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53E4B7D-2EC0-4B98-A263-75F6023CF7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028950"/>
            <a:ext cx="1638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500" b="1">
                <a:solidFill>
                  <a:srgbClr val="2B1830"/>
                </a:solidFill>
                <a:latin typeface="Noto Sans KR"/>
                <a:ea typeface="Noto Sans KR"/>
                <a:cs typeface="Noto Sans KR"/>
              </a:defRPr>
            </a:pPr>
            <a:r>
              <a:rPr sz="1500" b="1">
                <a:solidFill>
                  <a:srgbClr val="2B1830"/>
                </a:solidFill>
                <a:latin typeface="Noto Sans KR"/>
                <a:ea typeface="Noto Sans KR"/>
                <a:cs typeface="Noto Sans KR"/>
              </a:rPr>
              <a:t>사용자 맥락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E0A3F5B-EAAA-43F5-BCB5-97356D5557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448050"/>
            <a:ext cx="16383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0">
                <a:solidFill>
                  <a:srgbClr val="2B1830"/>
                </a:solidFill>
                <a:latin typeface="Noto Sans KR"/>
                <a:ea typeface="Noto Sans KR"/>
                <a:cs typeface="Noto Sans KR"/>
              </a:defRPr>
            </a:pPr>
            <a:r>
              <a:rPr sz="1200" b="0">
                <a:solidFill>
                  <a:srgbClr val="2B1830"/>
                </a:solidFill>
                <a:latin typeface="Noto Sans KR"/>
                <a:ea typeface="Noto Sans KR"/>
                <a:cs typeface="Noto Sans KR"/>
              </a:rPr>
              <a:t>시간가중 당일 감정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200" b="0">
                <a:solidFill>
                  <a:srgbClr val="2B1830"/>
                </a:solidFill>
                <a:latin typeface="Noto Sans KR"/>
                <a:ea typeface="Noto Sans KR"/>
                <a:cs typeface="Noto Sans KR"/>
              </a:defRPr>
            </a:pPr>
            <a:r>
              <a:rPr sz="1200" b="0">
                <a:solidFill>
                  <a:srgbClr val="2B1830"/>
                </a:solidFill>
                <a:latin typeface="Noto Sans KR"/>
                <a:ea typeface="Noto Sans KR"/>
                <a:cs typeface="Noto Sans KR"/>
              </a:rPr>
              <a:t>관심사 · 취미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730B380-CE49-4640-9015-306C454BB2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3371850"/>
            <a:ext cx="247650" cy="3429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F7B95B"/>
          </a:solidFill>
          <a:ln xmlns:a="http://schemas.openxmlformats.org/drawingml/2006/main" w="0">
            <a:solidFill>
              <a:srgbClr val="F7B95B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268018A-AA8C-40DB-8C21-8BC72D2652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2857500"/>
            <a:ext cx="1981200" cy="142875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FE4B5"/>
          </a:solidFill>
          <a:ln xmlns:a="http://schemas.openxmlformats.org/drawingml/2006/main" w="17145">
            <a:solidFill>
              <a:srgbClr val="F7B95B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9EBE3AD-1C39-433F-AD60-77ADC72117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3028950"/>
            <a:ext cx="1638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500" b="1">
                <a:solidFill>
                  <a:srgbClr val="2B1830"/>
                </a:solidFill>
                <a:latin typeface="Noto Sans KR"/>
                <a:ea typeface="Noto Sans KR"/>
                <a:cs typeface="Noto Sans KR"/>
              </a:defRPr>
            </a:pPr>
            <a:r>
              <a:rPr sz="1500" b="1">
                <a:solidFill>
                  <a:srgbClr val="2B1830"/>
                </a:solidFill>
                <a:latin typeface="Noto Sans KR"/>
                <a:ea typeface="Noto Sans KR"/>
                <a:cs typeface="Noto Sans KR"/>
              </a:rPr>
              <a:t>독서 의도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E5191FF-CC52-4F74-8956-8C795D4F57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3448050"/>
            <a:ext cx="16383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0">
                <a:solidFill>
                  <a:srgbClr val="2B1830"/>
                </a:solidFill>
                <a:latin typeface="Noto Sans KR"/>
                <a:ea typeface="Noto Sans KR"/>
                <a:cs typeface="Noto Sans KR"/>
              </a:defRPr>
            </a:pPr>
            <a:r>
              <a:rPr sz="1200" b="0">
                <a:solidFill>
                  <a:srgbClr val="2B1830"/>
                </a:solidFill>
                <a:latin typeface="Noto Sans KR"/>
                <a:ea typeface="Noto Sans KR"/>
                <a:cs typeface="Noto Sans KR"/>
              </a:rPr>
              <a:t>감정 유지/환기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200" b="0">
                <a:solidFill>
                  <a:srgbClr val="2B1830"/>
                </a:solidFill>
                <a:latin typeface="Noto Sans KR"/>
                <a:ea typeface="Noto Sans KR"/>
                <a:cs typeface="Noto Sans KR"/>
              </a:defRPr>
            </a:pPr>
            <a:r>
              <a:rPr sz="1200" b="0">
                <a:solidFill>
                  <a:srgbClr val="2B1830"/>
                </a:solidFill>
                <a:latin typeface="Noto Sans KR"/>
                <a:ea typeface="Noto Sans KR"/>
                <a:cs typeface="Noto Sans KR"/>
              </a:rPr>
              <a:t>지식 확장 · 취미 활용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B80312F-B23B-4016-9A36-56B27693B7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2100" y="3371850"/>
            <a:ext cx="247650" cy="3429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F7B95B"/>
          </a:solidFill>
          <a:ln xmlns:a="http://schemas.openxmlformats.org/drawingml/2006/main" w="0">
            <a:solidFill>
              <a:srgbClr val="F7B95B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B90C215-02A9-450F-B6FF-61B9E0A4D0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2857500"/>
            <a:ext cx="1981200" cy="142875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FF5EA"/>
          </a:solidFill>
          <a:ln xmlns:a="http://schemas.openxmlformats.org/drawingml/2006/main" w="17145">
            <a:solidFill>
              <a:srgbClr val="F7B95B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2FED31F-4F9A-46B0-8CED-B1E2B3FC52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48350" y="3028950"/>
            <a:ext cx="1638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500" b="1">
                <a:solidFill>
                  <a:srgbClr val="2B1830"/>
                </a:solidFill>
                <a:latin typeface="Noto Sans KR"/>
                <a:ea typeface="Noto Sans KR"/>
                <a:cs typeface="Noto Sans KR"/>
              </a:defRPr>
            </a:pPr>
            <a:r>
              <a:rPr sz="1500" b="1">
                <a:solidFill>
                  <a:srgbClr val="2B1830"/>
                </a:solidFill>
                <a:latin typeface="Noto Sans KR"/>
                <a:ea typeface="Noto Sans KR"/>
                <a:cs typeface="Noto Sans KR"/>
              </a:rPr>
              <a:t>실제 도서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A703F3C-6E15-4480-8F23-72BB558642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48350" y="3448050"/>
            <a:ext cx="16383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0">
                <a:solidFill>
                  <a:srgbClr val="2B1830"/>
                </a:solidFill>
                <a:latin typeface="Noto Sans KR"/>
                <a:ea typeface="Noto Sans KR"/>
                <a:cs typeface="Noto Sans KR"/>
              </a:defRPr>
            </a:pPr>
            <a:r>
              <a:rPr sz="1200" b="0">
                <a:solidFill>
                  <a:srgbClr val="2B1830"/>
                </a:solidFill>
                <a:latin typeface="Noto Sans KR"/>
                <a:ea typeface="Noto Sans KR"/>
                <a:cs typeface="Noto Sans KR"/>
              </a:rPr>
              <a:t>테마별 최종 1권 · 총 3권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200" b="0">
                <a:solidFill>
                  <a:srgbClr val="2B1830"/>
                </a:solidFill>
                <a:latin typeface="Noto Sans KR"/>
                <a:ea typeface="Noto Sans KR"/>
                <a:cs typeface="Noto Sans KR"/>
              </a:defRPr>
            </a:pPr>
            <a:r>
              <a:rPr sz="1200" b="0">
                <a:solidFill>
                  <a:srgbClr val="2B1830"/>
                </a:solidFill>
                <a:latin typeface="Noto Sans KR"/>
                <a:ea typeface="Noto Sans KR"/>
                <a:cs typeface="Noto Sans KR"/>
              </a:rPr>
              <a:t>개인화 추천 서평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60AE327-E595-46C6-9215-515F4CC23A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686300"/>
            <a:ext cx="12001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E4B5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75" b="1">
                <a:solidFill>
                  <a:srgbClr val="2B1830"/>
                </a:solidFill>
                <a:latin typeface="Noto Sans KR"/>
                <a:ea typeface="Noto Sans KR"/>
                <a:cs typeface="Noto Sans KR"/>
              </a:defRPr>
            </a:pPr>
            <a:r>
              <a:rPr sz="1275" b="1">
                <a:solidFill>
                  <a:srgbClr val="2B1830"/>
                </a:solidFill>
                <a:latin typeface="Noto Sans KR"/>
                <a:ea typeface="Noto Sans KR"/>
                <a:cs typeface="Noto Sans KR"/>
              </a:rPr>
              <a:t>서비스 효과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0D31A4C-BE52-4A5D-AEDF-38D3843572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4629150"/>
            <a:ext cx="53149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90992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500" b="1">
                <a:solidFill>
                  <a:srgbClr val="FFF5EA"/>
                </a:solidFill>
                <a:latin typeface="Noto Sans KR"/>
                <a:ea typeface="Noto Sans KR"/>
                <a:cs typeface="Noto Sans KR"/>
              </a:defRPr>
            </a:pPr>
            <a:r>
              <a:rPr sz="1500" b="1">
                <a:solidFill>
                  <a:srgbClr val="FFF5EA"/>
                </a:solidFill>
                <a:latin typeface="Noto Sans KR"/>
                <a:ea typeface="Noto Sans KR"/>
                <a:cs typeface="Noto Sans KR"/>
              </a:rPr>
              <a:t>현재 감정에는 읽기 경험을, 관심사에는 탐구를, 취미에는 실제 활용을 제안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96C8D70-CC63-4F9A-9F0E-A1A48B361D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5181600"/>
            <a:ext cx="6667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F7B95B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54D6DF1-AB87-4405-9554-A218CC1AF6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5410200"/>
            <a:ext cx="12001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E4B5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75" b="1">
                <a:solidFill>
                  <a:srgbClr val="2B1830"/>
                </a:solidFill>
                <a:latin typeface="Noto Sans KR"/>
                <a:ea typeface="Noto Sans KR"/>
                <a:cs typeface="Noto Sans KR"/>
              </a:defRPr>
            </a:pPr>
            <a:r>
              <a:rPr sz="1275" b="1">
                <a:solidFill>
                  <a:srgbClr val="2B1830"/>
                </a:solidFill>
                <a:latin typeface="Noto Sans KR"/>
                <a:ea typeface="Noto Sans KR"/>
                <a:cs typeface="Noto Sans KR"/>
              </a:rPr>
              <a:t>기능의 위치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8B64928-6D7A-4D21-8ACC-A933DD7030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5353050"/>
            <a:ext cx="53149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350" b="0">
                <a:solidFill>
                  <a:srgbClr val="FFF5EA"/>
                </a:solidFill>
                <a:latin typeface="Noto Sans KR"/>
                <a:ea typeface="Noto Sans KR"/>
                <a:cs typeface="Noto Sans KR"/>
              </a:defRPr>
            </a:pPr>
            <a:r>
              <a:rPr sz="1350" b="0">
                <a:solidFill>
                  <a:srgbClr val="FFF5EA"/>
                </a:solidFill>
                <a:latin typeface="Noto Sans KR"/>
                <a:ea typeface="Noto Sans KR"/>
                <a:cs typeface="Noto Sans KR"/>
              </a:rPr>
              <a:t>마이페이지에서 하루 단위 추천을 제공한다. 감정·관심사·취미 중 한 근거만 바뀌면 해당 테마만 다시 생성한다.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1B8C958-D3D5-4DAD-89C7-790CBC5787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2038350"/>
            <a:ext cx="4648200" cy="5010150"/>
          </a:xfrm>
          <a:prstGeom xmlns:a="http://schemas.openxmlformats.org/drawingml/2006/main" prst="roundRect">
            <a:avLst>
              <a:gd name="adj" fmla="val 2459"/>
            </a:avLst>
          </a:prstGeom>
          <a:solidFill xmlns:a="http://schemas.openxmlformats.org/drawingml/2006/main">
            <a:srgbClr val="FFF5EA"/>
          </a:solidFill>
          <a:ln xmlns:a="http://schemas.openxmlformats.org/drawingml/2006/main" w="19050">
            <a:solidFill>
              <a:srgbClr val="F7B95B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3ACA533-10B7-4003-AD80-BA5CB1127D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2209800"/>
            <a:ext cx="4191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75" b="1">
                <a:solidFill>
                  <a:srgbClr val="2B1830"/>
                </a:solidFill>
                <a:latin typeface="Noto Sans KR"/>
                <a:ea typeface="Noto Sans KR"/>
                <a:cs typeface="Noto Sans KR"/>
              </a:defRPr>
            </a:pPr>
            <a:r>
              <a:rPr sz="1875" b="1">
                <a:solidFill>
                  <a:srgbClr val="2B1830"/>
                </a:solidFill>
                <a:latin typeface="Noto Sans KR"/>
                <a:ea typeface="Noto Sans KR"/>
                <a:cs typeface="Noto Sans KR"/>
              </a:rPr>
              <a:t>AI 적용과 설계 근거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BD706A0-73A5-4F52-BAC5-F70EFA126D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2628900"/>
            <a:ext cx="4191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F7B95B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E0BD66F-627B-4661-AC7F-ADD4266C2F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2781300"/>
            <a:ext cx="10668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E4B5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57150" tIns="19050" rIns="571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75" b="1">
                <a:solidFill>
                  <a:srgbClr val="2B1830"/>
                </a:solidFill>
                <a:latin typeface="Noto Sans KR"/>
                <a:ea typeface="Noto Sans KR"/>
                <a:cs typeface="Noto Sans KR"/>
              </a:defRPr>
            </a:pPr>
            <a:r>
              <a:rPr sz="1275" b="1">
                <a:solidFill>
                  <a:srgbClr val="2B1830"/>
                </a:solidFill>
                <a:latin typeface="Noto Sans KR"/>
                <a:ea typeface="Noto Sans KR"/>
                <a:cs typeface="Noto Sans KR"/>
              </a:rPr>
              <a:t>필요성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1C6E81FF-04C5-4D19-97B5-B837BFFAE1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9800" y="2762250"/>
            <a:ext cx="2971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425" b="1">
                <a:solidFill>
                  <a:srgbClr val="7B43AA"/>
                </a:solidFill>
                <a:latin typeface="Noto Sans KR"/>
                <a:ea typeface="Noto Sans KR"/>
                <a:cs typeface="Noto Sans KR"/>
              </a:defRPr>
            </a:pPr>
            <a:r>
              <a:rPr sz="1425" b="1">
                <a:solidFill>
                  <a:srgbClr val="7B43AA"/>
                </a:solidFill>
                <a:latin typeface="Noto Sans KR"/>
                <a:ea typeface="Noto Sans KR"/>
                <a:cs typeface="Noto Sans KR"/>
              </a:rPr>
              <a:t>분석 다음의 실천 선택지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DA871728-EA16-4FE4-9DBF-FD94813EBB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3124200"/>
            <a:ext cx="4191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38" b="0">
                <a:solidFill>
                  <a:srgbClr val="2B1830"/>
                </a:solidFill>
                <a:latin typeface="Noto Sans KR"/>
                <a:ea typeface="Noto Sans KR"/>
                <a:cs typeface="Noto Sans KR"/>
              </a:defRPr>
            </a:pPr>
            <a:r>
              <a:rPr sz="1238" b="0">
                <a:solidFill>
                  <a:srgbClr val="2B1830"/>
                </a:solidFill>
                <a:latin typeface="Noto Sans KR"/>
                <a:ea typeface="Noto Sans KR"/>
                <a:cs typeface="Noto Sans KR"/>
              </a:rPr>
              <a:t>감정과 취향을 보여 주는 데서 끝나지 않고, 사용자가 바로 꺼내 볼 수 있는 실제 책을 다음 행동으로 제안한다.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7DDEF007-606B-44DC-8867-1355D90819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3848100"/>
            <a:ext cx="4191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C9D4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302C8789-FF21-4FD8-BF33-C34732F658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3962400"/>
            <a:ext cx="10668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E4B5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57150" tIns="19050" rIns="571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75" b="1">
                <a:solidFill>
                  <a:srgbClr val="2B1830"/>
                </a:solidFill>
                <a:latin typeface="Noto Sans KR"/>
                <a:ea typeface="Noto Sans KR"/>
                <a:cs typeface="Noto Sans KR"/>
              </a:defRPr>
            </a:pPr>
            <a:r>
              <a:rPr sz="1275" b="1">
                <a:solidFill>
                  <a:srgbClr val="2B1830"/>
                </a:solidFill>
                <a:latin typeface="Noto Sans KR"/>
                <a:ea typeface="Noto Sans KR"/>
                <a:cs typeface="Noto Sans KR"/>
              </a:rPr>
              <a:t>근거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880B95EE-89F6-437C-AF77-820B1C377F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9800" y="3943350"/>
            <a:ext cx="2971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425" b="1">
                <a:solidFill>
                  <a:srgbClr val="7B43AA"/>
                </a:solidFill>
                <a:latin typeface="Noto Sans KR"/>
                <a:ea typeface="Noto Sans KR"/>
                <a:cs typeface="Noto Sans KR"/>
              </a:defRPr>
            </a:pPr>
            <a:r>
              <a:rPr sz="1425" b="1">
                <a:solidFill>
                  <a:srgbClr val="7B43AA"/>
                </a:solidFill>
                <a:latin typeface="Noto Sans KR"/>
                <a:ea typeface="Noto Sans KR"/>
                <a:cs typeface="Noto Sans KR"/>
              </a:rPr>
              <a:t>세 가지 추천 축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72B3B302-209A-4FB8-AAA1-CFAE396D18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4305300"/>
            <a:ext cx="4191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38" b="0">
                <a:solidFill>
                  <a:srgbClr val="2B1830"/>
                </a:solidFill>
                <a:latin typeface="Noto Sans KR"/>
                <a:ea typeface="Noto Sans KR"/>
                <a:cs typeface="Noto Sans KR"/>
              </a:defRPr>
            </a:pPr>
            <a:r>
              <a:rPr sz="1238" b="0">
                <a:solidFill>
                  <a:srgbClr val="2B1830"/>
                </a:solidFill>
                <a:latin typeface="Noto Sans KR"/>
                <a:ea typeface="Noto Sans KR"/>
                <a:cs typeface="Noto Sans KR"/>
              </a:rPr>
              <a:t>최근 대화의 시간가중 감정, 프로필 관심사, 프로필 취미를 각각 독립 테마로 사용한다. 관심사·취미는 한 회차에 한 주제를 고정한다.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7F17B55F-3A08-4842-B5D8-5E9124E2A5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5124450"/>
            <a:ext cx="4191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C9D4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E7B4D505-655A-41D2-86F1-1B90295FBC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5238750"/>
            <a:ext cx="10668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E4B5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57150" tIns="19050" rIns="571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75" b="1">
                <a:solidFill>
                  <a:srgbClr val="2B1830"/>
                </a:solidFill>
                <a:latin typeface="Noto Sans KR"/>
                <a:ea typeface="Noto Sans KR"/>
                <a:cs typeface="Noto Sans KR"/>
              </a:defRPr>
            </a:pPr>
            <a:r>
              <a:rPr sz="1275" b="1">
                <a:solidFill>
                  <a:srgbClr val="2B1830"/>
                </a:solidFill>
                <a:latin typeface="Noto Sans KR"/>
                <a:ea typeface="Noto Sans KR"/>
                <a:cs typeface="Noto Sans KR"/>
              </a:rPr>
              <a:t>AI 역할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CE58AAE0-E674-41C9-A62D-05AD84C1BF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9800" y="5219700"/>
            <a:ext cx="2971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425" b="1">
                <a:solidFill>
                  <a:srgbClr val="7B43AA"/>
                </a:solidFill>
                <a:latin typeface="Noto Sans KR"/>
                <a:ea typeface="Noto Sans KR"/>
                <a:cs typeface="Noto Sans KR"/>
              </a:defRPr>
            </a:pPr>
            <a:r>
              <a:rPr sz="1425" b="1">
                <a:solidFill>
                  <a:srgbClr val="7B43AA"/>
                </a:solidFill>
                <a:latin typeface="Noto Sans KR"/>
                <a:ea typeface="Noto Sans KR"/>
                <a:cs typeface="Noto Sans KR"/>
              </a:rPr>
              <a:t>검색 의도·후보 비교·서평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2806EFD1-699E-4681-8ADF-E6146EF321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5581650"/>
            <a:ext cx="4191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38" b="0">
                <a:solidFill>
                  <a:srgbClr val="2B1830"/>
                </a:solidFill>
                <a:latin typeface="Noto Sans KR"/>
                <a:ea typeface="Noto Sans KR"/>
                <a:cs typeface="Noto Sans KR"/>
              </a:defRPr>
            </a:pPr>
            <a:r>
              <a:rPr sz="1238" b="0">
                <a:solidFill>
                  <a:srgbClr val="2B1830"/>
                </a:solidFill>
                <a:latin typeface="Noto Sans KR"/>
                <a:ea typeface="Noto Sans KR"/>
                <a:cs typeface="Noto Sans KR"/>
              </a:rPr>
              <a:t>AI는 서점 검색어를 설계하고 검증된 후보 안에서 1권을 비교 선택한 뒤, 실제 책 소개를 근거로 추천 서평을 작성한다.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9656F0FE-155F-43F4-A6A0-466E524018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6419850"/>
            <a:ext cx="4191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183B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95250" tIns="57150" rIns="95250" bIns="57150" anchor="ctr">
            <a:normAutofit fontScale="7469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75" b="1">
                <a:solidFill>
                  <a:srgbClr val="FFF5EA"/>
                </a:solidFill>
                <a:latin typeface="Noto Sans KR"/>
                <a:ea typeface="Noto Sans KR"/>
                <a:cs typeface="Noto Sans KR"/>
              </a:defRPr>
            </a:pPr>
            <a:r>
              <a:rPr sz="1275" b="1">
                <a:solidFill>
                  <a:srgbClr val="FFF5EA"/>
                </a:solidFill>
                <a:latin typeface="Noto Sans KR"/>
                <a:ea typeface="Noto Sans KR"/>
                <a:cs typeface="Noto Sans KR"/>
              </a:rPr>
              <a:t>AI는 책을 만들어 내지 않고, Kakao가 반환한 실제 candidate_id 안에서만 선택</a:t>
            </a:r>
          </a:p>
        </p:txBody>
      </p:sp>
    </p:spTree>
    <p:extLst>
      <p:ext uri="{BB962C8B-B14F-4D97-AF65-F5344CB8AC3E}">
        <p14:creationId xmlns:p14="http://schemas.microsoft.com/office/powerpoint/2010/main" val="1197612870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21102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9F79D065-0BA6-4489-AA64-0456B4AA5C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590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1">
                <a:solidFill>
                  <a:srgbClr val="F7B95B"/>
                </a:solidFill>
                <a:latin typeface="Noto Sans KR"/>
                <a:ea typeface="Noto Sans KR"/>
                <a:cs typeface="Noto Sans KR"/>
              </a:defRPr>
            </a:pPr>
            <a:r>
              <a:rPr sz="1350" b="1">
                <a:solidFill>
                  <a:srgbClr val="F7B95B"/>
                </a:solidFill>
                <a:latin typeface="Noto Sans KR"/>
                <a:ea typeface="Noto Sans KR"/>
                <a:cs typeface="Noto Sans KR"/>
              </a:rPr>
              <a:t>APPENDIX</a:t>
            </a:r>
            <a:r>
              <a:rPr sz="1350" b="1">
                <a:solidFill>
                  <a:srgbClr val="F7B95B"/>
                </a:solidFill>
                <a:latin typeface="Noto Sans KR"/>
                <a:ea typeface="Noto Sans KR"/>
                <a:cs typeface="Noto Sans KR"/>
              </a:rPr>
              <a:t> · AI 도서 추천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6249F35-15E4-4472-86AD-8A799626AC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23431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E5D6E1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5EF03B1-D48E-4312-B7C3-C49E1FDE65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0375" y="68580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5D6E1"/>
          </a:solidFill>
          <a:ln xmlns:a="http://schemas.openxmlformats.org/drawingml/2006/main" w="0">
            <a:solidFill>
              <a:srgbClr val="E5D6E1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34776AB-F07A-46C3-AA3F-D2B49729D0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95350"/>
            <a:ext cx="123444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98765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3375" b="1">
                <a:solidFill>
                  <a:srgbClr val="FFF5EA"/>
                </a:solidFill>
                <a:latin typeface="Noto Sans KR"/>
                <a:ea typeface="Noto Sans KR"/>
                <a:cs typeface="Noto Sans KR"/>
              </a:defRPr>
            </a:pPr>
            <a:r>
              <a:rPr sz="3375" b="1">
                <a:solidFill>
                  <a:srgbClr val="FFF5EA"/>
                </a:solidFill>
                <a:latin typeface="Noto Sans KR"/>
                <a:ea typeface="Noto Sans KR"/>
                <a:cs typeface="Noto Sans KR"/>
              </a:rPr>
              <a:t>검색어에서 실제 도서 후보까지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5B93457-1416-46C1-8C9C-9CBC06273D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514475"/>
            <a:ext cx="122682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500" b="0">
                <a:solidFill>
                  <a:srgbClr val="BFAABD"/>
                </a:solidFill>
                <a:latin typeface="Noto Sans KR"/>
                <a:ea typeface="Noto Sans KR"/>
                <a:cs typeface="Noto Sans KR"/>
              </a:defRPr>
            </a:pPr>
            <a:r>
              <a:rPr sz="1500" b="0">
                <a:solidFill>
                  <a:srgbClr val="BFAABD"/>
                </a:solidFill>
                <a:latin typeface="Noto Sans KR"/>
                <a:ea typeface="Noto Sans KR"/>
                <a:cs typeface="Noto Sans KR"/>
              </a:rPr>
              <a:t>검색 의도 생성과 서지 후보 검증을 분리해, 주제 이탈과 가짜 책 생성을 함께 통제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1B1D802-5DB0-464B-99DA-716A338349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38350"/>
            <a:ext cx="7429500" cy="5010150"/>
          </a:xfrm>
          <a:prstGeom xmlns:a="http://schemas.openxmlformats.org/drawingml/2006/main" prst="roundRect">
            <a:avLst>
              <a:gd name="adj" fmla="val 2281"/>
            </a:avLst>
          </a:prstGeom>
          <a:solidFill xmlns:a="http://schemas.openxmlformats.org/drawingml/2006/main">
            <a:srgbClr val="2A1432"/>
          </a:solidFill>
          <a:ln xmlns:a="http://schemas.openxmlformats.org/drawingml/2006/main" w="19050">
            <a:solidFill>
              <a:srgbClr val="F7B95B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61FEF1A-2B4C-4CBD-BDC1-D929D63AE3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171700"/>
            <a:ext cx="7010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725" b="1">
                <a:solidFill>
                  <a:srgbClr val="F7B95B"/>
                </a:solidFill>
                <a:latin typeface="Noto Sans KR"/>
                <a:ea typeface="Noto Sans KR"/>
                <a:cs typeface="Noto Sans KR"/>
              </a:defRPr>
            </a:pPr>
            <a:r>
              <a:rPr sz="1725" b="1">
                <a:solidFill>
                  <a:srgbClr val="F7B95B"/>
                </a:solidFill>
                <a:latin typeface="Noto Sans KR"/>
                <a:ea typeface="Noto Sans KR"/>
                <a:cs typeface="Noto Sans KR"/>
              </a:rPr>
              <a:t>개인화 검색·후보 구성 프로세스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B714E22-01E6-4528-8CC2-2E1800721D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571750"/>
            <a:ext cx="701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F7B95B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2C2F647-A5B9-4DD5-853E-A9DCEE3FFF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3238500"/>
            <a:ext cx="304800" cy="114300"/>
          </a:xfrm>
          <a:prstGeom xmlns:a="http://schemas.openxmlformats.org/drawingml/2006/main" prst="downArrow">
            <a:avLst/>
          </a:prstGeom>
          <a:solidFill xmlns:a="http://schemas.openxmlformats.org/drawingml/2006/main">
            <a:srgbClr val="F7B95B"/>
          </a:solidFill>
          <a:ln xmlns:a="http://schemas.openxmlformats.org/drawingml/2006/main" w="0">
            <a:solidFill>
              <a:srgbClr val="F7B95B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1CDE432-16D0-4381-9867-95FB01BF99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3943350"/>
            <a:ext cx="304800" cy="114300"/>
          </a:xfrm>
          <a:prstGeom xmlns:a="http://schemas.openxmlformats.org/drawingml/2006/main" prst="downArrow">
            <a:avLst/>
          </a:prstGeom>
          <a:solidFill xmlns:a="http://schemas.openxmlformats.org/drawingml/2006/main">
            <a:srgbClr val="F7B95B"/>
          </a:solidFill>
          <a:ln xmlns:a="http://schemas.openxmlformats.org/drawingml/2006/main" w="0">
            <a:solidFill>
              <a:srgbClr val="F7B95B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2738DCE-FD7E-46BF-BA8B-4A061485FB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4648200"/>
            <a:ext cx="304800" cy="114300"/>
          </a:xfrm>
          <a:prstGeom xmlns:a="http://schemas.openxmlformats.org/drawingml/2006/main" prst="downArrow">
            <a:avLst/>
          </a:prstGeom>
          <a:solidFill xmlns:a="http://schemas.openxmlformats.org/drawingml/2006/main">
            <a:srgbClr val="F7B95B"/>
          </a:solidFill>
          <a:ln xmlns:a="http://schemas.openxmlformats.org/drawingml/2006/main" w="0">
            <a:solidFill>
              <a:srgbClr val="F7B95B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148281D-3134-4F5E-B3A7-A09E60CF94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5353050"/>
            <a:ext cx="304800" cy="114300"/>
          </a:xfrm>
          <a:prstGeom xmlns:a="http://schemas.openxmlformats.org/drawingml/2006/main" prst="downArrow">
            <a:avLst/>
          </a:prstGeom>
          <a:solidFill xmlns:a="http://schemas.openxmlformats.org/drawingml/2006/main">
            <a:srgbClr val="F7B95B"/>
          </a:solidFill>
          <a:ln xmlns:a="http://schemas.openxmlformats.org/drawingml/2006/main" w="0">
            <a:solidFill>
              <a:srgbClr val="F7B95B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F081709-C8A4-41C0-8F78-C6D4AD9B5A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6057900"/>
            <a:ext cx="304800" cy="114300"/>
          </a:xfrm>
          <a:prstGeom xmlns:a="http://schemas.openxmlformats.org/drawingml/2006/main" prst="downArrow">
            <a:avLst/>
          </a:prstGeom>
          <a:solidFill xmlns:a="http://schemas.openxmlformats.org/drawingml/2006/main">
            <a:srgbClr val="F7B95B"/>
          </a:solidFill>
          <a:ln xmlns:a="http://schemas.openxmlformats.org/drawingml/2006/main" w="0">
            <a:solidFill>
              <a:srgbClr val="F7B95B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8A68434-0BC4-43C7-A70D-796216406F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647950"/>
            <a:ext cx="5334000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FFF5EA"/>
          </a:solidFill>
          <a:ln xmlns:a="http://schemas.openxmlformats.org/drawingml/2006/main" w="14288">
            <a:solidFill>
              <a:srgbClr val="F7B95B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68BFFD1-1F5C-402F-A631-E6B583EB7F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647950"/>
            <a:ext cx="85725" cy="5905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7B95B"/>
          </a:solidFill>
          <a:ln xmlns:a="http://schemas.openxmlformats.org/drawingml/2006/main" w="0">
            <a:solidFill>
              <a:srgbClr val="F7B95B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B9FDD8E-C4BF-4E88-A322-3274F1EF07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2705100"/>
            <a:ext cx="50101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8818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1">
                <a:solidFill>
                  <a:srgbClr val="2B1830"/>
                </a:solidFill>
                <a:latin typeface="Noto Sans KR"/>
                <a:ea typeface="Noto Sans KR"/>
                <a:cs typeface="Noto Sans KR"/>
              </a:defRPr>
            </a:pPr>
            <a:r>
              <a:rPr sz="1350" b="1">
                <a:solidFill>
                  <a:srgbClr val="2B1830"/>
                </a:solidFill>
                <a:latin typeface="Noto Sans KR"/>
                <a:ea typeface="Noto Sans KR"/>
                <a:cs typeface="Noto Sans KR"/>
              </a:rPr>
              <a:t>세 테마 분리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D1B48E4-81C4-44A5-85BA-8F02427328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2933700"/>
            <a:ext cx="50101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140" b="0">
                <a:solidFill>
                  <a:srgbClr val="2B1830"/>
                </a:solidFill>
                <a:latin typeface="Noto Sans KR"/>
                <a:ea typeface="Noto Sans KR"/>
                <a:cs typeface="Noto Sans KR"/>
              </a:defRPr>
            </a:pPr>
            <a:r>
              <a:rPr sz="1140" b="0">
                <a:solidFill>
                  <a:srgbClr val="2B1830"/>
                </a:solidFill>
                <a:latin typeface="Noto Sans KR"/>
                <a:ea typeface="Noto Sans KR"/>
                <a:cs typeface="Noto Sans KR"/>
              </a:rPr>
              <a:t>당일 감정 · 관심사 · 취미를 서로 다른 추천 목적과 검색 흐름으로 구성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7C8C950-9F1E-45BE-B556-81830549C7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352800"/>
            <a:ext cx="5334000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FFF5EA"/>
          </a:solidFill>
          <a:ln xmlns:a="http://schemas.openxmlformats.org/drawingml/2006/main" w="14288">
            <a:solidFill>
              <a:srgbClr val="F7B95B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0D818B2-3534-469D-9A53-2313B1CE27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352800"/>
            <a:ext cx="85725" cy="5905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7B95B"/>
          </a:solidFill>
          <a:ln xmlns:a="http://schemas.openxmlformats.org/drawingml/2006/main" w="0">
            <a:solidFill>
              <a:srgbClr val="F7B95B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F075B24-2C31-4616-9EB6-1869D8BABC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409950"/>
            <a:ext cx="50101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8818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1">
                <a:solidFill>
                  <a:srgbClr val="2B1830"/>
                </a:solidFill>
                <a:latin typeface="Noto Sans KR"/>
                <a:ea typeface="Noto Sans KR"/>
                <a:cs typeface="Noto Sans KR"/>
              </a:defRPr>
            </a:pPr>
            <a:r>
              <a:rPr sz="1350" b="1">
                <a:solidFill>
                  <a:srgbClr val="2B1830"/>
                </a:solidFill>
                <a:latin typeface="Noto Sans KR"/>
                <a:ea typeface="Noto Sans KR"/>
                <a:cs typeface="Noto Sans KR"/>
              </a:rPr>
              <a:t>LLM 검색 의도 JSON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E618193-0044-4BFB-A3F4-A4191EF3B4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638550"/>
            <a:ext cx="50101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140" b="0">
                <a:solidFill>
                  <a:srgbClr val="2B1830"/>
                </a:solidFill>
                <a:latin typeface="Noto Sans KR"/>
                <a:ea typeface="Noto Sans KR"/>
                <a:cs typeface="Noto Sans KR"/>
              </a:defRPr>
            </a:pPr>
            <a:r>
              <a:rPr sz="1140" b="0">
                <a:solidFill>
                  <a:srgbClr val="2B1830"/>
                </a:solidFill>
                <a:latin typeface="Noto Sans KR"/>
                <a:ea typeface="Noto Sans KR"/>
                <a:cs typeface="Noto Sans KR"/>
              </a:rPr>
              <a:t>selected_basis · keyword · search_terms · content_terms · reason 생성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36BB19B-8FE8-446E-A355-64725C114C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057650"/>
            <a:ext cx="5334000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FFF5EA"/>
          </a:solidFill>
          <a:ln xmlns:a="http://schemas.openxmlformats.org/drawingml/2006/main" w="14288">
            <a:solidFill>
              <a:srgbClr val="F7B95B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6650F27-4CDF-46E6-AD8D-EE5CDC8D19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057650"/>
            <a:ext cx="85725" cy="5905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7B95B"/>
          </a:solidFill>
          <a:ln xmlns:a="http://schemas.openxmlformats.org/drawingml/2006/main" w="0">
            <a:solidFill>
              <a:srgbClr val="F7B95B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2E0F873-3497-4BB6-B99A-2BF2FB8538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114800"/>
            <a:ext cx="50101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8818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1">
                <a:solidFill>
                  <a:srgbClr val="2B1830"/>
                </a:solidFill>
                <a:latin typeface="Noto Sans KR"/>
                <a:ea typeface="Noto Sans KR"/>
                <a:cs typeface="Noto Sans KR"/>
              </a:defRPr>
            </a:pPr>
            <a:r>
              <a:rPr sz="1350" b="1">
                <a:solidFill>
                  <a:srgbClr val="2B1830"/>
                </a:solidFill>
                <a:latin typeface="Noto Sans KR"/>
                <a:ea typeface="Noto Sans KR"/>
                <a:cs typeface="Noto Sans KR"/>
              </a:rPr>
              <a:t>주제 앵커링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1C6F52A-616C-4B6A-BF14-1A4135E0C1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343400"/>
            <a:ext cx="50101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95734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140" b="0">
                <a:solidFill>
                  <a:srgbClr val="2B1830"/>
                </a:solidFill>
                <a:latin typeface="Noto Sans KR"/>
                <a:ea typeface="Noto Sans KR"/>
                <a:cs typeface="Noto Sans KR"/>
              </a:defRPr>
            </a:pPr>
            <a:r>
              <a:rPr sz="1140" b="0">
                <a:solidFill>
                  <a:srgbClr val="2B1830"/>
                </a:solidFill>
                <a:latin typeface="Noto Sans KR"/>
                <a:ea typeface="Noto Sans KR"/>
                <a:cs typeface="Noto Sans KR"/>
              </a:rPr>
              <a:t>관심사/취미 원문을 keyword 첫 부분과 핵심어에 유지해 일반적인 ‘힐링’으로 이탈 방지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22DA3AA-D413-42CA-9EEC-913629A9DA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762500"/>
            <a:ext cx="5334000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FFF5EA"/>
          </a:solidFill>
          <a:ln xmlns:a="http://schemas.openxmlformats.org/drawingml/2006/main" w="14288">
            <a:solidFill>
              <a:srgbClr val="F7B95B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0111DD8-E7FE-4131-9245-A052A7805B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762500"/>
            <a:ext cx="85725" cy="5905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7B95B"/>
          </a:solidFill>
          <a:ln xmlns:a="http://schemas.openxmlformats.org/drawingml/2006/main" w="0">
            <a:solidFill>
              <a:srgbClr val="F7B95B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6CD9686-860A-41D0-AB33-6D0CFC7B12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19650"/>
            <a:ext cx="50101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8818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1">
                <a:solidFill>
                  <a:srgbClr val="2B1830"/>
                </a:solidFill>
                <a:latin typeface="Noto Sans KR"/>
                <a:ea typeface="Noto Sans KR"/>
                <a:cs typeface="Noto Sans KR"/>
              </a:defRPr>
            </a:pPr>
            <a:r>
              <a:rPr sz="1350" b="1">
                <a:solidFill>
                  <a:srgbClr val="2B1830"/>
                </a:solidFill>
                <a:latin typeface="Noto Sans KR"/>
                <a:ea typeface="Noto Sans KR"/>
                <a:cs typeface="Noto Sans KR"/>
              </a:rPr>
              <a:t>Kakao 다중 검색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49ECED68-0DAE-4451-8B1B-71AA8FD12E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048250"/>
            <a:ext cx="50101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140" b="0">
                <a:solidFill>
                  <a:srgbClr val="2B1830"/>
                </a:solidFill>
                <a:latin typeface="Noto Sans KR"/>
                <a:ea typeface="Noto Sans KR"/>
                <a:cs typeface="Noto Sans KR"/>
              </a:defRPr>
            </a:pPr>
            <a:r>
              <a:rPr sz="1140" b="0">
                <a:solidFill>
                  <a:srgbClr val="2B1830"/>
                </a:solidFill>
                <a:latin typeface="Noto Sans KR"/>
                <a:ea typeface="Noto Sans KR"/>
                <a:cs typeface="Noto Sans KR"/>
              </a:rPr>
              <a:t>1~4어절 검색어를 독립 호출하고 제목·소개·저자·출판사·ISBN 등 실서지 수집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C25563B-683A-4622-BBE4-F7C46B5470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5467350"/>
            <a:ext cx="5334000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FFF5EA"/>
          </a:solidFill>
          <a:ln xmlns:a="http://schemas.openxmlformats.org/drawingml/2006/main" w="14288">
            <a:solidFill>
              <a:srgbClr val="F7B95B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D0C6C296-3777-4F4E-8EB2-2261FA6BD8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5467350"/>
            <a:ext cx="85725" cy="5905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7B95B"/>
          </a:solidFill>
          <a:ln xmlns:a="http://schemas.openxmlformats.org/drawingml/2006/main" w="0">
            <a:solidFill>
              <a:srgbClr val="F7B95B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494AE139-8185-4044-B408-63C1785D91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524500"/>
            <a:ext cx="50101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8818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1">
                <a:solidFill>
                  <a:srgbClr val="2B1830"/>
                </a:solidFill>
                <a:latin typeface="Noto Sans KR"/>
                <a:ea typeface="Noto Sans KR"/>
                <a:cs typeface="Noto Sans KR"/>
              </a:defRPr>
            </a:pPr>
            <a:r>
              <a:rPr sz="1350" b="1">
                <a:solidFill>
                  <a:srgbClr val="2B1830"/>
                </a:solidFill>
                <a:latin typeface="Noto Sans KR"/>
                <a:ea typeface="Noto Sans KR"/>
                <a:cs typeface="Noto Sans KR"/>
              </a:rPr>
              <a:t>규칙 필터·사전 랭킹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4E57E0E7-6255-4B07-8C28-C0775E5612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753100"/>
            <a:ext cx="50101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140" b="0">
                <a:solidFill>
                  <a:srgbClr val="2B1830"/>
                </a:solidFill>
                <a:latin typeface="Noto Sans KR"/>
                <a:ea typeface="Noto Sans KR"/>
                <a:cs typeface="Noto Sans KR"/>
              </a:defRPr>
            </a:pPr>
            <a:r>
              <a:rPr sz="1140" b="0">
                <a:solidFill>
                  <a:srgbClr val="2B1830"/>
                </a:solidFill>
                <a:latin typeface="Noto Sans KR"/>
                <a:ea typeface="Noto Sans KR"/>
                <a:cs typeface="Noto Sans KR"/>
              </a:rPr>
              <a:t>유해/비도서/문제집 마커 제거 · ISBN 중복/최근 이력 제외 · 주제 직접 일치 확인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5130C828-D048-45DB-818F-8A53DA06D2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6286500"/>
            <a:ext cx="5334000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FFF5EA"/>
          </a:solidFill>
          <a:ln xmlns:a="http://schemas.openxmlformats.org/drawingml/2006/main" w="14288">
            <a:solidFill>
              <a:srgbClr val="F7B95B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EF244760-C06C-4ACA-8A97-482FA19D83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6286500"/>
            <a:ext cx="85725" cy="5905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7B95B"/>
          </a:solidFill>
          <a:ln xmlns:a="http://schemas.openxmlformats.org/drawingml/2006/main" w="0">
            <a:solidFill>
              <a:srgbClr val="F7B95B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71AC38F5-9ABB-45CF-94A0-FCE2A3F9FD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6343650"/>
            <a:ext cx="50101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8818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1">
                <a:solidFill>
                  <a:srgbClr val="2B1830"/>
                </a:solidFill>
                <a:latin typeface="Noto Sans KR"/>
                <a:ea typeface="Noto Sans KR"/>
                <a:cs typeface="Noto Sans KR"/>
              </a:defRPr>
            </a:pPr>
            <a:r>
              <a:rPr sz="1350" b="1">
                <a:solidFill>
                  <a:srgbClr val="2B1830"/>
                </a:solidFill>
                <a:latin typeface="Noto Sans KR"/>
                <a:ea typeface="Noto Sans KR"/>
                <a:cs typeface="Noto Sans KR"/>
              </a:rPr>
              <a:t>상위 후보 최대 8권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CF4E3E42-6AFD-4BE2-8D33-4A0A7FD01F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6572250"/>
            <a:ext cx="50101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140" b="0">
                <a:solidFill>
                  <a:srgbClr val="2B1830"/>
                </a:solidFill>
                <a:latin typeface="Noto Sans KR"/>
                <a:ea typeface="Noto Sans KR"/>
                <a:cs typeface="Noto Sans KR"/>
              </a:defRPr>
            </a:pPr>
            <a:r>
              <a:rPr sz="1140" b="0">
                <a:solidFill>
                  <a:srgbClr val="2B1830"/>
                </a:solidFill>
                <a:latin typeface="Noto Sans KR"/>
                <a:ea typeface="Noto Sans KR"/>
                <a:cs typeface="Noto Sans KR"/>
              </a:rPr>
              <a:t>검색 순위·제목/소개 일치·서지 완결성·출간 연도를 반영해 AI 비교 후보 확정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4504DE3F-9829-4688-9BF8-AAC7C7A79D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3257550"/>
            <a:ext cx="1295400" cy="1371600"/>
          </a:xfrm>
          <a:prstGeom xmlns:a="http://schemas.openxmlformats.org/drawingml/2006/main" prst="roundRect">
            <a:avLst>
              <a:gd name="adj" fmla="val 5882"/>
            </a:avLst>
          </a:prstGeom>
          <a:solidFill xmlns:a="http://schemas.openxmlformats.org/drawingml/2006/main">
            <a:srgbClr val="35183B"/>
          </a:solidFill>
          <a:ln xmlns:a="http://schemas.openxmlformats.org/drawingml/2006/main" w="14288">
            <a:solidFill>
              <a:srgbClr val="F7B95B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B5407E99-1CDF-4786-BEBB-37D047E72C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3371850"/>
            <a:ext cx="1104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00" b="1">
                <a:solidFill>
                  <a:srgbClr val="F7B95B"/>
                </a:solidFill>
                <a:latin typeface="Noto Sans KR"/>
                <a:ea typeface="Noto Sans KR"/>
                <a:cs typeface="Noto Sans KR"/>
              </a:defRPr>
            </a:pPr>
            <a:r>
              <a:rPr sz="1200" b="1">
                <a:solidFill>
                  <a:srgbClr val="F7B95B"/>
                </a:solidFill>
                <a:latin typeface="Noto Sans KR"/>
                <a:ea typeface="Noto Sans KR"/>
                <a:cs typeface="Noto Sans KR"/>
              </a:rPr>
              <a:t>검색어 산출물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40D79CE7-65A5-42CF-83AF-68D000F580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3752850"/>
            <a:ext cx="11049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91699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163" b="0">
                <a:solidFill>
                  <a:srgbClr val="FFF5EA"/>
                </a:solidFill>
                <a:latin typeface="Noto Sans KR"/>
                <a:ea typeface="Noto Sans KR"/>
                <a:cs typeface="Noto Sans KR"/>
              </a:defRPr>
            </a:pPr>
            <a:r>
              <a:rPr sz="1163" b="0">
                <a:solidFill>
                  <a:srgbClr val="FFF5EA"/>
                </a:solidFill>
                <a:latin typeface="Noto Sans KR"/>
                <a:ea typeface="Noto Sans KR"/>
                <a:cs typeface="Noto Sans KR"/>
              </a:rPr>
              <a:t>대표 의도 1개</a:t>
            </a:r>
          </a:p>
          <a:p xmlns:a="http://schemas.openxmlformats.org/drawingml/2006/main">
            <a:pPr algn="ctr">
              <a:lnSpc>
                <a:spcPct val="105000"/>
              </a:lnSpc>
              <a:buNone/>
              <a:defRPr sz="1163" b="0">
                <a:solidFill>
                  <a:srgbClr val="FFF5EA"/>
                </a:solidFill>
                <a:latin typeface="Noto Sans KR"/>
                <a:ea typeface="Noto Sans KR"/>
                <a:cs typeface="Noto Sans KR"/>
              </a:defRPr>
            </a:pPr>
            <a:r>
              <a:rPr sz="1163" b="0">
                <a:solidFill>
                  <a:srgbClr val="FFF5EA"/>
                </a:solidFill>
                <a:latin typeface="Noto Sans KR"/>
                <a:ea typeface="Noto Sans KR"/>
                <a:cs typeface="Noto Sans KR"/>
              </a:rPr>
              <a:t>독립 검색어 3~4개</a:t>
            </a:r>
          </a:p>
          <a:p xmlns:a="http://schemas.openxmlformats.org/drawingml/2006/main">
            <a:pPr algn="ctr">
              <a:lnSpc>
                <a:spcPct val="105000"/>
              </a:lnSpc>
              <a:buNone/>
              <a:defRPr sz="1163" b="0">
                <a:solidFill>
                  <a:srgbClr val="FFF5EA"/>
                </a:solidFill>
                <a:latin typeface="Noto Sans KR"/>
                <a:ea typeface="Noto Sans KR"/>
                <a:cs typeface="Noto Sans KR"/>
              </a:defRPr>
            </a:pPr>
            <a:r>
              <a:rPr sz="1163" b="0">
                <a:solidFill>
                  <a:srgbClr val="FFF5EA"/>
                </a:solidFill>
                <a:latin typeface="Noto Sans KR"/>
                <a:ea typeface="Noto Sans KR"/>
                <a:cs typeface="Noto Sans KR"/>
              </a:rPr>
              <a:t>본문 핵심어 2~4개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FA38BB32-FD46-4BA6-8B29-3A82B365B3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4953000"/>
            <a:ext cx="1295400" cy="125730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FFE4B5"/>
          </a:solidFill>
          <a:ln xmlns:a="http://schemas.openxmlformats.org/drawingml/2006/main" w="14288">
            <a:solidFill>
              <a:srgbClr val="F7B95B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7AF26EFE-8836-4B9B-8263-142667F41A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5067300"/>
            <a:ext cx="1104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00" b="1">
                <a:solidFill>
                  <a:srgbClr val="2B1830"/>
                </a:solidFill>
                <a:latin typeface="Noto Sans KR"/>
                <a:ea typeface="Noto Sans KR"/>
                <a:cs typeface="Noto Sans KR"/>
              </a:defRPr>
            </a:pPr>
            <a:r>
              <a:rPr sz="1200" b="1">
                <a:solidFill>
                  <a:srgbClr val="2B1830"/>
                </a:solidFill>
                <a:latin typeface="Noto Sans KR"/>
                <a:ea typeface="Noto Sans KR"/>
                <a:cs typeface="Noto Sans KR"/>
              </a:rPr>
              <a:t>중복 제어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3A6FA834-7676-4B69-85AE-DE945E7A45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5429250"/>
            <a:ext cx="11049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79331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163" b="0">
                <a:solidFill>
                  <a:srgbClr val="2B1830"/>
                </a:solidFill>
                <a:latin typeface="Noto Sans KR"/>
                <a:ea typeface="Noto Sans KR"/>
                <a:cs typeface="Noto Sans KR"/>
              </a:defRPr>
            </a:pPr>
            <a:r>
              <a:rPr sz="1163" b="0">
                <a:solidFill>
                  <a:srgbClr val="2B1830"/>
                </a:solidFill>
                <a:latin typeface="Noto Sans KR"/>
                <a:ea typeface="Noto Sans KR"/>
                <a:cs typeface="Noto Sans KR"/>
              </a:rPr>
              <a:t>최근 유효 추천 이력의</a:t>
            </a:r>
          </a:p>
          <a:p xmlns:a="http://schemas.openxmlformats.org/drawingml/2006/main">
            <a:pPr algn="ctr">
              <a:lnSpc>
                <a:spcPct val="105000"/>
              </a:lnSpc>
              <a:buNone/>
              <a:defRPr sz="1163" b="0">
                <a:solidFill>
                  <a:srgbClr val="2B1830"/>
                </a:solidFill>
                <a:latin typeface="Noto Sans KR"/>
                <a:ea typeface="Noto Sans KR"/>
                <a:cs typeface="Noto Sans KR"/>
              </a:defRPr>
            </a:pPr>
            <a:r>
              <a:rPr sz="1163" b="0">
                <a:solidFill>
                  <a:srgbClr val="2B1830"/>
                </a:solidFill>
                <a:latin typeface="Noto Sans KR"/>
                <a:ea typeface="Noto Sans KR"/>
                <a:cs typeface="Noto Sans KR"/>
              </a:rPr>
              <a:t>테마별 ISBN을</a:t>
            </a:r>
          </a:p>
          <a:p xmlns:a="http://schemas.openxmlformats.org/drawingml/2006/main">
            <a:pPr algn="ctr">
              <a:lnSpc>
                <a:spcPct val="105000"/>
              </a:lnSpc>
              <a:buNone/>
              <a:defRPr sz="1163" b="0">
                <a:solidFill>
                  <a:srgbClr val="2B1830"/>
                </a:solidFill>
                <a:latin typeface="Noto Sans KR"/>
                <a:ea typeface="Noto Sans KR"/>
                <a:cs typeface="Noto Sans KR"/>
              </a:defRPr>
            </a:pPr>
            <a:r>
              <a:rPr sz="1163" b="0">
                <a:solidFill>
                  <a:srgbClr val="2B1830"/>
                </a:solidFill>
                <a:latin typeface="Noto Sans KR"/>
                <a:ea typeface="Noto Sans KR"/>
                <a:cs typeface="Noto Sans KR"/>
              </a:rPr>
              <a:t>최대 12개까지 제외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EA18550A-82F1-4A37-9904-6287A04757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2038350"/>
            <a:ext cx="4648200" cy="5010150"/>
          </a:xfrm>
          <a:prstGeom xmlns:a="http://schemas.openxmlformats.org/drawingml/2006/main" prst="roundRect">
            <a:avLst>
              <a:gd name="adj" fmla="val 2459"/>
            </a:avLst>
          </a:prstGeom>
          <a:solidFill xmlns:a="http://schemas.openxmlformats.org/drawingml/2006/main">
            <a:srgbClr val="FFF5EA"/>
          </a:solidFill>
          <a:ln xmlns:a="http://schemas.openxmlformats.org/drawingml/2006/main" w="19050">
            <a:solidFill>
              <a:srgbClr val="F7B95B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5DAF9997-895B-460F-B2F8-1B26A41BAC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2209800"/>
            <a:ext cx="4191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75" b="1">
                <a:solidFill>
                  <a:srgbClr val="2B1830"/>
                </a:solidFill>
                <a:latin typeface="Noto Sans KR"/>
                <a:ea typeface="Noto Sans KR"/>
                <a:cs typeface="Noto Sans KR"/>
              </a:defRPr>
            </a:pPr>
            <a:r>
              <a:rPr sz="1875" b="1">
                <a:solidFill>
                  <a:srgbClr val="2B1830"/>
                </a:solidFill>
                <a:latin typeface="Noto Sans KR"/>
                <a:ea typeface="Noto Sans KR"/>
                <a:cs typeface="Noto Sans KR"/>
              </a:rPr>
              <a:t>AI 적용과 설계 근거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1BF1214F-2F9E-4715-88C5-B1D7B76B86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2628900"/>
            <a:ext cx="4191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F7B95B"/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9BF82A0B-B6EC-4FC5-B14B-C40979187F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2781300"/>
            <a:ext cx="10668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E4B5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57150" tIns="19050" rIns="571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75" b="1">
                <a:solidFill>
                  <a:srgbClr val="2B1830"/>
                </a:solidFill>
                <a:latin typeface="Noto Sans KR"/>
                <a:ea typeface="Noto Sans KR"/>
                <a:cs typeface="Noto Sans KR"/>
              </a:defRPr>
            </a:pPr>
            <a:r>
              <a:rPr sz="1275" b="1">
                <a:solidFill>
                  <a:srgbClr val="2B1830"/>
                </a:solidFill>
                <a:latin typeface="Noto Sans KR"/>
                <a:ea typeface="Noto Sans KR"/>
                <a:cs typeface="Noto Sans KR"/>
              </a:rPr>
              <a:t>검색어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750B3F66-42B5-4E09-BFFC-1A2E832225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9800" y="2762250"/>
            <a:ext cx="2971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425" b="1">
                <a:solidFill>
                  <a:srgbClr val="7B43AA"/>
                </a:solidFill>
                <a:latin typeface="Noto Sans KR"/>
                <a:ea typeface="Noto Sans KR"/>
                <a:cs typeface="Noto Sans KR"/>
              </a:defRPr>
            </a:pPr>
            <a:r>
              <a:rPr sz="1425" b="1">
                <a:solidFill>
                  <a:srgbClr val="7B43AA"/>
                </a:solidFill>
                <a:latin typeface="Noto Sans KR"/>
                <a:ea typeface="Noto Sans KR"/>
                <a:cs typeface="Noto Sans KR"/>
              </a:rPr>
              <a:t>주제 하나를 검색 가능한 관점으로 확장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646B95E5-0E89-4C82-BBEF-169FFB70DE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3124200"/>
            <a:ext cx="4191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38" b="0">
                <a:solidFill>
                  <a:srgbClr val="2B1830"/>
                </a:solidFill>
                <a:latin typeface="Noto Sans KR"/>
                <a:ea typeface="Noto Sans KR"/>
                <a:cs typeface="Noto Sans KR"/>
              </a:defRPr>
            </a:pPr>
            <a:r>
              <a:rPr sz="1238" b="0">
                <a:solidFill>
                  <a:srgbClr val="2B1830"/>
                </a:solidFill>
                <a:latin typeface="Noto Sans KR"/>
                <a:ea typeface="Noto Sans KR"/>
                <a:cs typeface="Noto Sans KR"/>
              </a:rPr>
              <a:t>관심사·취미는 선택 주제 원문을 보존하면서 실용·입문·역사·비평·기술 등 서로 다른 탐색 관점으로 구체화한다.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83884C8A-E85C-4061-8289-382616604A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3905250"/>
            <a:ext cx="4191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C9D4"/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B733BFE6-3E71-4E5B-8DCE-1A1F1B6F5C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4019550"/>
            <a:ext cx="10668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E4B5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57150" tIns="19050" rIns="571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75" b="1">
                <a:solidFill>
                  <a:srgbClr val="2B1830"/>
                </a:solidFill>
                <a:latin typeface="Noto Sans KR"/>
                <a:ea typeface="Noto Sans KR"/>
                <a:cs typeface="Noto Sans KR"/>
              </a:defRPr>
            </a:pPr>
            <a:r>
              <a:rPr sz="1275" b="1">
                <a:solidFill>
                  <a:srgbClr val="2B1830"/>
                </a:solidFill>
                <a:latin typeface="Noto Sans KR"/>
                <a:ea typeface="Noto Sans KR"/>
                <a:cs typeface="Noto Sans KR"/>
              </a:rPr>
              <a:t>감정 규칙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63AEA763-6B27-4528-A8DB-D0441DFAAE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9800" y="4000500"/>
            <a:ext cx="2971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425" b="1">
                <a:solidFill>
                  <a:srgbClr val="7B43AA"/>
                </a:solidFill>
                <a:latin typeface="Noto Sans KR"/>
                <a:ea typeface="Noto Sans KR"/>
                <a:cs typeface="Noto Sans KR"/>
              </a:defRPr>
            </a:pPr>
            <a:r>
              <a:rPr sz="1425" b="1">
                <a:solidFill>
                  <a:srgbClr val="7B43AA"/>
                </a:solidFill>
                <a:latin typeface="Noto Sans KR"/>
                <a:ea typeface="Noto Sans KR"/>
                <a:cs typeface="Noto Sans KR"/>
              </a:rPr>
              <a:t>감정 이름이 아닌 독서 목적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E3BAE727-BE22-4B0B-8E33-DA5594A11D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4362450"/>
            <a:ext cx="4191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38" b="0">
                <a:solidFill>
                  <a:srgbClr val="2B1830"/>
                </a:solidFill>
                <a:latin typeface="Noto Sans KR"/>
                <a:ea typeface="Noto Sans KR"/>
                <a:cs typeface="Noto Sans KR"/>
              </a:defRPr>
            </a:pPr>
            <a:r>
              <a:rPr sz="1238" b="0">
                <a:solidFill>
                  <a:srgbClr val="2B1830"/>
                </a:solidFill>
                <a:latin typeface="Noto Sans KR"/>
                <a:ea typeface="Noto Sans KR"/>
                <a:cs typeface="Noto Sans KR"/>
              </a:rPr>
              <a:t>긍정 감정은 유지·심화, 무거운 감정은 환기·완화를 목표로 한다. 감정 단어 자체나 마음 분석·진단 표현은 검색어에서 제거한다.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ADEE59F5-E98E-4D40-B6CA-4643C0A0F8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5181600"/>
            <a:ext cx="4191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C9D4"/>
            </a:solidFill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ABFE6288-14F9-4B15-8852-3E6A42E684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5295900"/>
            <a:ext cx="10668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E4B5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57150" tIns="19050" rIns="571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75" b="1">
                <a:solidFill>
                  <a:srgbClr val="2B1830"/>
                </a:solidFill>
                <a:latin typeface="Noto Sans KR"/>
                <a:ea typeface="Noto Sans KR"/>
                <a:cs typeface="Noto Sans KR"/>
              </a:defRPr>
            </a:pPr>
            <a:r>
              <a:rPr sz="1275" b="1">
                <a:solidFill>
                  <a:srgbClr val="2B1830"/>
                </a:solidFill>
                <a:latin typeface="Noto Sans KR"/>
                <a:ea typeface="Noto Sans KR"/>
                <a:cs typeface="Noto Sans KR"/>
              </a:rPr>
              <a:t>후보 규칙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16927902-F8E9-4483-9C06-5747A7E30F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9800" y="5276850"/>
            <a:ext cx="2971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425" b="1">
                <a:solidFill>
                  <a:srgbClr val="7B43AA"/>
                </a:solidFill>
                <a:latin typeface="Noto Sans KR"/>
                <a:ea typeface="Noto Sans KR"/>
                <a:cs typeface="Noto Sans KR"/>
              </a:defRPr>
            </a:pPr>
            <a:r>
              <a:rPr sz="1425" b="1">
                <a:solidFill>
                  <a:srgbClr val="7B43AA"/>
                </a:solidFill>
                <a:latin typeface="Noto Sans KR"/>
                <a:ea typeface="Noto Sans KR"/>
                <a:cs typeface="Noto Sans KR"/>
              </a:rPr>
              <a:t>검색 결과보다 내용 직접 일치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807AC5B5-2AF7-4E99-BC03-7FD1CE10B2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5638800"/>
            <a:ext cx="4191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38" b="0">
                <a:solidFill>
                  <a:srgbClr val="2B1830"/>
                </a:solidFill>
                <a:latin typeface="Noto Sans KR"/>
                <a:ea typeface="Noto Sans KR"/>
                <a:cs typeface="Noto Sans KR"/>
              </a:defRPr>
            </a:pPr>
            <a:r>
              <a:rPr sz="1238" b="0">
                <a:solidFill>
                  <a:srgbClr val="2B1830"/>
                </a:solidFill>
                <a:latin typeface="Noto Sans KR"/>
                <a:ea typeface="Noto Sans KR"/>
                <a:cs typeface="Noto Sans KR"/>
              </a:rPr>
              <a:t>관심사·취미는 선택 주제 또는 직접 동의어가 제목이나 책 소개에서 확인되는 후보만 남긴다. 검색 결과에 함께 나왔다는 이유만으로 통과시키지 않는다.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FB432A9C-B7CA-4B97-B8AE-ED3FC31232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6419850"/>
            <a:ext cx="4191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183B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95250" tIns="57150" rIns="95250" bIns="57150" anchor="ctr">
            <a:normAutofit fontScale="77915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75" b="1">
                <a:solidFill>
                  <a:srgbClr val="FFF5EA"/>
                </a:solidFill>
                <a:latin typeface="Noto Sans KR"/>
                <a:ea typeface="Noto Sans KR"/>
                <a:cs typeface="Noto Sans KR"/>
              </a:defRPr>
            </a:pPr>
            <a:r>
              <a:rPr sz="1275" b="1">
                <a:solidFill>
                  <a:srgbClr val="FFF5EA"/>
                </a:solidFill>
                <a:latin typeface="Noto Sans KR"/>
                <a:ea typeface="Noto Sans KR"/>
                <a:cs typeface="Noto Sans KR"/>
              </a:rPr>
              <a:t>검색어는 AI가 설계하지만, 후보의 존재와 서지정보는 Kakao API가 확정한다</a:t>
            </a:r>
          </a:p>
        </p:txBody>
      </p:sp>
    </p:spTree>
    <p:extLst>
      <p:ext uri="{BB962C8B-B14F-4D97-AF65-F5344CB8AC3E}">
        <p14:creationId xmlns:p14="http://schemas.microsoft.com/office/powerpoint/2010/main" val="943239434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21102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D19C878C-CC2C-417C-9834-C25B76EE77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590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1">
                <a:solidFill>
                  <a:srgbClr val="F7B95B"/>
                </a:solidFill>
                <a:latin typeface="Noto Sans KR"/>
                <a:ea typeface="Noto Sans KR"/>
                <a:cs typeface="Noto Sans KR"/>
              </a:defRPr>
            </a:pPr>
            <a:r>
              <a:rPr sz="1350" b="1">
                <a:solidFill>
                  <a:srgbClr val="F7B95B"/>
                </a:solidFill>
                <a:latin typeface="Noto Sans KR"/>
                <a:ea typeface="Noto Sans KR"/>
                <a:cs typeface="Noto Sans KR"/>
              </a:rPr>
              <a:t>APPENDIX</a:t>
            </a:r>
            <a:r>
              <a:rPr sz="1350" b="1">
                <a:solidFill>
                  <a:srgbClr val="F7B95B"/>
                </a:solidFill>
                <a:latin typeface="Noto Sans KR"/>
                <a:ea typeface="Noto Sans KR"/>
                <a:cs typeface="Noto Sans KR"/>
              </a:rPr>
              <a:t> · AI 도서 추천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33A086D-78EB-45D4-9284-DBB630CD9C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23431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E5D6E1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10F1E5A-060E-4C34-ACE3-3039084C1D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0375" y="68580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5D6E1"/>
          </a:solidFill>
          <a:ln xmlns:a="http://schemas.openxmlformats.org/drawingml/2006/main" w="0">
            <a:solidFill>
              <a:srgbClr val="E5D6E1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C79A841-36A9-41D9-BDC8-97C138989F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95350"/>
            <a:ext cx="123444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98765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3375" b="1">
                <a:solidFill>
                  <a:srgbClr val="FFF5EA"/>
                </a:solidFill>
                <a:latin typeface="Noto Sans KR"/>
                <a:ea typeface="Noto Sans KR"/>
                <a:cs typeface="Noto Sans KR"/>
              </a:defRPr>
            </a:pPr>
            <a:r>
              <a:rPr sz="3375" b="1">
                <a:solidFill>
                  <a:srgbClr val="FFF5EA"/>
                </a:solidFill>
                <a:latin typeface="Noto Sans KR"/>
                <a:ea typeface="Noto Sans KR"/>
                <a:cs typeface="Noto Sans KR"/>
              </a:rPr>
              <a:t>후보 중 한 권은 어떤 기준으로 선택되는가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F1E27EE-B25E-4350-8CD6-DC0E137497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514475"/>
            <a:ext cx="122682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500" b="0">
                <a:solidFill>
                  <a:srgbClr val="BFAABD"/>
                </a:solidFill>
                <a:latin typeface="Noto Sans KR"/>
                <a:ea typeface="Noto Sans KR"/>
                <a:cs typeface="Noto Sans KR"/>
              </a:defRPr>
            </a:pPr>
            <a:r>
              <a:rPr sz="1500" b="0">
                <a:solidFill>
                  <a:srgbClr val="BFAABD"/>
                </a:solidFill>
                <a:latin typeface="Noto Sans KR"/>
                <a:ea typeface="Noto Sans KR"/>
                <a:cs typeface="Noto Sans KR"/>
              </a:rPr>
              <a:t>규칙 기반 후보 축소 뒤, AI가 테마 목적과 전체 서지정보를 비교해 candidate_id 하나를 선택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BD4AB6A-3F52-435B-AFFC-53B01C9F8E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38350"/>
            <a:ext cx="5905500" cy="5010150"/>
          </a:xfrm>
          <a:prstGeom xmlns:a="http://schemas.openxmlformats.org/drawingml/2006/main" prst="roundRect">
            <a:avLst>
              <a:gd name="adj" fmla="val 2281"/>
            </a:avLst>
          </a:prstGeom>
          <a:solidFill xmlns:a="http://schemas.openxmlformats.org/drawingml/2006/main">
            <a:srgbClr val="2A1432"/>
          </a:solidFill>
          <a:ln xmlns:a="http://schemas.openxmlformats.org/drawingml/2006/main" w="19050">
            <a:solidFill>
              <a:srgbClr val="F7B95B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5B59B9B-6933-4BEC-9E38-8CCB9D5746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171700"/>
            <a:ext cx="5486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725" b="1">
                <a:solidFill>
                  <a:srgbClr val="F7B95B"/>
                </a:solidFill>
                <a:latin typeface="Noto Sans KR"/>
                <a:ea typeface="Noto Sans KR"/>
                <a:cs typeface="Noto Sans KR"/>
              </a:defRPr>
            </a:pPr>
            <a:r>
              <a:rPr sz="1725" b="1">
                <a:solidFill>
                  <a:srgbClr val="F7B95B"/>
                </a:solidFill>
                <a:latin typeface="Noto Sans KR"/>
                <a:ea typeface="Noto Sans KR"/>
                <a:cs typeface="Noto Sans KR"/>
              </a:rPr>
              <a:t>규칙 기반 사전 랭킹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79D156F-FF14-454B-8381-0A5FF2E152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571750"/>
            <a:ext cx="5486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F7B95B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AFF08FE-80A7-4BFD-B3E4-41B96C4884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686050"/>
            <a:ext cx="11049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E4B5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75" b="1">
                <a:solidFill>
                  <a:srgbClr val="2B1830"/>
                </a:solidFill>
                <a:latin typeface="Noto Sans KR"/>
                <a:ea typeface="Noto Sans KR"/>
                <a:cs typeface="Noto Sans KR"/>
              </a:defRPr>
            </a:pPr>
            <a:r>
              <a:rPr sz="1275" b="1">
                <a:solidFill>
                  <a:srgbClr val="2B1830"/>
                </a:solidFill>
                <a:latin typeface="Noto Sans KR"/>
                <a:ea typeface="Noto Sans KR"/>
                <a:cs typeface="Noto Sans KR"/>
              </a:rPr>
              <a:t>검색 위치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AF445EC-CD71-45C0-8ECF-2ABBD97197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2667000"/>
            <a:ext cx="39243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38" b="0">
                <a:solidFill>
                  <a:srgbClr val="FFF5EA"/>
                </a:solidFill>
                <a:latin typeface="Noto Sans KR"/>
                <a:ea typeface="Noto Sans KR"/>
                <a:cs typeface="Noto Sans KR"/>
              </a:defRPr>
            </a:pPr>
            <a:r>
              <a:rPr sz="1238" b="0">
                <a:solidFill>
                  <a:srgbClr val="FFF5EA"/>
                </a:solidFill>
                <a:latin typeface="Noto Sans KR"/>
                <a:ea typeface="Noto Sans KR"/>
                <a:cs typeface="Noto Sans KR"/>
              </a:rPr>
              <a:t>먼저 설계된 검색어와 API 상위 결과일수록 기본점수 부여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81A5DB8-BF1C-4EDD-B7C5-3492F94031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238500"/>
            <a:ext cx="52006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684C45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513D428-7CF6-4A75-AEBA-8F8A749B04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429000"/>
            <a:ext cx="11049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E4B5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75" b="1">
                <a:solidFill>
                  <a:srgbClr val="2B1830"/>
                </a:solidFill>
                <a:latin typeface="Noto Sans KR"/>
                <a:ea typeface="Noto Sans KR"/>
                <a:cs typeface="Noto Sans KR"/>
              </a:defRPr>
            </a:pPr>
            <a:r>
              <a:rPr sz="1275" b="1">
                <a:solidFill>
                  <a:srgbClr val="2B1830"/>
                </a:solidFill>
                <a:latin typeface="Noto Sans KR"/>
                <a:ea typeface="Noto Sans KR"/>
                <a:cs typeface="Noto Sans KR"/>
              </a:rPr>
              <a:t>내용 일치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F6E65DB-578A-445A-91D1-F50A6CA380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3409950"/>
            <a:ext cx="39243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38" b="0">
                <a:solidFill>
                  <a:srgbClr val="FFF5EA"/>
                </a:solidFill>
                <a:latin typeface="Noto Sans KR"/>
                <a:ea typeface="Noto Sans KR"/>
                <a:cs typeface="Noto Sans KR"/>
              </a:defRPr>
            </a:pPr>
            <a:r>
              <a:rPr sz="1238" b="0">
                <a:solidFill>
                  <a:srgbClr val="FFF5EA"/>
                </a:solidFill>
                <a:latin typeface="Noto Sans KR"/>
                <a:ea typeface="Noto Sans KR"/>
                <a:cs typeface="Noto Sans KR"/>
              </a:rPr>
              <a:t>키워드가 제목(+9)·책 소개(+5)·저자/출판사(+1.5)에 나타나면 가산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B88D6E7-40DC-4DB2-9822-542B605366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981450"/>
            <a:ext cx="52006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684C45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532FE72-5CEC-42C7-A8C7-1B908B20B8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171950"/>
            <a:ext cx="11049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E4B5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75" b="1">
                <a:solidFill>
                  <a:srgbClr val="2B1830"/>
                </a:solidFill>
                <a:latin typeface="Noto Sans KR"/>
                <a:ea typeface="Noto Sans KR"/>
                <a:cs typeface="Noto Sans KR"/>
              </a:defRPr>
            </a:pPr>
            <a:r>
              <a:rPr sz="1275" b="1">
                <a:solidFill>
                  <a:srgbClr val="2B1830"/>
                </a:solidFill>
                <a:latin typeface="Noto Sans KR"/>
                <a:ea typeface="Noto Sans KR"/>
                <a:cs typeface="Noto Sans KR"/>
              </a:rPr>
              <a:t>서지 완결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778A9F8-5ADE-4AC7-A3E0-53A7D92558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4152900"/>
            <a:ext cx="39243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38" b="0">
                <a:solidFill>
                  <a:srgbClr val="FFF5EA"/>
                </a:solidFill>
                <a:latin typeface="Noto Sans KR"/>
                <a:ea typeface="Noto Sans KR"/>
                <a:cs typeface="Noto Sans KR"/>
              </a:defRPr>
            </a:pPr>
            <a:r>
              <a:rPr sz="1238" b="0">
                <a:solidFill>
                  <a:srgbClr val="FFF5EA"/>
                </a:solidFill>
                <a:latin typeface="Noto Sans KR"/>
                <a:ea typeface="Noto Sans KR"/>
                <a:cs typeface="Noto Sans KR"/>
              </a:rPr>
              <a:t>책 소개·ISBN·표지·정상 판매상태가 있으면 가산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8E0DF7F-4489-4F1E-8BB1-606B57BF53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724400"/>
            <a:ext cx="52006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684C45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141D683-597F-41ED-8B0B-1ABFCC6909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914900"/>
            <a:ext cx="11049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E4B5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75" b="1">
                <a:solidFill>
                  <a:srgbClr val="2B1830"/>
                </a:solidFill>
                <a:latin typeface="Noto Sans KR"/>
                <a:ea typeface="Noto Sans KR"/>
                <a:cs typeface="Noto Sans KR"/>
              </a:defRPr>
            </a:pPr>
            <a:r>
              <a:rPr sz="1275" b="1">
                <a:solidFill>
                  <a:srgbClr val="2B1830"/>
                </a:solidFill>
                <a:latin typeface="Noto Sans KR"/>
                <a:ea typeface="Noto Sans KR"/>
                <a:cs typeface="Noto Sans KR"/>
              </a:rPr>
              <a:t>출간 시점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74B5988-0D89-4760-8D35-29D694CE0B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4895850"/>
            <a:ext cx="39243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38" b="0">
                <a:solidFill>
                  <a:srgbClr val="FFF5EA"/>
                </a:solidFill>
                <a:latin typeface="Noto Sans KR"/>
                <a:ea typeface="Noto Sans KR"/>
                <a:cs typeface="Noto Sans KR"/>
              </a:defRPr>
            </a:pPr>
            <a:r>
              <a:rPr sz="1238" b="0">
                <a:solidFill>
                  <a:srgbClr val="FFF5EA"/>
                </a:solidFill>
                <a:latin typeface="Noto Sans KR"/>
                <a:ea typeface="Noto Sans KR"/>
                <a:cs typeface="Noto Sans KR"/>
              </a:rPr>
              <a:t>최근 출간 도서에 소폭 가산하되 최신성만으로 선택하지 않음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683299E-A0BA-4A7C-A6E9-10156F88F5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5467350"/>
            <a:ext cx="52006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684C45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FFF7E88-ABF0-4A65-906F-4C9687FA1B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5657850"/>
            <a:ext cx="11049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E4B5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75" b="1">
                <a:solidFill>
                  <a:srgbClr val="2B1830"/>
                </a:solidFill>
                <a:latin typeface="Noto Sans KR"/>
                <a:ea typeface="Noto Sans KR"/>
                <a:cs typeface="Noto Sans KR"/>
              </a:defRPr>
            </a:pPr>
            <a:r>
              <a:rPr sz="1275" b="1">
                <a:solidFill>
                  <a:srgbClr val="2B1830"/>
                </a:solidFill>
                <a:latin typeface="Noto Sans KR"/>
                <a:ea typeface="Noto Sans KR"/>
                <a:cs typeface="Noto Sans KR"/>
              </a:rPr>
              <a:t>제외 조건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56DE69B-8916-44B4-90B3-9E37AFAB9B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5638800"/>
            <a:ext cx="39243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38" b="0">
                <a:solidFill>
                  <a:srgbClr val="FFF5EA"/>
                </a:solidFill>
                <a:latin typeface="Noto Sans KR"/>
                <a:ea typeface="Noto Sans KR"/>
                <a:cs typeface="Noto Sans KR"/>
              </a:defRPr>
            </a:pPr>
            <a:r>
              <a:rPr sz="1238" b="0">
                <a:solidFill>
                  <a:srgbClr val="FFF5EA"/>
                </a:solidFill>
                <a:latin typeface="Noto Sans KR"/>
                <a:ea typeface="Noto Sans KR"/>
                <a:cs typeface="Noto Sans KR"/>
              </a:rPr>
              <a:t>유해 가능성, 비도서/문제집 마커, 최근 추천 ISBN, 관심사·취미 직접 불일치 제거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48BE333-2D77-481B-B835-3403A5BC44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6457950"/>
            <a:ext cx="52006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E4B5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75" b="1">
                <a:solidFill>
                  <a:srgbClr val="2B1830"/>
                </a:solidFill>
                <a:latin typeface="Noto Sans KR"/>
                <a:ea typeface="Noto Sans KR"/>
                <a:cs typeface="Noto Sans KR"/>
              </a:defRPr>
            </a:pPr>
            <a:r>
              <a:rPr sz="1275" b="1">
                <a:solidFill>
                  <a:srgbClr val="2B1830"/>
                </a:solidFill>
                <a:latin typeface="Noto Sans KR"/>
                <a:ea typeface="Noto Sans KR"/>
                <a:cs typeface="Noto Sans KR"/>
              </a:rPr>
              <a:t>결과: 규칙을 통과한 개인화 상위 후보 최대 8권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991BE5D-8650-4D6C-89C7-DDEDCE5F76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2038350"/>
            <a:ext cx="6172200" cy="5010150"/>
          </a:xfrm>
          <a:prstGeom xmlns:a="http://schemas.openxmlformats.org/drawingml/2006/main" prst="roundRect">
            <a:avLst>
              <a:gd name="adj" fmla="val 2281"/>
            </a:avLst>
          </a:prstGeom>
          <a:solidFill xmlns:a="http://schemas.openxmlformats.org/drawingml/2006/main">
            <a:srgbClr val="2A1432"/>
          </a:solidFill>
          <a:ln xmlns:a="http://schemas.openxmlformats.org/drawingml/2006/main" w="19050">
            <a:solidFill>
              <a:srgbClr val="F7B95B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7AD4C8F-8B6C-4BB7-90B7-FA3CF8E008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2171700"/>
            <a:ext cx="57531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725" b="1">
                <a:solidFill>
                  <a:srgbClr val="F7B95B"/>
                </a:solidFill>
                <a:latin typeface="Noto Sans KR"/>
                <a:ea typeface="Noto Sans KR"/>
                <a:cs typeface="Noto Sans KR"/>
              </a:defRPr>
            </a:pPr>
            <a:r>
              <a:rPr sz="1725" b="1">
                <a:solidFill>
                  <a:srgbClr val="F7B95B"/>
                </a:solidFill>
                <a:latin typeface="Noto Sans KR"/>
                <a:ea typeface="Noto Sans KR"/>
                <a:cs typeface="Noto Sans KR"/>
              </a:rPr>
              <a:t>AI 최종 선택과 설명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FEFC841-6DD8-4758-9CA5-E207135894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2571750"/>
            <a:ext cx="5753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F7B95B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AACFC0D-9A70-45AF-8135-40B468999F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2686050"/>
            <a:ext cx="11811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E4B5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75" b="1">
                <a:solidFill>
                  <a:srgbClr val="2B1830"/>
                </a:solidFill>
                <a:latin typeface="Noto Sans KR"/>
                <a:ea typeface="Noto Sans KR"/>
                <a:cs typeface="Noto Sans KR"/>
              </a:defRPr>
            </a:pPr>
            <a:r>
              <a:rPr sz="1275" b="1">
                <a:solidFill>
                  <a:srgbClr val="2B1830"/>
                </a:solidFill>
                <a:latin typeface="Noto Sans KR"/>
                <a:ea typeface="Noto Sans KR"/>
                <a:cs typeface="Noto Sans KR"/>
              </a:rPr>
              <a:t>비교 정보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D8B2D1F-ADFE-4C35-AF92-EACEDFD4F2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2647950"/>
            <a:ext cx="41719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38" b="0">
                <a:solidFill>
                  <a:srgbClr val="FFF5EA"/>
                </a:solidFill>
                <a:latin typeface="Noto Sans KR"/>
                <a:ea typeface="Noto Sans KR"/>
                <a:cs typeface="Noto Sans KR"/>
              </a:defRPr>
            </a:pPr>
            <a:r>
              <a:rPr sz="1238" b="0">
                <a:solidFill>
                  <a:srgbClr val="FFF5EA"/>
                </a:solidFill>
                <a:latin typeface="Noto Sans KR"/>
                <a:ea typeface="Noto Sans KR"/>
                <a:cs typeface="Noto Sans KR"/>
              </a:rPr>
              <a:t>책 소개 · 저자/번역자 · 출판사 · 출간일 · 판매상태 · ISBN · 일치 검색어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BE6FE83-0C6C-416E-A50B-3E53108B50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3295650"/>
            <a:ext cx="5562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F7B95B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5B29FBB7-707B-46F6-AA5C-5D9FCAFEBF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3562350"/>
            <a:ext cx="7048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F7B95B"/>
          </a:solidFill>
          <a:ln xmlns:a="http://schemas.openxmlformats.org/drawingml/2006/main" w="0">
            <a:solidFill>
              <a:srgbClr val="F7B95B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039767BF-4A8D-4EF2-A758-C7BC6D7DB1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3562350"/>
            <a:ext cx="7048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75" b="1">
                <a:solidFill>
                  <a:srgbClr val="2B1830"/>
                </a:solidFill>
                <a:latin typeface="Noto Sans KR"/>
                <a:ea typeface="Noto Sans KR"/>
                <a:cs typeface="Noto Sans KR"/>
              </a:defRPr>
            </a:pPr>
            <a:r>
              <a:rPr sz="1275" b="1">
                <a:solidFill>
                  <a:srgbClr val="2B1830"/>
                </a:solidFill>
                <a:latin typeface="Noto Sans KR"/>
                <a:ea typeface="Noto Sans KR"/>
                <a:cs typeface="Noto Sans KR"/>
              </a:rPr>
              <a:t>감정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E53D18F4-3EA2-4A26-8874-F49F4CB66F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3524250"/>
            <a:ext cx="46291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38" b="0">
                <a:solidFill>
                  <a:srgbClr val="FFF5EA"/>
                </a:solidFill>
                <a:latin typeface="Noto Sans KR"/>
                <a:ea typeface="Noto Sans KR"/>
                <a:cs typeface="Noto Sans KR"/>
              </a:defRPr>
            </a:pPr>
            <a:r>
              <a:rPr sz="1238" b="0">
                <a:solidFill>
                  <a:srgbClr val="FFF5EA"/>
                </a:solidFill>
                <a:latin typeface="Noto Sans KR"/>
                <a:ea typeface="Noto Sans KR"/>
                <a:cs typeface="Noto Sans KR"/>
              </a:rPr>
              <a:t>긍정 감정은 몰입·유지, 무거운 감정은 환기·숨 고르기에 맞는 독서 경험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A5D2E38C-4A00-434C-A2BD-56E7D7EC64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4343400"/>
            <a:ext cx="7048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F7B95B"/>
          </a:solidFill>
          <a:ln xmlns:a="http://schemas.openxmlformats.org/drawingml/2006/main" w="0">
            <a:solidFill>
              <a:srgbClr val="F7B95B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F17A8D56-46B0-46E9-B94E-F07076C330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4343400"/>
            <a:ext cx="7048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75" b="1">
                <a:solidFill>
                  <a:srgbClr val="2B1830"/>
                </a:solidFill>
                <a:latin typeface="Noto Sans KR"/>
                <a:ea typeface="Noto Sans KR"/>
                <a:cs typeface="Noto Sans KR"/>
              </a:defRPr>
            </a:pPr>
            <a:r>
              <a:rPr sz="1275" b="1">
                <a:solidFill>
                  <a:srgbClr val="2B1830"/>
                </a:solidFill>
                <a:latin typeface="Noto Sans KR"/>
                <a:ea typeface="Noto Sans KR"/>
                <a:cs typeface="Noto Sans KR"/>
              </a:rPr>
              <a:t>관심사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85B77A9A-699D-47C9-89BF-DAF20C86F5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4305300"/>
            <a:ext cx="46291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38" b="0">
                <a:solidFill>
                  <a:srgbClr val="FFF5EA"/>
                </a:solidFill>
                <a:latin typeface="Noto Sans KR"/>
                <a:ea typeface="Noto Sans KR"/>
                <a:cs typeface="Noto Sans KR"/>
              </a:defRPr>
            </a:pPr>
            <a:r>
              <a:rPr sz="1238" b="0">
                <a:solidFill>
                  <a:srgbClr val="FFF5EA"/>
                </a:solidFill>
                <a:latin typeface="Noto Sans KR"/>
                <a:ea typeface="Noto Sans KR"/>
                <a:cs typeface="Noto Sans KR"/>
              </a:rPr>
              <a:t>선택한 관심사를 책의 중심 주제로 실제 다루며 지식·감상을 확장하는 책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2F49C03C-0E00-4A36-B8D0-39A4578E93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5124450"/>
            <a:ext cx="7048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F7B95B"/>
          </a:solidFill>
          <a:ln xmlns:a="http://schemas.openxmlformats.org/drawingml/2006/main" w="0">
            <a:solidFill>
              <a:srgbClr val="F7B95B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0ED6E9D1-D53B-422D-8554-55C7A3B50E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5124450"/>
            <a:ext cx="7048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75" b="1">
                <a:solidFill>
                  <a:srgbClr val="2B1830"/>
                </a:solidFill>
                <a:latin typeface="Noto Sans KR"/>
                <a:ea typeface="Noto Sans KR"/>
                <a:cs typeface="Noto Sans KR"/>
              </a:defRPr>
            </a:pPr>
            <a:r>
              <a:rPr sz="1275" b="1">
                <a:solidFill>
                  <a:srgbClr val="2B1830"/>
                </a:solidFill>
                <a:latin typeface="Noto Sans KR"/>
                <a:ea typeface="Noto Sans KR"/>
                <a:cs typeface="Noto Sans KR"/>
              </a:rPr>
              <a:t>취미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1CCCEA44-C38E-475F-9C35-ADF2A584B5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5086350"/>
            <a:ext cx="46291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38" b="0">
                <a:solidFill>
                  <a:srgbClr val="FFF5EA"/>
                </a:solidFill>
                <a:latin typeface="Noto Sans KR"/>
                <a:ea typeface="Noto Sans KR"/>
                <a:cs typeface="Noto Sans KR"/>
              </a:defRPr>
            </a:pPr>
            <a:r>
              <a:rPr sz="1238" b="0">
                <a:solidFill>
                  <a:srgbClr val="FFF5EA"/>
                </a:solidFill>
                <a:latin typeface="Noto Sans KR"/>
                <a:ea typeface="Noto Sans KR"/>
                <a:cs typeface="Noto Sans KR"/>
              </a:rPr>
              <a:t>방법·기술·도구·작품 감상·문화·역사처럼 취미 활동에 직접 도움이 되는 책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D65E64B8-B0F4-48D1-852D-249FDBD4DA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5924550"/>
            <a:ext cx="5562600" cy="800100"/>
          </a:xfrm>
          <a:prstGeom xmlns:a="http://schemas.openxmlformats.org/drawingml/2006/main" prst="roundRect">
            <a:avLst>
              <a:gd name="adj" fmla="val 9524"/>
            </a:avLst>
          </a:prstGeom>
          <a:solidFill xmlns:a="http://schemas.openxmlformats.org/drawingml/2006/main">
            <a:srgbClr val="FFF5EA"/>
          </a:solidFill>
          <a:ln xmlns:a="http://schemas.openxmlformats.org/drawingml/2006/main" w="14288">
            <a:solidFill>
              <a:srgbClr val="F7B95B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A4D1818B-60AF-4E3B-9976-4821EAF637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6057900"/>
            <a:ext cx="9715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75" b="1">
                <a:solidFill>
                  <a:srgbClr val="2B1830"/>
                </a:solidFill>
                <a:latin typeface="Noto Sans KR"/>
                <a:ea typeface="Noto Sans KR"/>
                <a:cs typeface="Noto Sans KR"/>
              </a:defRPr>
            </a:pPr>
            <a:r>
              <a:rPr sz="1275" b="1">
                <a:solidFill>
                  <a:srgbClr val="2B1830"/>
                </a:solidFill>
                <a:latin typeface="Noto Sans KR"/>
                <a:ea typeface="Noto Sans KR"/>
                <a:cs typeface="Noto Sans KR"/>
              </a:rPr>
              <a:t>선택 제한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AB334234-5BAB-4BC5-8DA1-F23A41C9F6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6000750"/>
            <a:ext cx="40195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9348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200" b="0">
                <a:solidFill>
                  <a:srgbClr val="2B1830"/>
                </a:solidFill>
                <a:latin typeface="Noto Sans KR"/>
                <a:ea typeface="Noto Sans KR"/>
                <a:cs typeface="Noto Sans KR"/>
              </a:defRPr>
            </a:pPr>
            <a:r>
              <a:rPr sz="1200" b="0">
                <a:solidFill>
                  <a:srgbClr val="2B1830"/>
                </a:solidFill>
                <a:latin typeface="Noto Sans KR"/>
                <a:ea typeface="Noto Sans KR"/>
                <a:cs typeface="Noto Sans KR"/>
              </a:rPr>
              <a:t>AI는 제공된 candidate_id 중 1개만 반환한다.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200" b="0">
                <a:solidFill>
                  <a:srgbClr val="2B1830"/>
                </a:solidFill>
                <a:latin typeface="Noto Sans KR"/>
                <a:ea typeface="Noto Sans KR"/>
                <a:cs typeface="Noto Sans KR"/>
              </a:defRPr>
            </a:pPr>
            <a:r>
              <a:rPr sz="1200" b="0">
                <a:solidFill>
                  <a:srgbClr val="2B1830"/>
                </a:solidFill>
                <a:latin typeface="Noto Sans KR"/>
                <a:ea typeface="Noto Sans KR"/>
                <a:cs typeface="Noto Sans KR"/>
              </a:rPr>
              <a:t>선택 후 실제 책 소개로 3~4문장 추천 서평을 만들고 일일 스냅샷으로 저장한다.</a:t>
            </a:r>
          </a:p>
        </p:txBody>
      </p:sp>
    </p:spTree>
    <p:extLst>
      <p:ext uri="{BB962C8B-B14F-4D97-AF65-F5344CB8AC3E}">
        <p14:creationId xmlns:p14="http://schemas.microsoft.com/office/powerpoint/2010/main" val="1951876885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21102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3E83D9CE-9028-4576-BCFA-BD9E9A011A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590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1">
                <a:solidFill>
                  <a:srgbClr val="65C8D9"/>
                </a:solidFill>
                <a:latin typeface="Noto Sans KR"/>
                <a:ea typeface="Noto Sans KR"/>
                <a:cs typeface="Noto Sans KR"/>
              </a:defRPr>
            </a:pPr>
            <a:r>
              <a:rPr sz="1350" b="1">
                <a:solidFill>
                  <a:srgbClr val="65C8D9"/>
                </a:solidFill>
                <a:latin typeface="Noto Sans KR"/>
                <a:ea typeface="Noto Sans KR"/>
                <a:cs typeface="Noto Sans KR"/>
              </a:rPr>
              <a:t>APPENDIX</a:t>
            </a:r>
            <a:r>
              <a:rPr sz="1350" b="1">
                <a:solidFill>
                  <a:srgbClr val="65C8D9"/>
                </a:solidFill>
                <a:latin typeface="Noto Sans KR"/>
                <a:ea typeface="Noto Sans KR"/>
                <a:cs typeface="Noto Sans KR"/>
              </a:rPr>
              <a:t> · 날씨 분석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51B811A-5FE8-452A-857C-437C1F898B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23431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E5D6E1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70810B1-2443-42A8-AA34-7C4E64E20B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0375" y="68580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5D6E1"/>
          </a:solidFill>
          <a:ln xmlns:a="http://schemas.openxmlformats.org/drawingml/2006/main" w="0">
            <a:solidFill>
              <a:srgbClr val="E5D6E1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69EA7F3-57C1-4565-847C-22112EBB79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95350"/>
            <a:ext cx="123444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98765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3375" b="1">
                <a:solidFill>
                  <a:srgbClr val="FFF5EA"/>
                </a:solidFill>
                <a:latin typeface="Noto Sans KR"/>
                <a:ea typeface="Noto Sans KR"/>
                <a:cs typeface="Noto Sans KR"/>
              </a:defRPr>
            </a:pPr>
            <a:r>
              <a:rPr sz="3375" b="1">
                <a:solidFill>
                  <a:srgbClr val="FFF5EA"/>
                </a:solidFill>
                <a:latin typeface="Noto Sans KR"/>
                <a:ea typeface="Noto Sans KR"/>
                <a:cs typeface="Noto Sans KR"/>
              </a:rPr>
              <a:t>기상 정보를 오늘의 행동으로 바꾸기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1CED487-0B0B-47D3-9B02-7AAC1EC4D2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514475"/>
            <a:ext cx="122682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500" b="0">
                <a:solidFill>
                  <a:srgbClr val="BFAABD"/>
                </a:solidFill>
                <a:latin typeface="Noto Sans KR"/>
                <a:ea typeface="Noto Sans KR"/>
                <a:cs typeface="Noto Sans KR"/>
              </a:defRPr>
            </a:pPr>
            <a:r>
              <a:rPr sz="1500" b="0">
                <a:solidFill>
                  <a:srgbClr val="BFAABD"/>
                </a:solidFill>
                <a:latin typeface="Noto Sans KR"/>
                <a:ea typeface="Noto Sans KR"/>
                <a:cs typeface="Noto Sans KR"/>
              </a:rPr>
              <a:t>복잡한 관측·예보 값을 위치와 취미 맥락에 맞는 생활 판단으로 번역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B72AAF4-BC9C-4B72-ACB9-A9FF35C119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38350"/>
            <a:ext cx="7429500" cy="5010150"/>
          </a:xfrm>
          <a:prstGeom xmlns:a="http://schemas.openxmlformats.org/drawingml/2006/main" prst="roundRect">
            <a:avLst>
              <a:gd name="adj" fmla="val 2281"/>
            </a:avLst>
          </a:prstGeom>
          <a:solidFill xmlns:a="http://schemas.openxmlformats.org/drawingml/2006/main">
            <a:srgbClr val="2A1432"/>
          </a:solidFill>
          <a:ln xmlns:a="http://schemas.openxmlformats.org/drawingml/2006/main" w="19050">
            <a:solidFill>
              <a:srgbClr val="65C8D9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EC7A1EF-B601-4B58-888C-6BE9C1062D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171700"/>
            <a:ext cx="7010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725" b="1">
                <a:solidFill>
                  <a:srgbClr val="65C8D9"/>
                </a:solidFill>
                <a:latin typeface="Noto Sans KR"/>
                <a:ea typeface="Noto Sans KR"/>
                <a:cs typeface="Noto Sans KR"/>
              </a:defRPr>
            </a:pPr>
            <a:r>
              <a:rPr sz="1725" b="1">
                <a:solidFill>
                  <a:srgbClr val="65C8D9"/>
                </a:solidFill>
                <a:latin typeface="Noto Sans KR"/>
                <a:ea typeface="Noto Sans KR"/>
                <a:cs typeface="Noto Sans KR"/>
              </a:rPr>
              <a:t>서비스 안에서의 역할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25E1B84-960B-46E1-B639-EA60F2116D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571750"/>
            <a:ext cx="701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65C8D9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81BD179-6CCA-489B-B57E-60B561A32F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857500"/>
            <a:ext cx="1981200" cy="142875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FF5EA"/>
          </a:solidFill>
          <a:ln xmlns:a="http://schemas.openxmlformats.org/drawingml/2006/main" w="17145">
            <a:solidFill>
              <a:srgbClr val="65C8D9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60A81BF-CCC2-4924-BF7B-FB4CA34517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028950"/>
            <a:ext cx="1638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500" b="1">
                <a:solidFill>
                  <a:srgbClr val="2B1830"/>
                </a:solidFill>
                <a:latin typeface="Noto Sans KR"/>
                <a:ea typeface="Noto Sans KR"/>
                <a:cs typeface="Noto Sans KR"/>
              </a:defRPr>
            </a:pPr>
            <a:r>
              <a:rPr sz="1500" b="1">
                <a:solidFill>
                  <a:srgbClr val="2B1830"/>
                </a:solidFill>
                <a:latin typeface="Noto Sans KR"/>
                <a:ea typeface="Noto Sans KR"/>
                <a:cs typeface="Noto Sans KR"/>
              </a:rPr>
              <a:t>공공 데이터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0701D69-6003-4AD0-BB35-D3C966E280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448050"/>
            <a:ext cx="16383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0">
                <a:solidFill>
                  <a:srgbClr val="2B1830"/>
                </a:solidFill>
                <a:latin typeface="Noto Sans KR"/>
                <a:ea typeface="Noto Sans KR"/>
                <a:cs typeface="Noto Sans KR"/>
              </a:defRPr>
            </a:pPr>
            <a:r>
              <a:rPr sz="1200" b="0">
                <a:solidFill>
                  <a:srgbClr val="2B1830"/>
                </a:solidFill>
                <a:latin typeface="Noto Sans KR"/>
                <a:ea typeface="Noto Sans KR"/>
                <a:cs typeface="Noto Sans KR"/>
              </a:rPr>
              <a:t>기상청 관측·예보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200" b="0">
                <a:solidFill>
                  <a:srgbClr val="2B1830"/>
                </a:solidFill>
                <a:latin typeface="Noto Sans KR"/>
                <a:ea typeface="Noto Sans KR"/>
                <a:cs typeface="Noto Sans KR"/>
              </a:defRPr>
            </a:pPr>
            <a:r>
              <a:rPr sz="1200" b="0">
                <a:solidFill>
                  <a:srgbClr val="2B1830"/>
                </a:solidFill>
                <a:latin typeface="Noto Sans KR"/>
                <a:ea typeface="Noto Sans KR"/>
                <a:cs typeface="Noto Sans KR"/>
              </a:rPr>
              <a:t>특보 · 자외선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100FDA5-B19A-4C24-82F5-0365F89511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3371850"/>
            <a:ext cx="247650" cy="3429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65C8D9"/>
          </a:solidFill>
          <a:ln xmlns:a="http://schemas.openxmlformats.org/drawingml/2006/main" w="0">
            <a:solidFill>
              <a:srgbClr val="65C8D9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8B1D3BF-98B5-40C8-80F7-FE0E0DF281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2857500"/>
            <a:ext cx="1981200" cy="142875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D2F2F5"/>
          </a:solidFill>
          <a:ln xmlns:a="http://schemas.openxmlformats.org/drawingml/2006/main" w="17145">
            <a:solidFill>
              <a:srgbClr val="65C8D9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000E65C-2B60-4052-8784-6964BCADAA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3028950"/>
            <a:ext cx="1638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500" b="1">
                <a:solidFill>
                  <a:srgbClr val="2B1830"/>
                </a:solidFill>
                <a:latin typeface="Noto Sans KR"/>
                <a:ea typeface="Noto Sans KR"/>
                <a:cs typeface="Noto Sans KR"/>
              </a:defRPr>
            </a:pPr>
            <a:r>
              <a:rPr sz="1500" b="1">
                <a:solidFill>
                  <a:srgbClr val="2B1830"/>
                </a:solidFill>
                <a:latin typeface="Noto Sans KR"/>
                <a:ea typeface="Noto Sans KR"/>
                <a:cs typeface="Noto Sans KR"/>
              </a:rPr>
              <a:t>생활 해석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5559259-BCBA-4442-B561-CBCA4E1357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3448050"/>
            <a:ext cx="16383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0">
                <a:solidFill>
                  <a:srgbClr val="2B1830"/>
                </a:solidFill>
                <a:latin typeface="Noto Sans KR"/>
                <a:ea typeface="Noto Sans KR"/>
                <a:cs typeface="Noto Sans KR"/>
              </a:defRPr>
            </a:pPr>
            <a:r>
              <a:rPr sz="1200" b="0">
                <a:solidFill>
                  <a:srgbClr val="2B1830"/>
                </a:solidFill>
                <a:latin typeface="Noto Sans KR"/>
                <a:ea typeface="Noto Sans KR"/>
                <a:cs typeface="Noto Sans KR"/>
              </a:rPr>
              <a:t>서버 지수 계산과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200" b="0">
                <a:solidFill>
                  <a:srgbClr val="2B1830"/>
                </a:solidFill>
                <a:latin typeface="Noto Sans KR"/>
                <a:ea typeface="Noto Sans KR"/>
                <a:cs typeface="Noto Sans KR"/>
              </a:defRPr>
            </a:pPr>
            <a:r>
              <a:rPr sz="1200" b="0">
                <a:solidFill>
                  <a:srgbClr val="2B1830"/>
                </a:solidFill>
                <a:latin typeface="Noto Sans KR"/>
                <a:ea typeface="Noto Sans KR"/>
                <a:cs typeface="Noto Sans KR"/>
              </a:rPr>
              <a:t>최신 외출 맥락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B52861A-7C55-4E2B-9F2F-C7AEE06936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2100" y="3371850"/>
            <a:ext cx="247650" cy="3429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65C8D9"/>
          </a:solidFill>
          <a:ln xmlns:a="http://schemas.openxmlformats.org/drawingml/2006/main" w="0">
            <a:solidFill>
              <a:srgbClr val="65C8D9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0DCA767-6298-49B7-90FD-5AFAC70D45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2857500"/>
            <a:ext cx="1981200" cy="142875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FF5EA"/>
          </a:solidFill>
          <a:ln xmlns:a="http://schemas.openxmlformats.org/drawingml/2006/main" w="17145">
            <a:solidFill>
              <a:srgbClr val="65C8D9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C8188AA-BD28-410E-96C0-C3DFE0CDFF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48350" y="3028950"/>
            <a:ext cx="1638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500" b="1">
                <a:solidFill>
                  <a:srgbClr val="2B1830"/>
                </a:solidFill>
                <a:latin typeface="Noto Sans KR"/>
                <a:ea typeface="Noto Sans KR"/>
                <a:cs typeface="Noto Sans KR"/>
              </a:defRPr>
            </a:pPr>
            <a:r>
              <a:rPr sz="1500" b="1">
                <a:solidFill>
                  <a:srgbClr val="2B1830"/>
                </a:solidFill>
                <a:latin typeface="Noto Sans KR"/>
                <a:ea typeface="Noto Sans KR"/>
                <a:cs typeface="Noto Sans KR"/>
              </a:rPr>
              <a:t>행동 제안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A8F2B4C-C383-46A1-8351-74B4F56333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48350" y="3448050"/>
            <a:ext cx="16383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0">
                <a:solidFill>
                  <a:srgbClr val="2B1830"/>
                </a:solidFill>
                <a:latin typeface="Noto Sans KR"/>
                <a:ea typeface="Noto Sans KR"/>
                <a:cs typeface="Noto Sans KR"/>
              </a:defRPr>
            </a:pPr>
            <a:r>
              <a:rPr sz="1200" b="0">
                <a:solidFill>
                  <a:srgbClr val="2B1830"/>
                </a:solidFill>
                <a:latin typeface="Noto Sans KR"/>
                <a:ea typeface="Noto Sans KR"/>
                <a:cs typeface="Noto Sans KR"/>
              </a:rPr>
              <a:t>일상 행동 2개와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200" b="0">
                <a:solidFill>
                  <a:srgbClr val="2B1830"/>
                </a:solidFill>
                <a:latin typeface="Noto Sans KR"/>
                <a:ea typeface="Noto Sans KR"/>
                <a:cs typeface="Noto Sans KR"/>
              </a:defRPr>
            </a:pPr>
            <a:r>
              <a:rPr sz="1200" b="0">
                <a:solidFill>
                  <a:srgbClr val="2B1830"/>
                </a:solidFill>
                <a:latin typeface="Noto Sans KR"/>
                <a:ea typeface="Noto Sans KR"/>
                <a:cs typeface="Noto Sans KR"/>
              </a:rPr>
              <a:t>취미 특화 팁 1개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503DE89-2C5D-4055-B8B5-6026D2D3E3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686300"/>
            <a:ext cx="12001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2F2F5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75" b="1">
                <a:solidFill>
                  <a:srgbClr val="2B1830"/>
                </a:solidFill>
                <a:latin typeface="Noto Sans KR"/>
                <a:ea typeface="Noto Sans KR"/>
                <a:cs typeface="Noto Sans KR"/>
              </a:defRPr>
            </a:pPr>
            <a:r>
              <a:rPr sz="1275" b="1">
                <a:solidFill>
                  <a:srgbClr val="2B1830"/>
                </a:solidFill>
                <a:latin typeface="Noto Sans KR"/>
                <a:ea typeface="Noto Sans KR"/>
                <a:cs typeface="Noto Sans KR"/>
              </a:rPr>
              <a:t>서비스 효과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68CFB8B-F7F9-47CE-AA83-89F3F09A9C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4629150"/>
            <a:ext cx="53149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500" b="1">
                <a:solidFill>
                  <a:srgbClr val="FFF5EA"/>
                </a:solidFill>
                <a:latin typeface="Noto Sans KR"/>
                <a:ea typeface="Noto Sans KR"/>
                <a:cs typeface="Noto Sans KR"/>
              </a:defRPr>
            </a:pPr>
            <a:r>
              <a:rPr sz="1500" b="1">
                <a:solidFill>
                  <a:srgbClr val="FFF5EA"/>
                </a:solidFill>
                <a:latin typeface="Noto Sans KR"/>
                <a:ea typeface="Noto Sans KR"/>
                <a:cs typeface="Noto Sans KR"/>
              </a:rPr>
              <a:t>날씨 확인을 ‘정보 조회’에서 ‘오늘의 준비와 활동 선택’으로 확장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9FD9049-CB1B-4DB5-8076-10EF412969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5181600"/>
            <a:ext cx="6667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65C8D9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5962754-B27E-457C-8BA9-27F8A0AF37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5410200"/>
            <a:ext cx="12001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2F2F5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75" b="1">
                <a:solidFill>
                  <a:srgbClr val="2B1830"/>
                </a:solidFill>
                <a:latin typeface="Noto Sans KR"/>
                <a:ea typeface="Noto Sans KR"/>
                <a:cs typeface="Noto Sans KR"/>
              </a:defRPr>
            </a:pPr>
            <a:r>
              <a:rPr sz="1275" b="1">
                <a:solidFill>
                  <a:srgbClr val="2B1830"/>
                </a:solidFill>
                <a:latin typeface="Noto Sans KR"/>
                <a:ea typeface="Noto Sans KR"/>
                <a:cs typeface="Noto Sans KR"/>
              </a:rPr>
              <a:t>기능의 위치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76D8CB3-BCD5-4017-BF1B-A31243DC03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5353050"/>
            <a:ext cx="53149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350" b="0">
                <a:solidFill>
                  <a:srgbClr val="FFF5EA"/>
                </a:solidFill>
                <a:latin typeface="Noto Sans KR"/>
                <a:ea typeface="Noto Sans KR"/>
                <a:cs typeface="Noto Sans KR"/>
              </a:defRPr>
            </a:pPr>
            <a:r>
              <a:rPr sz="1350" b="0">
                <a:solidFill>
                  <a:srgbClr val="FFF5EA"/>
                </a:solidFill>
                <a:latin typeface="Noto Sans KR"/>
                <a:ea typeface="Noto Sans KR"/>
                <a:cs typeface="Noto Sans KR"/>
              </a:rPr>
              <a:t>마이페이지 생활 추천에서 현재 상황과 취미를 연결한다. 감정은 행동 제안의 보조 맥락이며 기상 사실에는 영향을 주지 않는다.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B2BBE5A-B82A-45F8-965F-A074F6260C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2038350"/>
            <a:ext cx="4648200" cy="5010150"/>
          </a:xfrm>
          <a:prstGeom xmlns:a="http://schemas.openxmlformats.org/drawingml/2006/main" prst="roundRect">
            <a:avLst>
              <a:gd name="adj" fmla="val 2459"/>
            </a:avLst>
          </a:prstGeom>
          <a:solidFill xmlns:a="http://schemas.openxmlformats.org/drawingml/2006/main">
            <a:srgbClr val="FFF5EA"/>
          </a:solidFill>
          <a:ln xmlns:a="http://schemas.openxmlformats.org/drawingml/2006/main" w="19050">
            <a:solidFill>
              <a:srgbClr val="65C8D9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236F579-7676-491F-A0BD-1BC8C6D75F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2209800"/>
            <a:ext cx="4191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75" b="1">
                <a:solidFill>
                  <a:srgbClr val="2B1830"/>
                </a:solidFill>
                <a:latin typeface="Noto Sans KR"/>
                <a:ea typeface="Noto Sans KR"/>
                <a:cs typeface="Noto Sans KR"/>
              </a:defRPr>
            </a:pPr>
            <a:r>
              <a:rPr sz="1875" b="1">
                <a:solidFill>
                  <a:srgbClr val="2B1830"/>
                </a:solidFill>
                <a:latin typeface="Noto Sans KR"/>
                <a:ea typeface="Noto Sans KR"/>
                <a:cs typeface="Noto Sans KR"/>
              </a:rPr>
              <a:t>AI 적용과 설계 근거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08E6309-674D-4C37-AD6E-CF205A2833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2628900"/>
            <a:ext cx="4191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65C8D9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F39BF742-0854-4160-976B-0E70371092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2781300"/>
            <a:ext cx="10668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2F2F5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57150" tIns="19050" rIns="571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75" b="1">
                <a:solidFill>
                  <a:srgbClr val="2B1830"/>
                </a:solidFill>
                <a:latin typeface="Noto Sans KR"/>
                <a:ea typeface="Noto Sans KR"/>
                <a:cs typeface="Noto Sans KR"/>
              </a:defRPr>
            </a:pPr>
            <a:r>
              <a:rPr sz="1275" b="1">
                <a:solidFill>
                  <a:srgbClr val="2B1830"/>
                </a:solidFill>
                <a:latin typeface="Noto Sans KR"/>
                <a:ea typeface="Noto Sans KR"/>
                <a:cs typeface="Noto Sans KR"/>
              </a:rPr>
              <a:t>필요성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44C8EA0B-5653-457F-BDE8-6F4010B7F2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9800" y="2762250"/>
            <a:ext cx="2971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425" b="1">
                <a:solidFill>
                  <a:srgbClr val="7B43AA"/>
                </a:solidFill>
                <a:latin typeface="Noto Sans KR"/>
                <a:ea typeface="Noto Sans KR"/>
                <a:cs typeface="Noto Sans KR"/>
              </a:defRPr>
            </a:pPr>
            <a:r>
              <a:rPr sz="1425" b="1">
                <a:solidFill>
                  <a:srgbClr val="7B43AA"/>
                </a:solidFill>
                <a:latin typeface="Noto Sans KR"/>
                <a:ea typeface="Noto Sans KR"/>
                <a:cs typeface="Noto Sans KR"/>
              </a:rPr>
              <a:t>숫자에서 판단까지의 간격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8CC12D1-A929-4368-B9D5-46F8905D02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3124200"/>
            <a:ext cx="4191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38" b="0">
                <a:solidFill>
                  <a:srgbClr val="2B1830"/>
                </a:solidFill>
                <a:latin typeface="Noto Sans KR"/>
                <a:ea typeface="Noto Sans KR"/>
                <a:cs typeface="Noto Sans KR"/>
              </a:defRPr>
            </a:pPr>
            <a:r>
              <a:rPr sz="1238" b="0">
                <a:solidFill>
                  <a:srgbClr val="2B1830"/>
                </a:solidFill>
                <a:latin typeface="Noto Sans KR"/>
                <a:ea typeface="Noto Sans KR"/>
                <a:cs typeface="Noto Sans KR"/>
              </a:rPr>
              <a:t>기온과 강수확률만으로는 오늘 무엇을 준비하고 어떤 활동을 조절할지 바로 결정하기 어렵다.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2A08F79C-B152-4FBB-B2D5-30CF7069CF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3848100"/>
            <a:ext cx="4191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C9D4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E34011C2-4870-4FE5-A836-B129F84BC8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3962400"/>
            <a:ext cx="10668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2F2F5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57150" tIns="19050" rIns="571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75" b="1">
                <a:solidFill>
                  <a:srgbClr val="2B1830"/>
                </a:solidFill>
                <a:latin typeface="Noto Sans KR"/>
                <a:ea typeface="Noto Sans KR"/>
                <a:cs typeface="Noto Sans KR"/>
              </a:defRPr>
            </a:pPr>
            <a:r>
              <a:rPr sz="1275" b="1">
                <a:solidFill>
                  <a:srgbClr val="2B1830"/>
                </a:solidFill>
                <a:latin typeface="Noto Sans KR"/>
                <a:ea typeface="Noto Sans KR"/>
                <a:cs typeface="Noto Sans KR"/>
              </a:rPr>
              <a:t>근거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878B269E-9A03-422E-A3B2-A22A795C05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9800" y="3943350"/>
            <a:ext cx="2971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425" b="1">
                <a:solidFill>
                  <a:srgbClr val="7B43AA"/>
                </a:solidFill>
                <a:latin typeface="Noto Sans KR"/>
                <a:ea typeface="Noto Sans KR"/>
                <a:cs typeface="Noto Sans KR"/>
              </a:defRPr>
            </a:pPr>
            <a:r>
              <a:rPr sz="1425" b="1">
                <a:solidFill>
                  <a:srgbClr val="7B43AA"/>
                </a:solidFill>
                <a:latin typeface="Noto Sans KR"/>
                <a:ea typeface="Noto Sans KR"/>
                <a:cs typeface="Noto Sans KR"/>
              </a:rPr>
              <a:t>공공 데이터와 서버 산식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5E64CF32-2EB1-4C3A-AD27-30F23D1915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4305300"/>
            <a:ext cx="4191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38" b="0">
                <a:solidFill>
                  <a:srgbClr val="2B1830"/>
                </a:solidFill>
                <a:latin typeface="Noto Sans KR"/>
                <a:ea typeface="Noto Sans KR"/>
                <a:cs typeface="Noto Sans KR"/>
              </a:defRPr>
            </a:pPr>
            <a:r>
              <a:rPr sz="1238" b="0">
                <a:solidFill>
                  <a:srgbClr val="2B1830"/>
                </a:solidFill>
                <a:latin typeface="Noto Sans KR"/>
                <a:ea typeface="Noto Sans KR"/>
                <a:cs typeface="Noto Sans KR"/>
              </a:rPr>
              <a:t>기상청 실황·예보·특보·자외선을 통합한다. 체감·불쾌지수는 서버 산식, 식중독은 공식값 우선·없으면 참고식으로 계산한다.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7D612847-703A-4CC3-8DB6-B240B1906B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5124450"/>
            <a:ext cx="4191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C9D4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98A9CBAF-DC68-4586-A21B-557BB5EB52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5238750"/>
            <a:ext cx="10668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2F2F5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57150" tIns="19050" rIns="571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75" b="1">
                <a:solidFill>
                  <a:srgbClr val="2B1830"/>
                </a:solidFill>
                <a:latin typeface="Noto Sans KR"/>
                <a:ea typeface="Noto Sans KR"/>
                <a:cs typeface="Noto Sans KR"/>
              </a:defRPr>
            </a:pPr>
            <a:r>
              <a:rPr sz="1275" b="1">
                <a:solidFill>
                  <a:srgbClr val="2B1830"/>
                </a:solidFill>
                <a:latin typeface="Noto Sans KR"/>
                <a:ea typeface="Noto Sans KR"/>
                <a:cs typeface="Noto Sans KR"/>
              </a:rPr>
              <a:t>AI 역할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5ADB4888-5CF8-469E-A6A1-26A6CBBAC5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9800" y="5219700"/>
            <a:ext cx="2971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425" b="1">
                <a:solidFill>
                  <a:srgbClr val="7B43AA"/>
                </a:solidFill>
                <a:latin typeface="Noto Sans KR"/>
                <a:ea typeface="Noto Sans KR"/>
                <a:cs typeface="Noto Sans KR"/>
              </a:defRPr>
            </a:pPr>
            <a:r>
              <a:rPr sz="1425" b="1">
                <a:solidFill>
                  <a:srgbClr val="7B43AA"/>
                </a:solidFill>
                <a:latin typeface="Noto Sans KR"/>
                <a:ea typeface="Noto Sans KR"/>
                <a:cs typeface="Noto Sans KR"/>
              </a:rPr>
              <a:t>확정 수치를 생활 언어로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E624136A-3C3D-419B-B6F6-5F02D1A35D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5581650"/>
            <a:ext cx="4191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38" b="0">
                <a:solidFill>
                  <a:srgbClr val="2B1830"/>
                </a:solidFill>
                <a:latin typeface="Noto Sans KR"/>
                <a:ea typeface="Noto Sans KR"/>
                <a:cs typeface="Noto Sans KR"/>
              </a:defRPr>
            </a:pPr>
            <a:r>
              <a:rPr sz="1238" b="0">
                <a:solidFill>
                  <a:srgbClr val="2B1830"/>
                </a:solidFill>
                <a:latin typeface="Noto Sans KR"/>
                <a:ea typeface="Noto Sans KR"/>
                <a:cs typeface="Noto Sans KR"/>
              </a:rPr>
              <a:t>AI는 위치·당일 대표 감정·이번 회차 선택 취미와 최신 외출 맥락을 결합해 실천 가능한 행동과 취미 팁을 작성한다.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55649AD8-CB00-4587-812B-8C11C81329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6419850"/>
            <a:ext cx="4191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183B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95250" tIns="57150" rIns="95250" bIns="57150" anchor="ctr">
            <a:normAutofit fontScale="76168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75" b="1">
                <a:solidFill>
                  <a:srgbClr val="FFF5EA"/>
                </a:solidFill>
                <a:latin typeface="Noto Sans KR"/>
                <a:ea typeface="Noto Sans KR"/>
                <a:cs typeface="Noto Sans KR"/>
              </a:defRPr>
            </a:pPr>
            <a:r>
              <a:rPr sz="1275" b="1">
                <a:solidFill>
                  <a:srgbClr val="FFF5EA"/>
                </a:solidFill>
                <a:latin typeface="Noto Sans KR"/>
                <a:ea typeface="Noto Sans KR"/>
                <a:cs typeface="Noto Sans KR"/>
              </a:rPr>
              <a:t>기상 수치와 생활 지수는 서버가 확정하고, AI는 그 값을 바꾸지 않고 설명만 생성</a:t>
            </a:r>
          </a:p>
        </p:txBody>
      </p:sp>
    </p:spTree>
    <p:extLst>
      <p:ext uri="{BB962C8B-B14F-4D97-AF65-F5344CB8AC3E}">
        <p14:creationId xmlns:p14="http://schemas.microsoft.com/office/powerpoint/2010/main" val="1004905966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21102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FC788003-EBCB-498E-A8B3-E706582BF6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590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1">
                <a:solidFill>
                  <a:srgbClr val="65C8D9"/>
                </a:solidFill>
                <a:latin typeface="Noto Sans KR"/>
                <a:ea typeface="Noto Sans KR"/>
                <a:cs typeface="Noto Sans KR"/>
              </a:defRPr>
            </a:pPr>
            <a:r>
              <a:rPr sz="1350" b="1">
                <a:solidFill>
                  <a:srgbClr val="65C8D9"/>
                </a:solidFill>
                <a:latin typeface="Noto Sans KR"/>
                <a:ea typeface="Noto Sans KR"/>
                <a:cs typeface="Noto Sans KR"/>
              </a:rPr>
              <a:t>APPENDIX</a:t>
            </a:r>
            <a:r>
              <a:rPr sz="1350" b="1">
                <a:solidFill>
                  <a:srgbClr val="65C8D9"/>
                </a:solidFill>
                <a:latin typeface="Noto Sans KR"/>
                <a:ea typeface="Noto Sans KR"/>
                <a:cs typeface="Noto Sans KR"/>
              </a:rPr>
              <a:t> · 날씨 분석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BE6412C-2D4A-4CF4-A757-C66F6D5C37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23431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E5D6E1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C64C516-FC05-4A3B-A8B2-D1AC22AB6C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0375" y="68580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5D6E1"/>
          </a:solidFill>
          <a:ln xmlns:a="http://schemas.openxmlformats.org/drawingml/2006/main" w="0">
            <a:solidFill>
              <a:srgbClr val="E5D6E1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892CA67-F9EC-4A15-863B-57A45499B7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95350"/>
            <a:ext cx="123444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98765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3375" b="1">
                <a:solidFill>
                  <a:srgbClr val="FFF5EA"/>
                </a:solidFill>
                <a:latin typeface="Noto Sans KR"/>
                <a:ea typeface="Noto Sans KR"/>
                <a:cs typeface="Noto Sans KR"/>
              </a:defRPr>
            </a:pPr>
            <a:r>
              <a:rPr sz="3375" b="1">
                <a:solidFill>
                  <a:srgbClr val="FFF5EA"/>
                </a:solidFill>
                <a:latin typeface="Noto Sans KR"/>
                <a:ea typeface="Noto Sans KR"/>
                <a:cs typeface="Noto Sans KR"/>
              </a:rPr>
              <a:t>날씨 데이터는 어떻게 개인화 조언이 되는가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82F0ED7-7212-43D3-B328-2FB1DE6CCD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514475"/>
            <a:ext cx="122682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500" b="0">
                <a:solidFill>
                  <a:srgbClr val="BFAABD"/>
                </a:solidFill>
                <a:latin typeface="Noto Sans KR"/>
                <a:ea typeface="Noto Sans KR"/>
                <a:cs typeface="Noto Sans KR"/>
              </a:defRPr>
            </a:pPr>
            <a:r>
              <a:rPr sz="1500" b="0">
                <a:solidFill>
                  <a:srgbClr val="BFAABD"/>
                </a:solidFill>
                <a:latin typeface="Noto Sans KR"/>
                <a:ea typeface="Noto Sans KR"/>
                <a:cs typeface="Noto Sans KR"/>
              </a:rPr>
              <a:t>결정론적 수치 계산과 생성형 해설을 분리해 정확성과 활용성을 함께 확보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72CE35D-D91E-4CEA-9F5D-4E689A0E9A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38350"/>
            <a:ext cx="7429500" cy="5010150"/>
          </a:xfrm>
          <a:prstGeom xmlns:a="http://schemas.openxmlformats.org/drawingml/2006/main" prst="roundRect">
            <a:avLst>
              <a:gd name="adj" fmla="val 2281"/>
            </a:avLst>
          </a:prstGeom>
          <a:solidFill xmlns:a="http://schemas.openxmlformats.org/drawingml/2006/main">
            <a:srgbClr val="2A1432"/>
          </a:solidFill>
          <a:ln xmlns:a="http://schemas.openxmlformats.org/drawingml/2006/main" w="19050">
            <a:solidFill>
              <a:srgbClr val="65C8D9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7F8FE03-A85F-4A97-99F3-19C97F9BC4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171700"/>
            <a:ext cx="7010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725" b="1">
                <a:solidFill>
                  <a:srgbClr val="65C8D9"/>
                </a:solidFill>
                <a:latin typeface="Noto Sans KR"/>
                <a:ea typeface="Noto Sans KR"/>
                <a:cs typeface="Noto Sans KR"/>
              </a:defRPr>
            </a:pPr>
            <a:r>
              <a:rPr sz="1725" b="1">
                <a:solidFill>
                  <a:srgbClr val="65C8D9"/>
                </a:solidFill>
                <a:latin typeface="Noto Sans KR"/>
                <a:ea typeface="Noto Sans KR"/>
                <a:cs typeface="Noto Sans KR"/>
              </a:rPr>
              <a:t>날씨 데이터·개인화 분석 프로세스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36FB188-E39E-4909-9EB7-56EC550869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571750"/>
            <a:ext cx="701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65C8D9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625AD38-0B89-4FC6-BA32-FC8571A639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57575" y="3238500"/>
            <a:ext cx="304800" cy="114300"/>
          </a:xfrm>
          <a:prstGeom xmlns:a="http://schemas.openxmlformats.org/drawingml/2006/main" prst="downArrow">
            <a:avLst/>
          </a:prstGeom>
          <a:solidFill xmlns:a="http://schemas.openxmlformats.org/drawingml/2006/main">
            <a:srgbClr val="65C8D9"/>
          </a:solidFill>
          <a:ln xmlns:a="http://schemas.openxmlformats.org/drawingml/2006/main" w="0">
            <a:solidFill>
              <a:srgbClr val="65C8D9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14AB54A-655B-48B7-85F7-E7D61F15CA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57575" y="3943350"/>
            <a:ext cx="304800" cy="114300"/>
          </a:xfrm>
          <a:prstGeom xmlns:a="http://schemas.openxmlformats.org/drawingml/2006/main" prst="downArrow">
            <a:avLst/>
          </a:prstGeom>
          <a:solidFill xmlns:a="http://schemas.openxmlformats.org/drawingml/2006/main">
            <a:srgbClr val="65C8D9"/>
          </a:solidFill>
          <a:ln xmlns:a="http://schemas.openxmlformats.org/drawingml/2006/main" w="0">
            <a:solidFill>
              <a:srgbClr val="65C8D9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AF43B60-F6F0-491C-A027-B647BC5A47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57575" y="4648200"/>
            <a:ext cx="304800" cy="114300"/>
          </a:xfrm>
          <a:prstGeom xmlns:a="http://schemas.openxmlformats.org/drawingml/2006/main" prst="downArrow">
            <a:avLst/>
          </a:prstGeom>
          <a:solidFill xmlns:a="http://schemas.openxmlformats.org/drawingml/2006/main">
            <a:srgbClr val="65C8D9"/>
          </a:solidFill>
          <a:ln xmlns:a="http://schemas.openxmlformats.org/drawingml/2006/main" w="0">
            <a:solidFill>
              <a:srgbClr val="65C8D9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70AA9D3-8DC2-4DAB-9425-BA41FA7853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57575" y="5353050"/>
            <a:ext cx="304800" cy="114300"/>
          </a:xfrm>
          <a:prstGeom xmlns:a="http://schemas.openxmlformats.org/drawingml/2006/main" prst="downArrow">
            <a:avLst/>
          </a:prstGeom>
          <a:solidFill xmlns:a="http://schemas.openxmlformats.org/drawingml/2006/main">
            <a:srgbClr val="65C8D9"/>
          </a:solidFill>
          <a:ln xmlns:a="http://schemas.openxmlformats.org/drawingml/2006/main" w="0">
            <a:solidFill>
              <a:srgbClr val="65C8D9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6958F92-0350-4A4C-9AC0-B3102B7427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57575" y="6057900"/>
            <a:ext cx="304800" cy="114300"/>
          </a:xfrm>
          <a:prstGeom xmlns:a="http://schemas.openxmlformats.org/drawingml/2006/main" prst="downArrow">
            <a:avLst/>
          </a:prstGeom>
          <a:solidFill xmlns:a="http://schemas.openxmlformats.org/drawingml/2006/main">
            <a:srgbClr val="65C8D9"/>
          </a:solidFill>
          <a:ln xmlns:a="http://schemas.openxmlformats.org/drawingml/2006/main" w="0">
            <a:solidFill>
              <a:srgbClr val="65C8D9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CB870D1-E011-4368-9A6D-738F8ED61E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647950"/>
            <a:ext cx="5238750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FFF5EA"/>
          </a:solidFill>
          <a:ln xmlns:a="http://schemas.openxmlformats.org/drawingml/2006/main" w="14288">
            <a:solidFill>
              <a:srgbClr val="65C8D9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6FA41D9-3344-49CA-8FD9-738409D301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647950"/>
            <a:ext cx="85725" cy="5905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65C8D9"/>
          </a:solidFill>
          <a:ln xmlns:a="http://schemas.openxmlformats.org/drawingml/2006/main" w="0">
            <a:solidFill>
              <a:srgbClr val="65C8D9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9B13106-292F-4E8D-8E58-D5BC7C082E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2705100"/>
            <a:ext cx="4914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8818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1">
                <a:solidFill>
                  <a:srgbClr val="2B1830"/>
                </a:solidFill>
                <a:latin typeface="Noto Sans KR"/>
                <a:ea typeface="Noto Sans KR"/>
                <a:cs typeface="Noto Sans KR"/>
              </a:defRPr>
            </a:pPr>
            <a:r>
              <a:rPr sz="1350" b="1">
                <a:solidFill>
                  <a:srgbClr val="2B1830"/>
                </a:solidFill>
                <a:latin typeface="Noto Sans KR"/>
                <a:ea typeface="Noto Sans KR"/>
                <a:cs typeface="Noto Sans KR"/>
              </a:rPr>
              <a:t>위치·격자 변환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D414752-8E60-475C-8C9F-34B2DC53C3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2933700"/>
            <a:ext cx="4914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200" b="0">
                <a:solidFill>
                  <a:srgbClr val="2B1830"/>
                </a:solidFill>
                <a:latin typeface="Noto Sans KR"/>
                <a:ea typeface="Noto Sans KR"/>
                <a:cs typeface="Noto Sans KR"/>
              </a:defRPr>
            </a:pPr>
            <a:r>
              <a:rPr sz="1200" b="0">
                <a:solidFill>
                  <a:srgbClr val="2B1830"/>
                </a:solidFill>
                <a:latin typeface="Noto Sans KR"/>
                <a:ea typeface="Noto Sans KR"/>
                <a:cs typeface="Noto Sans KR"/>
              </a:rPr>
              <a:t>lat/lon → 최근접 지원 지역 + 기상청 격자 nx, ny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A5CC0CA-6778-4029-B348-63DBFBC2EC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352800"/>
            <a:ext cx="5238750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FFF5EA"/>
          </a:solidFill>
          <a:ln xmlns:a="http://schemas.openxmlformats.org/drawingml/2006/main" w="14288">
            <a:solidFill>
              <a:srgbClr val="65C8D9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871446A-1D18-45A8-ABA2-7CC1B753D7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352800"/>
            <a:ext cx="85725" cy="5905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65C8D9"/>
          </a:solidFill>
          <a:ln xmlns:a="http://schemas.openxmlformats.org/drawingml/2006/main" w="0">
            <a:solidFill>
              <a:srgbClr val="65C8D9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BAF6D22-3E0D-4BA1-B845-C57FCA31EF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409950"/>
            <a:ext cx="4914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8818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1">
                <a:solidFill>
                  <a:srgbClr val="2B1830"/>
                </a:solidFill>
                <a:latin typeface="Noto Sans KR"/>
                <a:ea typeface="Noto Sans KR"/>
                <a:cs typeface="Noto Sans KR"/>
              </a:defRPr>
            </a:pPr>
            <a:r>
              <a:rPr sz="1350" b="1">
                <a:solidFill>
                  <a:srgbClr val="2B1830"/>
                </a:solidFill>
                <a:latin typeface="Noto Sans KR"/>
                <a:ea typeface="Noto Sans KR"/>
                <a:cs typeface="Noto Sans KR"/>
              </a:rPr>
              <a:t>공공 기상 데이터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D045891-F490-49DF-9F00-1637A0D1BD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638550"/>
            <a:ext cx="4914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200" b="0">
                <a:solidFill>
                  <a:srgbClr val="2B1830"/>
                </a:solidFill>
                <a:latin typeface="Noto Sans KR"/>
                <a:ea typeface="Noto Sans KR"/>
                <a:cs typeface="Noto Sans KR"/>
              </a:defRPr>
            </a:pPr>
            <a:r>
              <a:rPr sz="1200" b="0">
                <a:solidFill>
                  <a:srgbClr val="2B1830"/>
                </a:solidFill>
                <a:latin typeface="Noto Sans KR"/>
                <a:ea typeface="Noto Sans KR"/>
                <a:cs typeface="Noto Sans KR"/>
              </a:rPr>
              <a:t>초단기 실황·예보·7일 예보·특보·자외선지수 통합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C1BC756-2516-4BE8-9D5D-8E44148D8C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057650"/>
            <a:ext cx="5238750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FFF5EA"/>
          </a:solidFill>
          <a:ln xmlns:a="http://schemas.openxmlformats.org/drawingml/2006/main" w="14288">
            <a:solidFill>
              <a:srgbClr val="65C8D9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1ED3E0C-6B82-4B79-8C26-F9597BC0F8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057650"/>
            <a:ext cx="85725" cy="5905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65C8D9"/>
          </a:solidFill>
          <a:ln xmlns:a="http://schemas.openxmlformats.org/drawingml/2006/main" w="0">
            <a:solidFill>
              <a:srgbClr val="65C8D9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F80FD37-C9E7-4D55-BE0D-6F2ED64C0B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114800"/>
            <a:ext cx="4914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8818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1">
                <a:solidFill>
                  <a:srgbClr val="2B1830"/>
                </a:solidFill>
                <a:latin typeface="Noto Sans KR"/>
                <a:ea typeface="Noto Sans KR"/>
                <a:cs typeface="Noto Sans KR"/>
              </a:defRPr>
            </a:pPr>
            <a:r>
              <a:rPr sz="1350" b="1">
                <a:solidFill>
                  <a:srgbClr val="2B1830"/>
                </a:solidFill>
                <a:latin typeface="Noto Sans KR"/>
                <a:ea typeface="Noto Sans KR"/>
                <a:cs typeface="Noto Sans KR"/>
              </a:rPr>
              <a:t>서버 지수 계산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CCA056B-EA60-4F06-A09A-A9FD9CB130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343400"/>
            <a:ext cx="4914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200" b="0">
                <a:solidFill>
                  <a:srgbClr val="2B1830"/>
                </a:solidFill>
                <a:latin typeface="Noto Sans KR"/>
                <a:ea typeface="Noto Sans KR"/>
                <a:cs typeface="Noto Sans KR"/>
              </a:defRPr>
            </a:pPr>
            <a:r>
              <a:rPr sz="1200" b="0">
                <a:solidFill>
                  <a:srgbClr val="2B1830"/>
                </a:solidFill>
                <a:latin typeface="Noto Sans KR"/>
                <a:ea typeface="Noto Sans KR"/>
                <a:cs typeface="Noto Sans KR"/>
              </a:rPr>
              <a:t>체감·불쾌지수 산식 · 식중독 공식값 우선/없으면 참고식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D4A7346-CED3-4FE1-B5F2-A164FC5986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762500"/>
            <a:ext cx="5238750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FFF5EA"/>
          </a:solidFill>
          <a:ln xmlns:a="http://schemas.openxmlformats.org/drawingml/2006/main" w="14288">
            <a:solidFill>
              <a:srgbClr val="65C8D9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193022C-32DF-44B4-9FB2-A30B9C8A6F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762500"/>
            <a:ext cx="85725" cy="5905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65C8D9"/>
          </a:solidFill>
          <a:ln xmlns:a="http://schemas.openxmlformats.org/drawingml/2006/main" w="0">
            <a:solidFill>
              <a:srgbClr val="65C8D9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F234692-7FE2-498E-915A-0D58D368DE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19650"/>
            <a:ext cx="4914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8818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1">
                <a:solidFill>
                  <a:srgbClr val="2B1830"/>
                </a:solidFill>
                <a:latin typeface="Noto Sans KR"/>
                <a:ea typeface="Noto Sans KR"/>
                <a:cs typeface="Noto Sans KR"/>
              </a:defRPr>
            </a:pPr>
            <a:r>
              <a:rPr sz="1350" b="1">
                <a:solidFill>
                  <a:srgbClr val="2B1830"/>
                </a:solidFill>
                <a:latin typeface="Noto Sans KR"/>
                <a:ea typeface="Noto Sans KR"/>
                <a:cs typeface="Noto Sans KR"/>
              </a:rPr>
              <a:t>웹·개인화 맥락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169CF5D7-2ABD-4A88-A445-DE39EF42E5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048250"/>
            <a:ext cx="4914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200" b="0">
                <a:solidFill>
                  <a:srgbClr val="2B1830"/>
                </a:solidFill>
                <a:latin typeface="Noto Sans KR"/>
                <a:ea typeface="Noto Sans KR"/>
                <a:cs typeface="Noto Sans KR"/>
              </a:defRPr>
            </a:pPr>
            <a:r>
              <a:rPr sz="1200" b="0">
                <a:solidFill>
                  <a:srgbClr val="2B1830"/>
                </a:solidFill>
                <a:latin typeface="Noto Sans KR"/>
                <a:ea typeface="Noto Sans KR"/>
                <a:cs typeface="Noto Sans KR"/>
              </a:rPr>
              <a:t>Tavily 외출 스니펫 + 이번 회차 취미·당일 대표 감정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D8D7030D-4BD7-41B7-B366-5D2484BEBB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5467350"/>
            <a:ext cx="5238750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FFF5EA"/>
          </a:solidFill>
          <a:ln xmlns:a="http://schemas.openxmlformats.org/drawingml/2006/main" w="14288">
            <a:solidFill>
              <a:srgbClr val="65C8D9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D6346DBE-6025-410B-97DD-48D0579F77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5467350"/>
            <a:ext cx="85725" cy="5905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65C8D9"/>
          </a:solidFill>
          <a:ln xmlns:a="http://schemas.openxmlformats.org/drawingml/2006/main" w="0">
            <a:solidFill>
              <a:srgbClr val="65C8D9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F7297D22-77E9-4550-A6D5-4E1186E535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524500"/>
            <a:ext cx="4914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8818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1">
                <a:solidFill>
                  <a:srgbClr val="2B1830"/>
                </a:solidFill>
                <a:latin typeface="Noto Sans KR"/>
                <a:ea typeface="Noto Sans KR"/>
                <a:cs typeface="Noto Sans KR"/>
              </a:defRPr>
            </a:pPr>
            <a:r>
              <a:rPr sz="1350" b="1">
                <a:solidFill>
                  <a:srgbClr val="2B1830"/>
                </a:solidFill>
                <a:latin typeface="Noto Sans KR"/>
                <a:ea typeface="Noto Sans KR"/>
                <a:cs typeface="Noto Sans KR"/>
              </a:rPr>
              <a:t>LLM 해설 생성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3779834C-2301-47AE-8AE6-657A29BC00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753100"/>
            <a:ext cx="4914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200" b="0">
                <a:solidFill>
                  <a:srgbClr val="2B1830"/>
                </a:solidFill>
                <a:latin typeface="Noto Sans KR"/>
                <a:ea typeface="Noto Sans KR"/>
                <a:cs typeface="Noto Sans KR"/>
              </a:defRPr>
            </a:pPr>
            <a:r>
              <a:rPr sz="1200" b="0">
                <a:solidFill>
                  <a:srgbClr val="2B1830"/>
                </a:solidFill>
                <a:latin typeface="Noto Sans KR"/>
                <a:ea typeface="Noto Sans KR"/>
                <a:cs typeface="Noto Sans KR"/>
              </a:rPr>
              <a:t>GPT-5.4-mini가 일상 행동 2개 + 취미 특화 팁 1개 생성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F691478A-34D1-4CB7-891E-52BD2DB511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6286500"/>
            <a:ext cx="5238750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FFF5EA"/>
          </a:solidFill>
          <a:ln xmlns:a="http://schemas.openxmlformats.org/drawingml/2006/main" w="14288">
            <a:solidFill>
              <a:srgbClr val="65C8D9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C66029EB-030B-4DD0-B0C8-1800EB2BC9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6286500"/>
            <a:ext cx="85725" cy="5905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65C8D9"/>
          </a:solidFill>
          <a:ln xmlns:a="http://schemas.openxmlformats.org/drawingml/2006/main" w="0">
            <a:solidFill>
              <a:srgbClr val="65C8D9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373CB2F8-F70C-4D0E-96A4-E10F96E56A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6343650"/>
            <a:ext cx="4914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8818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1">
                <a:solidFill>
                  <a:srgbClr val="2B1830"/>
                </a:solidFill>
                <a:latin typeface="Noto Sans KR"/>
                <a:ea typeface="Noto Sans KR"/>
                <a:cs typeface="Noto Sans KR"/>
              </a:defRPr>
            </a:pPr>
            <a:r>
              <a:rPr sz="1350" b="1">
                <a:solidFill>
                  <a:srgbClr val="2B1830"/>
                </a:solidFill>
                <a:latin typeface="Noto Sans KR"/>
                <a:ea typeface="Noto Sans KR"/>
                <a:cs typeface="Noto Sans KR"/>
              </a:rPr>
              <a:t>후처리·캐시·전달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67AC06C0-BBD7-4F20-9743-4EF9A48D2D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6572250"/>
            <a:ext cx="4914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200" b="0">
                <a:solidFill>
                  <a:srgbClr val="2B1830"/>
                </a:solidFill>
                <a:latin typeface="Noto Sans KR"/>
                <a:ea typeface="Noto Sans KR"/>
                <a:cs typeface="Noto Sans KR"/>
              </a:defRPr>
            </a:pPr>
            <a:r>
              <a:rPr sz="1200" b="0">
                <a:solidFill>
                  <a:srgbClr val="2B1830"/>
                </a:solidFill>
                <a:latin typeface="Noto Sans KR"/>
                <a:ea typeface="Noto Sans KR"/>
                <a:cs typeface="Noto Sans KR"/>
              </a:rPr>
              <a:t>표현 필터 · 정상 1시간/AI 실패 60초 캐시 후 전달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E480B9AB-ACAA-41D0-8C6B-F94FB112F4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3276600"/>
            <a:ext cx="1371600" cy="1352550"/>
          </a:xfrm>
          <a:prstGeom xmlns:a="http://schemas.openxmlformats.org/drawingml/2006/main" prst="roundRect">
            <a:avLst>
              <a:gd name="adj" fmla="val 5634"/>
            </a:avLst>
          </a:prstGeom>
          <a:solidFill xmlns:a="http://schemas.openxmlformats.org/drawingml/2006/main">
            <a:srgbClr val="D2F2F5"/>
          </a:solidFill>
          <a:ln xmlns:a="http://schemas.openxmlformats.org/drawingml/2006/main" w="14288">
            <a:solidFill>
              <a:srgbClr val="65C8D9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758F90F8-E11E-436D-87CD-47C8955D1E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3390900"/>
            <a:ext cx="114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00" b="1">
                <a:solidFill>
                  <a:srgbClr val="2B1830"/>
                </a:solidFill>
                <a:latin typeface="Noto Sans KR"/>
                <a:ea typeface="Noto Sans KR"/>
                <a:cs typeface="Noto Sans KR"/>
              </a:defRPr>
            </a:pPr>
            <a:r>
              <a:rPr sz="1200" b="1">
                <a:solidFill>
                  <a:srgbClr val="2B1830"/>
                </a:solidFill>
                <a:latin typeface="Noto Sans KR"/>
                <a:ea typeface="Noto Sans KR"/>
                <a:cs typeface="Noto Sans KR"/>
              </a:rPr>
              <a:t>수치 확정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FCB8CBD0-97D8-4F51-B4BD-F710F272EB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3752850"/>
            <a:ext cx="1143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00" b="0">
                <a:solidFill>
                  <a:srgbClr val="2B1830"/>
                </a:solidFill>
                <a:latin typeface="Noto Sans KR"/>
                <a:ea typeface="Noto Sans KR"/>
                <a:cs typeface="Noto Sans KR"/>
              </a:defRPr>
            </a:pPr>
            <a:r>
              <a:rPr sz="1200" b="0">
                <a:solidFill>
                  <a:srgbClr val="2B1830"/>
                </a:solidFill>
                <a:latin typeface="Noto Sans KR"/>
                <a:ea typeface="Noto Sans KR"/>
                <a:cs typeface="Noto Sans KR"/>
              </a:rPr>
              <a:t>기온·습도·풍속</a:t>
            </a:r>
          </a:p>
          <a:p xmlns:a="http://schemas.openxmlformats.org/drawingml/2006/main">
            <a:pPr algn="ctr">
              <a:lnSpc>
                <a:spcPct val="105000"/>
              </a:lnSpc>
              <a:buNone/>
              <a:defRPr sz="1200" b="0">
                <a:solidFill>
                  <a:srgbClr val="2B1830"/>
                </a:solidFill>
                <a:latin typeface="Noto Sans KR"/>
                <a:ea typeface="Noto Sans KR"/>
                <a:cs typeface="Noto Sans KR"/>
              </a:defRPr>
            </a:pPr>
            <a:r>
              <a:rPr sz="1200" b="0">
                <a:solidFill>
                  <a:srgbClr val="2B1830"/>
                </a:solidFill>
                <a:latin typeface="Noto Sans KR"/>
                <a:ea typeface="Noto Sans KR"/>
                <a:cs typeface="Noto Sans KR"/>
              </a:rPr>
              <a:t>→ 산식/공식값</a:t>
            </a:r>
          </a:p>
          <a:p xmlns:a="http://schemas.openxmlformats.org/drawingml/2006/main">
            <a:pPr algn="ctr">
              <a:lnSpc>
                <a:spcPct val="105000"/>
              </a:lnSpc>
              <a:buNone/>
              <a:defRPr sz="1200" b="0">
                <a:solidFill>
                  <a:srgbClr val="2B1830"/>
                </a:solidFill>
                <a:latin typeface="Noto Sans KR"/>
                <a:ea typeface="Noto Sans KR"/>
                <a:cs typeface="Noto Sans KR"/>
              </a:defRPr>
            </a:pPr>
            <a:r>
              <a:rPr sz="1200" b="0">
                <a:solidFill>
                  <a:srgbClr val="2B1830"/>
                </a:solidFill>
                <a:latin typeface="Noto Sans KR"/>
                <a:ea typeface="Noto Sans KR"/>
                <a:cs typeface="Noto Sans KR"/>
              </a:rPr>
              <a:t>→ 생활 지수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1BE0AD9D-135A-46A8-B776-A3DF110CC7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4933950"/>
            <a:ext cx="1371600" cy="1352550"/>
          </a:xfrm>
          <a:prstGeom xmlns:a="http://schemas.openxmlformats.org/drawingml/2006/main" prst="roundRect">
            <a:avLst>
              <a:gd name="adj" fmla="val 5634"/>
            </a:avLst>
          </a:prstGeom>
          <a:solidFill xmlns:a="http://schemas.openxmlformats.org/drawingml/2006/main">
            <a:srgbClr val="35183B"/>
          </a:solidFill>
          <a:ln xmlns:a="http://schemas.openxmlformats.org/drawingml/2006/main" w="14288">
            <a:solidFill>
              <a:srgbClr val="65C8D9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16DB8C0A-BF25-4DF1-A793-E0D75E63FE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5048250"/>
            <a:ext cx="114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00" b="1">
                <a:solidFill>
                  <a:srgbClr val="65C8D9"/>
                </a:solidFill>
                <a:latin typeface="Noto Sans KR"/>
                <a:ea typeface="Noto Sans KR"/>
                <a:cs typeface="Noto Sans KR"/>
              </a:defRPr>
            </a:pPr>
            <a:r>
              <a:rPr sz="1200" b="1">
                <a:solidFill>
                  <a:srgbClr val="65C8D9"/>
                </a:solidFill>
                <a:latin typeface="Noto Sans KR"/>
                <a:ea typeface="Noto Sans KR"/>
                <a:cs typeface="Noto Sans KR"/>
              </a:rPr>
              <a:t>AI의 경계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B242F43A-8D8F-434B-BED9-8E30DD8A33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5410200"/>
            <a:ext cx="1143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89286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00" b="0">
                <a:solidFill>
                  <a:srgbClr val="FFF5EA"/>
                </a:solidFill>
                <a:latin typeface="Noto Sans KR"/>
                <a:ea typeface="Noto Sans KR"/>
                <a:cs typeface="Noto Sans KR"/>
              </a:defRPr>
            </a:pPr>
            <a:r>
              <a:rPr sz="1200" b="0">
                <a:solidFill>
                  <a:srgbClr val="FFF5EA"/>
                </a:solidFill>
                <a:latin typeface="Noto Sans KR"/>
                <a:ea typeface="Noto Sans KR"/>
                <a:cs typeface="Noto Sans KR"/>
              </a:rPr>
              <a:t>확정 수치는 바꾸지 않고</a:t>
            </a:r>
          </a:p>
          <a:p xmlns:a="http://schemas.openxmlformats.org/drawingml/2006/main">
            <a:pPr algn="ctr">
              <a:lnSpc>
                <a:spcPct val="105000"/>
              </a:lnSpc>
              <a:buNone/>
              <a:defRPr sz="1200" b="0">
                <a:solidFill>
                  <a:srgbClr val="FFF5EA"/>
                </a:solidFill>
                <a:latin typeface="Noto Sans KR"/>
                <a:ea typeface="Noto Sans KR"/>
                <a:cs typeface="Noto Sans KR"/>
              </a:defRPr>
            </a:pPr>
            <a:r>
              <a:rPr sz="1200" b="0">
                <a:solidFill>
                  <a:srgbClr val="FFF5EA"/>
                </a:solidFill>
                <a:latin typeface="Noto Sans KR"/>
                <a:ea typeface="Noto Sans KR"/>
                <a:cs typeface="Noto Sans KR"/>
              </a:rPr>
              <a:t>해설·행동 팁만</a:t>
            </a:r>
          </a:p>
          <a:p xmlns:a="http://schemas.openxmlformats.org/drawingml/2006/main">
            <a:pPr algn="ctr">
              <a:lnSpc>
                <a:spcPct val="105000"/>
              </a:lnSpc>
              <a:buNone/>
              <a:defRPr sz="1200" b="0">
                <a:solidFill>
                  <a:srgbClr val="FFF5EA"/>
                </a:solidFill>
                <a:latin typeface="Noto Sans KR"/>
                <a:ea typeface="Noto Sans KR"/>
                <a:cs typeface="Noto Sans KR"/>
              </a:defRPr>
            </a:pPr>
            <a:r>
              <a:rPr sz="1200" b="0">
                <a:solidFill>
                  <a:srgbClr val="FFF5EA"/>
                </a:solidFill>
                <a:latin typeface="Noto Sans KR"/>
                <a:ea typeface="Noto Sans KR"/>
                <a:cs typeface="Noto Sans KR"/>
              </a:rPr>
              <a:t>자연어로 생성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CB330FA6-1B39-470F-96F6-371A7E7B7B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2038350"/>
            <a:ext cx="4648200" cy="5010150"/>
          </a:xfrm>
          <a:prstGeom xmlns:a="http://schemas.openxmlformats.org/drawingml/2006/main" prst="roundRect">
            <a:avLst>
              <a:gd name="adj" fmla="val 2459"/>
            </a:avLst>
          </a:prstGeom>
          <a:solidFill xmlns:a="http://schemas.openxmlformats.org/drawingml/2006/main">
            <a:srgbClr val="FFF5EA"/>
          </a:solidFill>
          <a:ln xmlns:a="http://schemas.openxmlformats.org/drawingml/2006/main" w="19050">
            <a:solidFill>
              <a:srgbClr val="65C8D9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914D19D1-6F53-48EE-A85F-5AB3525557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2209800"/>
            <a:ext cx="4191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75" b="1">
                <a:solidFill>
                  <a:srgbClr val="2B1830"/>
                </a:solidFill>
                <a:latin typeface="Noto Sans KR"/>
                <a:ea typeface="Noto Sans KR"/>
                <a:cs typeface="Noto Sans KR"/>
              </a:defRPr>
            </a:pPr>
            <a:r>
              <a:rPr sz="1875" b="1">
                <a:solidFill>
                  <a:srgbClr val="2B1830"/>
                </a:solidFill>
                <a:latin typeface="Noto Sans KR"/>
                <a:ea typeface="Noto Sans KR"/>
                <a:cs typeface="Noto Sans KR"/>
              </a:rPr>
              <a:t>AI 적용과 설계 근거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3676497E-3423-4A82-A48F-C4DE0B943E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2628900"/>
            <a:ext cx="4191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65C8D9"/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6A9230F6-0235-4A95-AFA6-4A74404E62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2781300"/>
            <a:ext cx="10668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2F2F5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57150" tIns="19050" rIns="571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75" b="1">
                <a:solidFill>
                  <a:srgbClr val="2B1830"/>
                </a:solidFill>
                <a:latin typeface="Noto Sans KR"/>
                <a:ea typeface="Noto Sans KR"/>
                <a:cs typeface="Noto Sans KR"/>
              </a:defRPr>
            </a:pPr>
            <a:r>
              <a:rPr sz="1275" b="1">
                <a:solidFill>
                  <a:srgbClr val="2B1830"/>
                </a:solidFill>
                <a:latin typeface="Noto Sans KR"/>
                <a:ea typeface="Noto Sans KR"/>
                <a:cs typeface="Noto Sans KR"/>
              </a:rPr>
              <a:t>어디에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E6323DFB-63C3-4C22-968E-65B3EE5294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9800" y="2762250"/>
            <a:ext cx="2971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425" b="1">
                <a:solidFill>
                  <a:srgbClr val="7B43AA"/>
                </a:solidFill>
                <a:latin typeface="Noto Sans KR"/>
                <a:ea typeface="Noto Sans KR"/>
                <a:cs typeface="Noto Sans KR"/>
              </a:defRPr>
            </a:pPr>
            <a:r>
              <a:rPr sz="1425" b="1">
                <a:solidFill>
                  <a:srgbClr val="7B43AA"/>
                </a:solidFill>
                <a:latin typeface="Noto Sans KR"/>
                <a:ea typeface="Noto Sans KR"/>
                <a:cs typeface="Noto Sans KR"/>
              </a:rPr>
              <a:t>최신 검색과 개인화 해설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A08BE1D0-A2AB-4BBF-9F95-24D6538082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3124200"/>
            <a:ext cx="4191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38" b="0">
                <a:solidFill>
                  <a:srgbClr val="2B1830"/>
                </a:solidFill>
                <a:latin typeface="Noto Sans KR"/>
                <a:ea typeface="Noto Sans KR"/>
                <a:cs typeface="Noto Sans KR"/>
              </a:defRPr>
            </a:pPr>
            <a:r>
              <a:rPr sz="1238" b="0">
                <a:solidFill>
                  <a:srgbClr val="2B1830"/>
                </a:solidFill>
                <a:latin typeface="Noto Sans KR"/>
                <a:ea typeface="Noto Sans KR"/>
                <a:cs typeface="Noto Sans KR"/>
              </a:rPr>
              <a:t>Tavily가 외출 맥락을 보완하고, LLM은 확정된 기상 데이터·취미·당일 감정을 근거로 생활 행동과 취미 팁을 생성한다.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4F06E49E-D17B-4670-9F0B-BEAC6ECB26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3886200"/>
            <a:ext cx="4191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C9D4"/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0B570501-0B2E-4179-8AB5-357C632232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4000500"/>
            <a:ext cx="10668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2F2F5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57150" tIns="19050" rIns="571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75" b="1">
                <a:solidFill>
                  <a:srgbClr val="2B1830"/>
                </a:solidFill>
                <a:latin typeface="Noto Sans KR"/>
                <a:ea typeface="Noto Sans KR"/>
                <a:cs typeface="Noto Sans KR"/>
              </a:defRPr>
            </a:pPr>
            <a:r>
              <a:rPr sz="1275" b="1">
                <a:solidFill>
                  <a:srgbClr val="2B1830"/>
                </a:solidFill>
                <a:latin typeface="Noto Sans KR"/>
                <a:ea typeface="Noto Sans KR"/>
                <a:cs typeface="Noto Sans KR"/>
              </a:rPr>
              <a:t>어떻게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3F0AA482-AF87-401B-898C-FDEB573F9E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9800" y="3981450"/>
            <a:ext cx="2971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425" b="1">
                <a:solidFill>
                  <a:srgbClr val="7B43AA"/>
                </a:solidFill>
                <a:latin typeface="Noto Sans KR"/>
                <a:ea typeface="Noto Sans KR"/>
                <a:cs typeface="Noto Sans KR"/>
              </a:defRPr>
            </a:pPr>
            <a:r>
              <a:rPr sz="1425" b="1">
                <a:solidFill>
                  <a:srgbClr val="7B43AA"/>
                </a:solidFill>
                <a:latin typeface="Noto Sans KR"/>
                <a:ea typeface="Noto Sans KR"/>
                <a:cs typeface="Noto Sans KR"/>
              </a:rPr>
              <a:t>수치 계산과 자연어 생성을 분리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D81F3BD6-7276-4095-8491-E65546D1F1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4343400"/>
            <a:ext cx="4191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38" b="0">
                <a:solidFill>
                  <a:srgbClr val="2B1830"/>
                </a:solidFill>
                <a:latin typeface="Noto Sans KR"/>
                <a:ea typeface="Noto Sans KR"/>
                <a:cs typeface="Noto Sans KR"/>
              </a:defRPr>
            </a:pPr>
            <a:r>
              <a:rPr sz="1238" b="0">
                <a:solidFill>
                  <a:srgbClr val="2B1830"/>
                </a:solidFill>
                <a:latin typeface="Noto Sans KR"/>
                <a:ea typeface="Noto Sans KR"/>
                <a:cs typeface="Noto Sans KR"/>
              </a:rPr>
              <a:t>체감·불쾌지수는 서버 산식으로 계산하고 식중독은 공식값을 우선한다. AI는 확정값만 설명한다.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BF69D676-F029-49D3-AF3C-761E4C66B2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5067300"/>
            <a:ext cx="4191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C9D4"/>
            </a:solidFill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635135E0-0F19-4F92-828E-30F00AA51E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5181600"/>
            <a:ext cx="10668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2F2F5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57150" tIns="19050" rIns="571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75" b="1">
                <a:solidFill>
                  <a:srgbClr val="2B1830"/>
                </a:solidFill>
                <a:latin typeface="Noto Sans KR"/>
                <a:ea typeface="Noto Sans KR"/>
                <a:cs typeface="Noto Sans KR"/>
              </a:defRPr>
            </a:pPr>
            <a:r>
              <a:rPr sz="1275" b="1">
                <a:solidFill>
                  <a:srgbClr val="2B1830"/>
                </a:solidFill>
                <a:latin typeface="Noto Sans KR"/>
                <a:ea typeface="Noto Sans KR"/>
                <a:cs typeface="Noto Sans KR"/>
              </a:rPr>
              <a:t>왜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E77CE98C-F2C8-478A-A07A-F83FDFA02C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9800" y="5162550"/>
            <a:ext cx="2971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425" b="1">
                <a:solidFill>
                  <a:srgbClr val="7B43AA"/>
                </a:solidFill>
                <a:latin typeface="Noto Sans KR"/>
                <a:ea typeface="Noto Sans KR"/>
                <a:cs typeface="Noto Sans KR"/>
              </a:defRPr>
            </a:pPr>
            <a:r>
              <a:rPr sz="1425" b="1">
                <a:solidFill>
                  <a:srgbClr val="7B43AA"/>
                </a:solidFill>
                <a:latin typeface="Noto Sans KR"/>
                <a:ea typeface="Noto Sans KR"/>
                <a:cs typeface="Noto Sans KR"/>
              </a:rPr>
              <a:t>수치 환각 없이 실생활 활용성 확보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21922E84-1824-40C5-B9EC-C2DA737EEC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5524500"/>
            <a:ext cx="4191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38" b="0">
                <a:solidFill>
                  <a:srgbClr val="2B1830"/>
                </a:solidFill>
                <a:latin typeface="Noto Sans KR"/>
                <a:ea typeface="Noto Sans KR"/>
                <a:cs typeface="Noto Sans KR"/>
              </a:defRPr>
            </a:pPr>
            <a:r>
              <a:rPr sz="1238" b="0">
                <a:solidFill>
                  <a:srgbClr val="2B1830"/>
                </a:solidFill>
                <a:latin typeface="Noto Sans KR"/>
                <a:ea typeface="Noto Sans KR"/>
                <a:cs typeface="Noto Sans KR"/>
              </a:rPr>
              <a:t>공공 데이터의 신뢰성은 유지하면서 위치·감정·취미에 맞는 행동 제안을 제공하고, 표현 필터와 캐시로 톤과 비용을 관리한다.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01691A8A-4F9F-408F-BC15-EF1DAC0661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6419850"/>
            <a:ext cx="4191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183B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95250" tIns="57150" rIns="9525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75" b="1">
                <a:solidFill>
                  <a:srgbClr val="FFF5EA"/>
                </a:solidFill>
                <a:latin typeface="Noto Sans KR"/>
                <a:ea typeface="Noto Sans KR"/>
                <a:cs typeface="Noto Sans KR"/>
              </a:defRPr>
            </a:pPr>
            <a:r>
              <a:rPr sz="1275" b="1">
                <a:solidFill>
                  <a:srgbClr val="FFF5EA"/>
                </a:solidFill>
                <a:latin typeface="Noto Sans KR"/>
                <a:ea typeface="Noto Sans KR"/>
                <a:cs typeface="Noto Sans KR"/>
              </a:rPr>
              <a:t>출력: 확정 기상 정보 · 개인화 해설 · 행동 2개 · 취미 팁 1개</a:t>
            </a:r>
          </a:p>
        </p:txBody>
      </p:sp>
    </p:spTree>
    <p:extLst>
      <p:ext uri="{BB962C8B-B14F-4D97-AF65-F5344CB8AC3E}">
        <p14:creationId xmlns:p14="http://schemas.microsoft.com/office/powerpoint/2010/main" val="1150843157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2026-07-26T13:55:11.7400000Z</dcterms:created>
  <dcterms:modified xsi:type="dcterms:W3CDTF">2026-07-26T13:55:11.7400000Z</dcterms:modified>
</coreProperties>
</file>