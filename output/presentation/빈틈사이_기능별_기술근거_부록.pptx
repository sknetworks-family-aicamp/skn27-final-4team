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ab426f3cb4f93" /><Relationship Type="http://schemas.openxmlformats.org/officeDocument/2006/relationships/extended-properties" Target="/docProps/app.xml" Id="Rc6ce0f85ed644664" /><Relationship Type="http://schemas.openxmlformats.org/officeDocument/2006/relationships/officeDocument" Target="/ppt/presentation.xml" Id="R2221e189452f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4ee3f4ff324504"/>
  </p:sldMasterIdLst>
  <p:notesMasterIdLst>
    <p:notesMasterId xmlns:r="http://schemas.openxmlformats.org/officeDocument/2006/relationships" r:id="Re66f5300f3fe4dc3"/>
  </p:notesMasterIdLst>
  <p:sldIdLst>
    <p:sldId xmlns:r="http://schemas.openxmlformats.org/officeDocument/2006/relationships" id="256" r:id="Ra7154cadcf604413"/>
    <p:sldId xmlns:r="http://schemas.openxmlformats.org/officeDocument/2006/relationships" id="257" r:id="R0d3d0a8e318b4ecf"/>
    <p:sldId xmlns:r="http://schemas.openxmlformats.org/officeDocument/2006/relationships" id="258" r:id="R4be7323f13c34f1a"/>
    <p:sldId xmlns:r="http://schemas.openxmlformats.org/officeDocument/2006/relationships" id="259" r:id="R317dff6c6d134121"/>
    <p:sldId xmlns:r="http://schemas.openxmlformats.org/officeDocument/2006/relationships" id="260" r:id="Rfa1a5dc816e74c8f"/>
    <p:sldId xmlns:r="http://schemas.openxmlformats.org/officeDocument/2006/relationships" id="261" r:id="R34753c90bb9a487a"/>
    <p:sldId xmlns:r="http://schemas.openxmlformats.org/officeDocument/2006/relationships" id="262" r:id="R55f3294575ac4bdb"/>
    <p:sldId xmlns:r="http://schemas.openxmlformats.org/officeDocument/2006/relationships" id="263" r:id="R4df7a01ec8214ad4"/>
    <p:sldId xmlns:r="http://schemas.openxmlformats.org/officeDocument/2006/relationships" id="264" r:id="Re43ace65c6064a6b"/>
    <p:sldId xmlns:r="http://schemas.openxmlformats.org/officeDocument/2006/relationships" id="265" r:id="Rfe58148b04da417c"/>
    <p:sldId xmlns:r="http://schemas.openxmlformats.org/officeDocument/2006/relationships" id="266" r:id="Re45e5faceae84547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ae883d6a484244" /><Relationship Type="http://schemas.openxmlformats.org/officeDocument/2006/relationships/slideMaster" Target="/ppt/slideMasters/slideMaster1.xml" Id="R414ee3f4ff324504" /><Relationship Type="http://schemas.openxmlformats.org/officeDocument/2006/relationships/notesMaster" Target="/ppt/notesMasters/notesMaster1.xml" Id="Re66f5300f3fe4dc3" /><Relationship Type="http://schemas.openxmlformats.org/officeDocument/2006/relationships/presProps" Target="/ppt/presProps.xml" Id="R18fd4fdc6d2c45bc" /><Relationship Type="http://schemas.openxmlformats.org/officeDocument/2006/relationships/tableStyles" Target="/ppt/tableStyles.xml" Id="R8a8394f4955b4ec2" /><Relationship Type="http://schemas.openxmlformats.org/officeDocument/2006/relationships/slide" Target="/ppt/slides/slide1.xml" Id="Ra7154cadcf604413" /><Relationship Type="http://schemas.openxmlformats.org/officeDocument/2006/relationships/slide" Target="/ppt/slides/slide2.xml" Id="R0d3d0a8e318b4ecf" /><Relationship Type="http://schemas.openxmlformats.org/officeDocument/2006/relationships/slide" Target="/ppt/slides/slide3.xml" Id="R4be7323f13c34f1a" /><Relationship Type="http://schemas.openxmlformats.org/officeDocument/2006/relationships/slide" Target="/ppt/slides/slide4.xml" Id="R317dff6c6d134121" /><Relationship Type="http://schemas.openxmlformats.org/officeDocument/2006/relationships/slide" Target="/ppt/slides/slide5.xml" Id="Rfa1a5dc816e74c8f" /><Relationship Type="http://schemas.openxmlformats.org/officeDocument/2006/relationships/slide" Target="/ppt/slides/slide6.xml" Id="R34753c90bb9a487a" /><Relationship Type="http://schemas.openxmlformats.org/officeDocument/2006/relationships/slide" Target="/ppt/slides/slide7.xml" Id="R55f3294575ac4bdb" /><Relationship Type="http://schemas.openxmlformats.org/officeDocument/2006/relationships/slide" Target="/ppt/slides/slide8.xml" Id="R4df7a01ec8214ad4" /><Relationship Type="http://schemas.openxmlformats.org/officeDocument/2006/relationships/slide" Target="/ppt/slides/slide9.xml" Id="Re43ace65c6064a6b" /><Relationship Type="http://schemas.openxmlformats.org/officeDocument/2006/relationships/slide" Target="/ppt/slides/slide10.xml" Id="Rfe58148b04da417c" /><Relationship Type="http://schemas.openxmlformats.org/officeDocument/2006/relationships/slide" Target="/ppt/slides/slide11.xml" Id="Re45e5faceae845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9142018ac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8823e14e041cd" /><Relationship Type="http://schemas.openxmlformats.org/officeDocument/2006/relationships/notesMaster" Target="/ppt/notesMasters/notesMaster1.xml" Id="Rd20293d7de3244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a052dd42b34586" /><Relationship Type="http://schemas.openxmlformats.org/officeDocument/2006/relationships/notesMaster" Target="/ppt/notesMasters/notesMaster1.xml" Id="Rd2f63253c8ba45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e792b2bdf24eac" /><Relationship Type="http://schemas.openxmlformats.org/officeDocument/2006/relationships/notesMaster" Target="/ppt/notesMasters/notesMaster1.xml" Id="Re085aa9db1d640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89d5f321a94aa1" /><Relationship Type="http://schemas.openxmlformats.org/officeDocument/2006/relationships/notesMaster" Target="/ppt/notesMasters/notesMaster1.xml" Id="R7c622d15ff254a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267891ff044de1" /><Relationship Type="http://schemas.openxmlformats.org/officeDocument/2006/relationships/notesMaster" Target="/ppt/notesMasters/notesMaster1.xml" Id="R9db3a6d69e0c4b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08aa6528a2468c" /><Relationship Type="http://schemas.openxmlformats.org/officeDocument/2006/relationships/notesMaster" Target="/ppt/notesMasters/notesMaster1.xml" Id="Rc74e8699bc5e4c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9d9a24e5584524" /><Relationship Type="http://schemas.openxmlformats.org/officeDocument/2006/relationships/notesMaster" Target="/ppt/notesMasters/notesMaster1.xml" Id="R871e49f0601a4c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ca66bdca734e75" /><Relationship Type="http://schemas.openxmlformats.org/officeDocument/2006/relationships/notesMaster" Target="/ppt/notesMasters/notesMaster1.xml" Id="Rdaf51b1cd54343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f9465c8ae645ee" /><Relationship Type="http://schemas.openxmlformats.org/officeDocument/2006/relationships/notesMaster" Target="/ppt/notesMasters/notesMaster1.xml" Id="R0785f2e53a0140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3af72679da49f7" /><Relationship Type="http://schemas.openxmlformats.org/officeDocument/2006/relationships/notesMaster" Target="/ppt/notesMasters/notesMaster1.xml" Id="R050c7b89ecb944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020a9bae474595" /><Relationship Type="http://schemas.openxmlformats.org/officeDocument/2006/relationships/notesMaster" Target="/ppt/notesMasters/notesMaster1.xml" Id="R2ed83d3e9fa543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적용/mindreport_langgraph_flow.md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적용/mindreport_emotion_scoring_method.md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적용/mindreport_langgraph_flow.md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적용/mbti_system_flow.md</a:t>
            </a:r>
          </a:p>
          <a:p xmlns:a="http://schemas.openxmlformats.org/drawingml/2006/main">
            <a:r>
              <a:t>- app/backend/chat/views.py</a:t>
            </a:r>
          </a:p>
          <a:p xmlns:a="http://schemas.openxmlformats.org/drawingml/2006/main">
            <a:r>
              <a:t>- ai/agents/mbti.py</a:t>
            </a:r>
          </a:p>
          <a:p xmlns:a="http://schemas.openxmlformats.org/drawingml/2006/main">
            <a:r>
              <a:t>- ai/agents/nodes.py</a:t>
            </a:r>
          </a:p>
          <a:p xmlns:a="http://schemas.openxmlformats.org/drawingml/2006/main">
            <a:r>
              <a:t>- app/backend/mbti/services/opening_rules.py</a:t>
            </a:r>
          </a:p>
          <a:p xmlns:a="http://schemas.openxmlformats.org/drawingml/2006/main">
            <a:r>
              <a:t>- app/backend/mbti/services/reports.py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적용/mbti_system_flow.md</a:t>
            </a:r>
          </a:p>
          <a:p xmlns:a="http://schemas.openxmlformats.org/drawingml/2006/main">
            <a:r>
              <a:t>- app/backend/mbti/services/response_scoring.py</a:t>
            </a:r>
          </a:p>
          <a:p xmlns:a="http://schemas.openxmlformats.org/drawingml/2006/main">
            <a:r>
              <a:t>- app/backend/mbti/services/graph_scores.py</a:t>
            </a:r>
          </a:p>
          <a:p xmlns:a="http://schemas.openxmlformats.org/drawingml/2006/main">
            <a:r>
              <a:t>- app/backend/mbti/services/monthly_results.py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app/backend/mbti/services/response_scoring.py</a:t>
            </a:r>
          </a:p>
          <a:p xmlns:a="http://schemas.openxmlformats.org/drawingml/2006/main">
            <a:r>
              <a:t>- app/backend/mbti/services/graph_scores.py</a:t>
            </a:r>
          </a:p>
          <a:p xmlns:a="http://schemas.openxmlformats.org/drawingml/2006/main">
            <a:r>
              <a:t>- app/backend/mbti/services/reports.py</a:t>
            </a:r>
          </a:p>
          <a:p xmlns:a="http://schemas.openxmlformats.org/drawingml/2006/main">
            <a:r>
              <a:t>- app/backend/mbti/constants.py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적용/book_recommendation_system_flow.md</a:t>
            </a:r>
          </a:p>
          <a:p xmlns:a="http://schemas.openxmlformats.org/drawingml/2006/main">
            <a:r>
              <a:t>- app/backend/mybook/agent.py</a:t>
            </a:r>
          </a:p>
          <a:p xmlns:a="http://schemas.openxmlformats.org/drawingml/2006/main">
            <a:r>
              <a:t>- app/backend/mybook/services/profile_service.py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app/backend/mybook/agent.py</a:t>
            </a:r>
          </a:p>
          <a:p xmlns:a="http://schemas.openxmlformats.org/drawingml/2006/main">
            <a:r>
              <a:t>- app/backend/mybook/services/ranking_service.py</a:t>
            </a:r>
          </a:p>
          <a:p xmlns:a="http://schemas.openxmlformats.org/drawingml/2006/main">
            <a:r>
              <a:t>- app/backend/mybook/services/recommendation_service.py</a:t>
            </a:r>
          </a:p>
          <a:p xmlns:a="http://schemas.openxmlformats.org/drawingml/2006/main">
            <a:r>
              <a:t>- app/backend/mybook/constants.py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app/backend/mybook/agent.py</a:t>
            </a:r>
          </a:p>
          <a:p xmlns:a="http://schemas.openxmlformats.org/drawingml/2006/main">
            <a:r>
              <a:t>- app/backend/mybook/services/ranking_service.py</a:t>
            </a:r>
          </a:p>
          <a:p xmlns:a="http://schemas.openxmlformats.org/drawingml/2006/main">
            <a:r>
              <a:t>- app/backend/mybook/services/recommendation_service.py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적용/weather_analysis_system_flow.md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적용/weather_analysis_system_flow.md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330ce87f1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fe9d8ad264203" /><Relationship Type="http://schemas.openxmlformats.org/officeDocument/2006/relationships/slideLayout" Target="/ppt/slideLayouts/slideLayout1.xml" Id="R1c78715a663c4e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78715a663c4e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dca71c1704666" /><Relationship Type="http://schemas.openxmlformats.org/officeDocument/2006/relationships/notesSlide" Target="/ppt/notesSlides/notesSlide1.xml" Id="R5cdfbe2e36ec48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a5350c3cc45e3" /><Relationship Type="http://schemas.openxmlformats.org/officeDocument/2006/relationships/notesSlide" Target="/ppt/notesSlides/notesSlide2.xml" Id="Rce76ab43fbd54e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8eb60bff942c5" /><Relationship Type="http://schemas.openxmlformats.org/officeDocument/2006/relationships/notesSlide" Target="/ppt/notesSlides/notesSlide3.xml" Id="R4019731fa8ff44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e3fe055a0429d" /><Relationship Type="http://schemas.openxmlformats.org/officeDocument/2006/relationships/notesSlide" Target="/ppt/notesSlides/notesSlide4.xml" Id="Rac016c3c112e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3cbe8e6da45c7" /><Relationship Type="http://schemas.openxmlformats.org/officeDocument/2006/relationships/notesSlide" Target="/ppt/notesSlides/notesSlide5.xml" Id="R354a93f9d35a41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af38cf3084946" /><Relationship Type="http://schemas.openxmlformats.org/officeDocument/2006/relationships/notesSlide" Target="/ppt/notesSlides/notesSlide6.xml" Id="Rb634168008d444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d9ffe389b430f" /><Relationship Type="http://schemas.openxmlformats.org/officeDocument/2006/relationships/notesSlide" Target="/ppt/notesSlides/notesSlide7.xml" Id="R19ad20d045fb4f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58114cb5b49bf" /><Relationship Type="http://schemas.openxmlformats.org/officeDocument/2006/relationships/notesSlide" Target="/ppt/notesSlides/notesSlide8.xml" Id="R00cc62b58e8443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cdacba5cb4879" /><Relationship Type="http://schemas.openxmlformats.org/officeDocument/2006/relationships/notesSlide" Target="/ppt/notesSlides/notesSlide9.xml" Id="R17549819c5614d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3aacbc7874651" /><Relationship Type="http://schemas.openxmlformats.org/officeDocument/2006/relationships/notesSlide" Target="/ppt/notesSlides/notesSlide10.xml" Id="R4c2cd247025447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4b42d781749fa" /><Relationship Type="http://schemas.openxmlformats.org/officeDocument/2006/relationships/notesSlide" Target="/ppt/notesSlides/notesSlide11.xml" Id="R94bda2d598a444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BD01F7-7058-4914-8201-536BDCDC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TECHNICAL EVIDENCE · 마음리포트 · 멀티에이전트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12981-70D2-47B3-A885-92E24F1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74E36-D39E-4DAB-A7AC-64E0FE8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522B7-B5D2-4E7E-804D-95659F0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마음리포트의 멀티에이전트 구성과 실행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CDB82-EA05-49B7-AB43-A8649AF1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LangGraph가 하나의 State를 공유하며 분석·생성·검증을 순차적으로 오케스트레이션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A9044-ACC8-4552-BEA1-E162809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9629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3FC9D-7641-48D0-BB75-DC88C845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LangGraph 실행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0E141-D107-47B9-BDB5-5AC56121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54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D606F-8EB6-4B3D-AD04-ADF190F5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9B4E4-87E7-4A0F-A6B0-51D7140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5716A-702A-4CFF-9A37-03A271F4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4C512-3646-4AB9-AA8C-3793BF71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626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6042A-DF5D-4BA8-9EC9-BC07406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210300"/>
            <a:ext cx="3048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AF3A7-C41C-4043-A1BD-8E755B26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AFC9D-BB2F-433C-A388-A35A1D2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2293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1129F-AF42-4791-BA26-2F82ABE2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6484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1B339-C80C-459B-9DB2-D286EA54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B8BED-8698-439A-8E19-3EA0E76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044F4-E53D-449A-9370-86D8827B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기준 에이전트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48F4E-4E69-44CC-A78E-435EE8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collect_and_check_criteria · 사용자 발화만 수집, 주간 5개/월간 20개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33A48-E951-4E9A-9B07-52D56327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9001A-474F-4D33-BD07-6BAEAED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BE1B1-4276-43E6-B4C1-B2A1BB63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에이전트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3CD4E-E52A-456D-92CD-EE93021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score_and_analyze_emotion · KcELECTRA 확률을 일별 점수와 흐름으로 변환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5815A-5A1E-49B2-8859-F3E68846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AF492-4031-43DC-B9C0-4FD02172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A5EF9-F519-4553-AE51-BD4115BB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원인 에이전트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AB3F6-60C3-447D-8EB3-A525CE24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extract_and_classify_causes · 후보 추출 후 원문 근거를 독립 재검토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75862-86C6-4645-965C-9EF54C4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59171-2B4C-40DE-8D60-1B3713D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17F15-497F-4781-9B0E-0D1CD567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서술 에이전트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9A101-32F8-4D6C-BC61-465356C1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generate_narrative_and_actions · 검증된 근거로 분석과 실천 제안 생성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CB63B6-00D3-485A-AD7E-BEAB94D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CA7C66-2AF3-486A-A1CA-694C74E7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B24712-8AB5-4077-94A3-246B6387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검증 에이전트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44725-6DA8-4C2A-B6C2-268F9FF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626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validate_report · 데이터·분석·표현·안전성을 교차 검증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71413-F7BC-48B0-94C7-6406258F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1985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420113-F594-44B0-9811-8A6ED54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198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2725FF-4591-4E62-B989-07457B40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770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정상 출력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5EFCA0-9F10-444B-9724-F926B3F3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70560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format_report · 검증된 State를 프론트엔드 payload로 조립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1F502-343A-4203-9BE3-13F47052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626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5CF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D0CA0D-4C6D-44B7-99A9-22EFF1E2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오류별 재실행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0755E-39B2-4E34-9332-A539679B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007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해당 에이전트만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A0E866-92E6-44BB-9D32-2405465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388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385B51-57C2-419B-8D05-9DE61B3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579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고위험 신호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E7F108-5A70-4F6B-BBE5-02938551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2769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safety_response로 전환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4D6AFF-2CD2-4ED7-A170-A1820A6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5151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3D7CB1-9AE6-4F39-88CD-DE0C4B4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3415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재시도 소진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4AD7EA-FA25-48BA-A8B6-9D8965DF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7532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fallback_report 반환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DD5B94-BE36-4604-9125-1F9EC21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737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공유 Graph State  |  기간·발화·감정 점수·원인 근거·서술·검증 결과를 단계별로 누적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97D277-F91E-4D29-BCC8-A5B5752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4114800" cy="50101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0B074B-EDB9-4994-B094-CA7EBF9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12E736-94C7-4916-80E4-AF550F5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D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0253A5-9E9B-4257-B160-C0727001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어디에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8EB731-93D9-4E27-B95B-56428CFF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판단 성격이 다른 네 단계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56A76D-8B42-4B0F-832E-5962D6AB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분류, 원인 추출·분류, 근거 기반 서술, 최종 검증에 AI를 각각 분리 적용한다.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A477D3-605E-43D9-ADCC-D6A39E65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AFA60E-0C5F-4FB7-83D7-6F6926E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671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어떻게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83E506-BBAB-4722-AC61-40634F6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481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State와 라우터로 협업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445461-ED88-42AA-B06F-7D497597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005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각 에이전트는 앞 단계의 검증된 출력만 이어받고, 검증 결과가 통과·재실행·안전·폴백 경로를 결정한다.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7C7993-445A-49D5-A9EE-A31AB400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3395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F99FB3-5BC6-42ED-B22D-EB8570FA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482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54E673-9F8F-4FFF-AFD5-CEC0685C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292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오류 위치를 좁히고 통제하기 위해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4FB48B-C9D9-4FC1-9BE7-1EEDAF00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365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한 번의 거대 프롬프트보다 역할·출력 계약을 분리해 근거 누락과 표현 오류를 찾고 해당 단계만 다시 생성할 수 있다.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2BF407-9457-4E85-85EC-3590FA3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28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핵심: 생성 능력보다 ‘검증 가능한 협업 구조’에 AI를 배치</a:t>
            </a:r>
          </a:p>
        </p:txBody>
      </p:sp>
    </p:spTree>
    <p:extLst>
      <p:ext uri="{BB962C8B-B14F-4D97-AF65-F5344CB8AC3E}">
        <p14:creationId xmlns:p14="http://schemas.microsoft.com/office/powerpoint/2010/main" val="1616947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9746CE-CAB0-4E1E-99C9-38DE27B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TECHNICAL EVIDENCE · 마음리포트 · 리포트 생성 규칙과 원리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9108A-4E90-46CA-B490-74D8202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4CB0D-0225-4674-B4DF-DA35B69D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2F828-1496-4B5E-AF03-C25EDA63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감정 점수 산정과 시계열 분석 방식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04C71-4E9B-47D5-8CB0-D3BD538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모델은 발화의 감정을 분류하고, 점수·생성 기준·시계열 판정은 서버 규칙이 통제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72DBD-E9D2-42E4-8B70-E5727B1D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9629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29CC6-5B18-47C4-9761-A78D352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감정 점수 생성 과정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E9E0E-0B60-4719-A72B-0FD0AC7A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54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CDB03-2C07-42F6-873E-9396766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0F3EA-1189-4963-9BBE-068CF327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45263-B2B4-4D02-9FCF-C4C389BE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FA8B8-C96F-46A3-AC7A-89C5C10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4D29D-8005-4524-88BF-3D4BCF6C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7220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A41F4-217A-4503-A9DC-1F89BE78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5D7AA-85F3-4170-8FFA-17EF5126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4F39D-FDCE-4E21-A5D3-4D037BAE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분석 대상 확정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86552-75CC-465B-A8D2-209A5E8E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사용자 발화만 포함 · AI 응답 제외 · 주간 5개/월간 20개 이상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0E188-763C-44E7-9114-9BD7258C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CFE71-FD59-430E-ABB1-708AE01E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25A25-DB9E-46D1-9B56-465CAF0C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날짜별 대화 그룹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310F6-1001-49CB-8048-A74FE2D8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같은 날짜의 사용자 발화를 하나의 일별 분석 단위로 구성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4C131-8D4E-4456-BE92-B6B619EE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B3307-2784-49B4-9A1C-829B379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9ED4D-CC7D-4C53-873C-E8981687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KcELECTRA 감정 분류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26AF1-F4EB-4695-B5B8-B657FF06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각 발화를 기쁨·일반·슬픔·분노의 확률로 출력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757E8-2C27-445B-AEFA-184764E9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40AB1-4392-463D-ADF8-B981A5E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E4B40-D976-4911-8533-A010FD50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일별 확률 평균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BB378-71DD-4390-BF68-C26BE45C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발화별 확률을 평균하고 가장 높은 감정을 대표 라벨로 보존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000E2-92EE-4674-9DC4-30065017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F222C-0EE3-49F3-82C9-700D034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33E9FF-EA72-4FCC-AB51-E7B8AE3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0~100 점수 환산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1C594-1D04-41B3-86D9-5CA435A0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기쁨×100 + 일반×50 + 슬픔×25 + 분노×0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B319E-0C1A-47F8-B4D6-CBC08522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627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5DC01-9581-423B-8630-2BDCE9C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627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A2C36E-6C57-4D6C-A38E-11A0003E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198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시계열 판정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DB4046-0181-4DE1-9D81-5E6AA68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84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서로 다른 기록일 3일 이상일 때 상승·하락·변동·유지 판정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A65ACD-21F1-484E-8171-EF16440F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1790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D5CF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47714B-FA0F-42CF-9118-4482222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점수 상태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922B68-D4D9-4AE0-AEA0-2FFA676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&gt; 55  positive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45~55  neutral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&lt; 45  negative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DC5EEF-AAC5-4873-89C2-500A718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790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135569-22A3-4194-BC84-E31DDC9B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81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흐름 규칙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33B57F-4DE8-4DA4-A2F3-94F7DF3E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5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상승/하락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전후 평균 ±8 또는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첫날·마지막 날 ±12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변동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표준편차 16 + 방향 전환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BF5280-0D73-4EE0-B93D-4533C2C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4114800" cy="50101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21911-B2A9-4C84-9314-3807FBD0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4DD69A-FC83-4D80-A35F-4CB5A89D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D7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7A371E-A20B-4E47-806E-6BED9DFB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EB61B3-43EB-4B05-A3D6-57AAEBD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자유 발화를 확률로 구조화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38F28D-633E-452C-AD60-B44611EC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파인튜닝된 KcELECTRA가 자연어 발화를 네 감정 확률로 분류한다. 대표 라벨과 점수 상태는 별도로 보존한다.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1224CB-4EF2-4732-97BA-C7C7ED5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E09ECC-4EF9-41E6-BD12-95427122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규칙 역할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0EE915-0582-466F-B309-6FC8B8F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433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비교 가능한 점수와 흐름 생성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CF3DAE-1CD4-46C5-B145-3BFDF956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365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확률 가중합, 데이터 충족 기준, 추세 임계값은 서버의 결정론적 제품 규칙으로 계산한다.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A8F00F-8E64-48EC-9296-BC010C27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C9FFB5-35FE-48CD-ADB7-E97C411F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DA087D-A64D-47F0-ABAE-8D63508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적은 데이터의 추세 단정 방지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D1DDDD-1DEC-48A6-9DCC-4329781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365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3일 미만이면 ‘흐름 근거 부족’으로 처리한다. 점수는 진단·위험도·치료 효과 평가가 아닌 날짜 간 비교 지표다.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5F305C-3FD6-4A31-9F64-BD796A2E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42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모델의 분류 + 명시된 계산 규칙 = 재현 가능한 감정 흐름</a:t>
            </a:r>
          </a:p>
        </p:txBody>
      </p:sp>
    </p:spTree>
    <p:extLst>
      <p:ext uri="{BB962C8B-B14F-4D97-AF65-F5344CB8AC3E}">
        <p14:creationId xmlns:p14="http://schemas.microsoft.com/office/powerpoint/2010/main" val="1626481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891F94-85B3-4FE8-A963-061A03F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TECHNICAL EVIDENCE · 마음리포트 · 리포트 생성 규칙과 원리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B1285-A8F5-4D07-8AA0-9B16176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276DA-0A3B-4C93-81E4-9AE4E81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40C89-76CC-4F09-B10F-C3F90502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원인 근거 검증과 리포트 생성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0045E-4B23-42CD-A912-78F079F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후보 추출과 독립 분류를 분리해 원문 근거를 재검토하고, 검증 실패는 해당 단계로 되돌림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BA905-21FD-4E5D-ABA9-481D3957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9629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B0C56-2C6E-4CC9-92C0-E2E1F70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원인 근거부터 최종 payload까지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59DCA-3649-4D12-80AB-33154B2A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54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BB2EF-5577-49BE-BDEA-A75A90AB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E1F35-B0C0-4774-93AD-B3055F2C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87A05-32A7-4171-A097-8DDDC0D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5295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8A421-C509-4078-9F8E-29487F9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53C20-4127-4A48-AA6D-E20FA7CC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6265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D4162-6A32-4176-9B5E-43366B7A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1588A-7C2E-4C15-9FF5-B7DE8EC3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26218-D681-4422-BB95-8E1102D2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932AA-8278-4A38-8673-AA1DD376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84E45-E384-46EE-A02F-2F3D28CC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원본 대화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CA73E-3F08-4BE9-A58E-438803B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기간 내 사용자 발화와 감정 흐름을 원인 분석 입력으로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EB8FB-CAF9-487A-9DAE-67CDC14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6E0B2-15D0-4A02-B97A-2C04CC9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748D8-E9EA-4431-8FD1-D2C9CBBF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후보 추출 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F1B7B-F7E0-47DC-98FF-9AC93324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명시적 인과·반복 연관·전후 변화가 있는 원인 후보를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26529-9425-42BF-8A26-B54E4296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309DD-A827-4024-93CD-3CC43414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4BFA-E447-47B0-AF3E-6933BD5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독립 분류 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7D1EC0-6970-45D0-8347-6EE1F89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후보별 원문 메시지를 다시 확인해 stress·relief·unresolved로 분류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C99FB8-B1F1-4492-B7A9-BB493D4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3A9C7-ED03-4CE3-82AF-0B06EA16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65D4CE-5913-49E7-9D3A-472AE91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게시 가능 근거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C9486-85CE-453B-ABAD-EF87275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publishable=true인 stress·relief만 서술 생성 입력으로 전달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02623B-1F8D-4FCD-9FBE-29BA99AF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EF3DC-35E9-4519-85B1-1B332FF9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2A291A-411D-43C5-8E66-B309D8A6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서술 생성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2ECF5-E7ED-440A-A468-CD0D80F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짧은 제목·한 문장 요약·근거 분석 3개 이상·실천 대안 생성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E2BD4-CCA9-4CBA-9DBD-4381CE0F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8778CB-7B6E-478C-BAFD-FE757B3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E366B8-27BA-4D80-B847-3897D66D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검증 후 조립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DB3EB7-875F-47ED-92AB-97825C1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데이터·분석·안전성 통과 후 format_report로 최종 payload 생성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40216-3EB1-4A45-A0FA-4A00EADB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ED764-E0DE-4A54-B351-98754432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근거 없음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5012E2-92B0-4821-9480-6BFF3AAC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4337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no_supported_causes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빈 배열 + 안내 문구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4DB01-403E-4EF4-ABE6-67C1535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1866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D5CF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5E49D6-85B5-408F-B063-06BE52CC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서술 제한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E2737-2FA9-4404-BA8F-C8D9B01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35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점수·내부 상태·직접 인용은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화면에 노출하지 않음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158E23-8C5A-484C-80BF-434AD04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4114800" cy="50101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C96A9E-0EA5-42BC-ABC7-CDCD0BCB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A1E5C4-B01D-4B07-9A56-15112754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D7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70BA7B-EC7F-4BC3-9B3C-8E8073C8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E75ABA-40B7-4436-9CF0-A202278C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추출·교차분류·서술 생성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F53737-7D75-4497-AB01-D3B1BE2E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한 모델의 첫 판단을 그대로 쓰지 않고, 후보 추출과 원문 재분류를 분리한 뒤 검증된 근거로만 분석 문장을 만든다.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C0E1D9-32A3-4E25-8738-869735D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862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A1F324-FB54-4FFD-B362-2618892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생성 계약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F48C98-902A-4D08-ADC0-EC9F1390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814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근거·분량·실행 가능성 통제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030065-0A02-45A8-A6E0-C0A7140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 기반 분석 3개 이상과 ‘이유+시작 방법’이 있는 행동 제안을 요구하며, 직접 인용과 내부 점수는 제외한다.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7BA4AE-E632-452D-A372-30A81E2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054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761C7B-DA1C-4AF7-99F2-74E054DE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실패 처리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BD29A4-6FED-49A8-A2F3-F3AF254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2006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없는 원인은 만들지 않음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BAC1C8-B20A-42E1-8431-D33A13C6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62600"/>
            <a:ext cx="365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근거가 없으면 빈 원인 배열과 안내 문구를 반환한다. 오류는 원인·서술 등 해당 에이전트만 재실행하고, 고위험은 안전 응답으로 전환한다.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D5AF8F-0D76-4951-88C0-5EB5D8A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3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최종 출력: 제목·요약·감정 흐름·검증된 원인·분석·실천 대안</a:t>
            </a:r>
          </a:p>
        </p:txBody>
      </p:sp>
    </p:spTree>
    <p:extLst>
      <p:ext uri="{BB962C8B-B14F-4D97-AF65-F5344CB8AC3E}">
        <p14:creationId xmlns:p14="http://schemas.microsoft.com/office/powerpoint/2010/main" val="2011701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4FB84E-2D69-40FA-893D-8E09315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TECHNICAL EVIDENCE · MBTI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419F1-14F5-4A3F-8C90-05FD0C9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F342E-A288-40FC-9C9D-D624BF8F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6D33E-C30B-48BF-8F6E-241E799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대화 기록에서 월간 성향으로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CC528-0E52-4195-A978-C425BF51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대화 중 별도 규칙으로 제시된 전용 MBTI 질문과 답변을 DB에 저장해 월간 분석에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EB090-A169-491D-90E8-FB52A6D5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C55CD-7588-4AEC-9AE0-D65AF017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서비스 안에서의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14EEC-FECA-4953-8E47-80D1EE8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9B22E-0E13-4AA4-A863-004CDA05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B88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C49E2-3D53-4389-8D67-D94521D6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전용 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49BEB-8779-4EE8-A4F9-DE3D494F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대화 흐름에 맞춰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자연스럽게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3140F-A96E-42F6-BBFF-7E823E8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56BC6-B9B5-4840-BBBA-B1C0B36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D4FA"/>
          </a:solidFill>
          <a:ln xmlns:a="http://schemas.openxmlformats.org/drawingml/2006/main" w="17145">
            <a:solidFill>
              <a:srgbClr val="B88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57294-16B2-4459-870A-67F4789B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DB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0CFEB-327A-4CEA-800B-F0C7BA92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질문·답변과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대상 축을 함께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B55D6-D796-4CA5-A087-991DD5EA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05A1F-F38B-45EF-A813-DC9B867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B88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397D3-DF61-4FD9-BE0D-5D65C44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월간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EFE91-E31C-4F54-B9E9-6F1A94AF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저장된 Q&amp;A로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성향 근거와 변화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6D4E2-0987-4BCA-BE31-7BDC436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서비스 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A176E-8691-418B-A061-94B99100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915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대화의 자연스러움은 유지하고, 월간 결과에는 실제 질문·답변 근거를 남김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BEECA-3857-4F26-B18B-DC45C5D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A5C41-33B3-4859-B953-D6A5D7C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기능의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DF826-5A6A-49C2-9626-AEA5FC19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531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챗봇에서 축적한 전용 Q&amp;A를 마이페이지의 월간 성향 분석과 근거 리포트에 연결한다.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324B3-6201-4A57-AC1D-71C89427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0B2EA-D4E8-4115-8434-AD3C8F1E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4363F-0E67-4699-83AA-AB32AD7C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70FB2-3A50-4BA3-A3FB-16D31FF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필요성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6D0A4-9E5D-4C25-83E1-BA8240D7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검사 부담을 낮춘 근거 수집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89BBF-B507-4715-ACDE-05163EB3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정형 검사지를 반복하지 않아도 대화 흐름 속 짧은 질문으로 성향 근거를 자연스럽게 축적할 수 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9C2923-2538-4CB0-B146-57A5A6C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9F654-7908-4550-BBE4-99E3F0FD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F2B2C-BF93-46E5-AEA5-3DCA807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전용 질문·답변만 DB 저장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D32A3-598F-4C73-82E8-A821AF4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일반 대화 전체를 분석하지 않는다. 별도 규칙에 따라 제시된 MBTI 질문과 실제 답변을 축 정보와 함께 저장하고 그 Q&amp;A만 사용한다.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774D1-F425-407A-B373-A6BE8CC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054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9DDC4B-3DFB-435B-BBE2-00B58D3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19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4478B6-F705-455D-A742-541F66E2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006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질문 표현·답변 채점·리포트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1D11B8-C119-4DFA-8EB4-51F58B9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626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질문을 대화에 어울리게 표현하고, 저장된 답변의 의미를 채점한 뒤 대표 근거를 월간 설명으로 정리한다.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1428AC-F184-49AB-8924-2F6C83B9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04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일반 대화가 아니라 DB에 저장된 전용 MBTI 질문·답변만 분석 근거로 사용</a:t>
            </a:r>
          </a:p>
        </p:txBody>
      </p:sp>
    </p:spTree>
    <p:extLst>
      <p:ext uri="{BB962C8B-B14F-4D97-AF65-F5344CB8AC3E}">
        <p14:creationId xmlns:p14="http://schemas.microsoft.com/office/powerpoint/2010/main" val="960671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F4DEBB-2CEE-4883-9381-6769E52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TECHNICAL EVIDENCE · MBTI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941F-5910-4FBF-82E0-1CF5365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CEE3E-3C00-45F3-B7AD-A85234CB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041D9-5C48-4CD5-A8BA-30B107E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월간 MBTI 분석은 어떻게 진행되는가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765AC-F881-474F-ACE5-DFAAE2FE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대화 중 생성·저장된 전용 MBTI Q&amp;A의 답변 수와 유효 채점을 확인한 뒤 개방된 축만 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B76FD-B4FF-44B1-BE07-3BD44BC2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E75B4-6A0E-4817-8925-3C4CED84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월간 성향 추론 프로세스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F22B9-D175-4BB2-A0CE-BB0775D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7D5CD-B264-4F13-B0D6-98CA6564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0E088-F990-4A99-8D27-72178E01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433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5FF98-7648-4B84-8160-E3B9325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482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070E6-8BE2-4652-B0BD-F5079114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46B7A-4F76-4594-8D60-0D73BA07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579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30A49-E231-474A-8D99-A27E799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8D613-8D71-441A-BDA3-48CE097D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4CB73-5879-4696-8736-3BE38119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전용 Q&amp;A·기준값 로드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DBEAD-A5C8-4458-B383-A35C93B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DB에 저장된 이번 달 MBTI 질문·답변을 축별로 묶고 이전 달 결과·온보딩 MBTI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48D78-BB47-44BB-9487-59CF4304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AD091-2F90-4235-B81D-C1905D72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85C7A-C6EB-428E-9313-E4FE59C5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1차 개방: 답변 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718F0-E3FD-4BD5-8A48-FD814EEC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IE·SN·TF·JP 각 축의 Q&amp;A가 5개 이상일 때만 AI 채점 대상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D6DD8-7FC1-4CD0-B5DF-753905A7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DA175-7A66-456A-904B-3E4F526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FE756-A0C0-487E-A13E-43A44520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LLM 의미 채점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7A008-8D90-4329-B0FD-5BBC2FB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GPT-5.4-mini가 유효 답변을 {-1, -0.5, 0, +0.5, +1}로 코딩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2D6FE-316F-4776-9E14-9908D025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A7BD9-CC03-4928-96E7-7F3A7243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7FEBA-1192-405D-B003-1FBC0DFA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2차 개방·비율 계산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87631-DD1F-4DCE-96C0-181686A3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유효 점수 1개 이상인 축의 평균을 구해 양쪽 선호 비율로 변환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3973F-5760-4F04-8BCF-9AE4FBB7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80CA6-BD8F-489C-83E0-CF0E432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38A91-FF15-4682-936A-EEB3543F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유형·대표 근거 확정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2C058-3F5C-4817-A666-5F100F65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동률/미개방 축은 이전 달→온보딩 순 유지 · 축별 대표 근거 최대 2개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F5A362-E373-4EBB-88B9-4E60C06F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5E332F-244A-440E-BAED-135FD490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EB9EFD-A1FE-45F6-A844-A3873F9E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월간 성향 리포트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8CF6EC-759D-47EB-9217-45E55483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성향 근거의 변화와 최종 유형의 일반적 특징을 3개 섹션으로 작성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5F6C74-7528-4A0F-9EBA-86F9E4D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35F05A-1E28-4BAF-8D1F-04E717D3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축 방향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5E9159-E85A-446F-AFDE-6BC5823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음수: I·N·F·P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양수: E·S·T·J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0: 중립/혼합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234A0-BD2B-4DF6-A951-E0D372B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기준값 우선순위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이전 달 → 온보딩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95FD03-7BA8-4890-A2A0-B925B765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62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정확히 50:50이면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기준값 방향 유지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5DDEA8-BFBD-453D-8508-FC846E98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209159-5632-4A7E-A986-F8CD12E2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CAAFE0-4E52-4D75-B359-3078EDF1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D789D7-A74C-4CD1-95EC-0DA12911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채점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5D1CC4-1287-4A7D-A4A9-3CA575D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답변 의미를 5단계로 코딩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9644E0-9D7E-4C18-B5E5-1D7A0BE2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문맥이 충분한 답변만 축 방향과 강도로 변환한다. 판단할 수 없는 답변은 null로 두어 평균에서 제외한다.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35B347-0966-4D32-B4CC-000562C0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FEE521-72ED-4CE7-B228-E41E965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규칙 계산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AB5981-8BBB-40ED-9BED-7DC187F1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평균을 양쪽 선호 비율로 변환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173806-EA49-4524-A6B0-93EB0CFA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 평균이 a이면 양수 쪽 비율은 (a+1)/2, 음수 쪽은 1-양수 비율이다. 더 큰 쪽 문자가 월간 유형에 반영된다.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8CD5C5-D9AA-411B-828B-35A0C785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6B1A42-62F7-4F99-857A-8D3349A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387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안정 장치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914106-E971-48BD-A716-C69C2E21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근거 부족과 동률은 유지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B88D09-5A1F-4772-A2AB-251D1070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축별 답변 5개 또는 유효 점수 1개 조건을 통과하지 못하면 새 유형을 만들지 않는다. 정확한 동률도 기준값을 따른다.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82505E-6770-4F86-917D-17B94644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68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이번 달 답변이 충분한 축만 갱신하고, 나머지는 이전 결과를 이어 간다</a:t>
            </a:r>
          </a:p>
        </p:txBody>
      </p:sp>
    </p:spTree>
    <p:extLst>
      <p:ext uri="{BB962C8B-B14F-4D97-AF65-F5344CB8AC3E}">
        <p14:creationId xmlns:p14="http://schemas.microsoft.com/office/powerpoint/2010/main" val="505587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BE27F-59DF-4F1A-A0A9-60329DED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TECHNICAL EVIDENCE · MBTI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F6046-A9BD-4D65-9206-6464B300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2B066-2FAE-475A-A8C9-83D5D73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1B654-98AF-4D17-915E-19619073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점수와 리포트는 어떤 근거로 만들어지는가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93B5A-89A3-42BA-B0FE-2CC1403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축별 수치 계산, 대표 답변 선택, 최종 리포트의 세 부분을 분리해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2C3A4-4FA0-4ED8-BC01-D72B07C9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905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6756-46F7-4D22-8CD0-908AB39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점수 산정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76C96-C3EF-45B3-8678-84FED738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2B575-000D-4910-ACCF-3FCB2286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2ED27-F4A8-46CC-8026-BABBD3F6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2415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-1.0  ←  답변 의미  →  +1.0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03DEB-B258-4731-968E-1CA3258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40F8E-7B4C-45C0-8E87-70884E6E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I 내향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4E54C-6D5D-4EF1-975E-02818E48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051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16F68-E71A-4507-90A2-95EED31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E 외향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0E086-8C80-4B09-8A6F-F791E52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SN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5A55D-D951-4FE9-AFA2-F40D88DC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N 직관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A415D-F4CC-4DA0-97D9-7A3AE39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623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3C15F-F2B1-4CEB-9EC4-E38EA3A4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S 감각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8E79A-FAB7-4813-A86F-2D1596B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TF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63667-4C03-4511-ABA0-C05FC05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F 감정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07CF3-3989-4E1E-AF26-02BA06A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195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8C0B0-932A-4960-9802-CD02B8AE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T 사고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A1690-9A11-4EE9-83A5-C7500E5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JP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B8AB4-3198-42B3-8A1B-99BB9B9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4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P 인식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AABEC-A959-4A23-9F79-24E8F22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767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AEC97-F886-4A78-B8CD-C55FAB6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J 판단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3700C-9D3D-452D-A8CF-EAB7199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52006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92516-B567-45DB-B270-15FA3663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 평균 a = 유효 답변 점수의 평균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D3F88C-5D2B-45FD-B366-43D75A22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양수 비율 = (a + 1) ÷ 2  ·  음수 비율 = 1 − 양수 비율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A0C45-1726-4707-88C7-3F27F72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53150"/>
            <a:ext cx="520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사용 점수: -1.0 · -0.5 · 0 · +0.5 · +1.0   |   판단 불가: null(계산 제외)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0AFCF0-B56D-4537-8337-A4B3C57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61722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71810A-4DA9-4A11-B2AF-61FC8B3C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대표 근거와 리포트 구성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DADE3-04AF-442F-BA1D-510316D3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C0063-93AA-46C2-96D8-4FB5B21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대표 답변 선택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C8FD2-4EFE-42F7-B5DA-151AB11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2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최종 문자와 같은 방향의 이번 달 유효 답변만 사용 · 축별 최대 2개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우선순위: 점수 변화에 직접 기여한 답변 → 변화 폭/강도가 큰 답변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EF84F-72D5-4084-9D59-F382C3DD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9B4865-FFC3-4FED-9BD8-52EA553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4924BD-3BB8-4E52-8158-6E106931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025E61-8E5A-4928-986B-BEF64141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성향 근거의 변화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2ECBD-314B-443A-B0F7-8073540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실제로 달라진 축과 비율 변화를 설명하고, 변화가 없으면 안정적으로 유지됐음을 표시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19F87E-79FD-41C5-AD60-B16DBA56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2017D2-0F82-41A5-A6B4-0076C88D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24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3A8814-9DA9-4EE5-8DDB-BB95D32E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대표 답변 근거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CC139F-85C3-4811-A552-658FDD8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변화를 만든 대표 Q&amp;A를 설명하고, 변화 근거가 없으면 현재 방향을 뒷받침하는 답변을 제시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D60B2C-845C-441C-91D5-501AB1A9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91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7902E8-4625-4029-874D-4FCD145C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5770F1-615B-48EF-A548-12F08ADC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최종 유형의 특징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1B40B9-4FB0-417C-B585-BF5E23D2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확정된 4자 유형의 일반적 특징만 정리하며 점수·변화·근거 해석은 섞지 않음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B366BC-9096-4124-9889-A7653287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00800"/>
            <a:ext cx="556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3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리포트 원칙: 실제 답변에 없는 변화는 만들지 않고, 성격을 고정적으로 단정하지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2047989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17EE2A-BB0C-49F0-A4FE-B697189C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TECHNICAL EVIDENCE · AI 도서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5644-1ED4-4A43-A0A2-875D4DC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89E3B-48D0-4E97-A08E-6AAC1CD4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FBA20-12BB-4530-A80B-9CF4E857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감정과 관심사를 실제 책으로 연결하기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F846C-9266-4674-88BD-90B3284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대화에서 파악한 오늘의 상태와 프로필을 읽을거리라는 구체적인 다음 행동으로 전환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DE5E9-5BA2-426E-9F8B-CB3EDF7C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A376C-936F-4468-922C-65068C55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서비스 안에서의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9C31D-CE6A-43B0-B06E-CA3A5BF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7DAD-3FDB-4106-99CC-B1601A1D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F7B9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E4B7D-2EC0-4B98-A263-75F6023C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사용자 맥락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A3F5B-EAAA-43F5-BCB5-97356D5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시간가중 당일 감정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 · 취미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0B380-CE49-4640-9015-306C454B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8018A-AA8C-40DB-8C21-8BC72D2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E4B5"/>
          </a:solidFill>
          <a:ln xmlns:a="http://schemas.openxmlformats.org/drawingml/2006/main" w="17145">
            <a:solidFill>
              <a:srgbClr val="F7B9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BE3AD-1C39-433F-AD60-77ADC721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독서 의도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191FF-CC52-4F74-8956-8C795D4F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유지/환기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지식 확장 · 취미 활용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0312F-B23B-4016-9A36-56B2769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0C215-02A9-450F-B6FF-61B9E0A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F7B9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ED31F-4F9A-46B0-8CED-B1E2B3F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실제 도서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03F3C-6E15-4480-8F23-72BB5586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Kakao 후보 3권과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개인화 추천 서평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AE327-E595-46C6-9215-515F4CC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서비스 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31A4C-BE52-4A5D-AEDF-38D38435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915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현재 감정에는 읽기 경험을, 관심사에는 탐구를, 취미에는 실제 활용을 제안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C8D70-CC63-4F9A-9F0E-A1A48B3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D6DF1-AB87-4405-9554-A218CC1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기능의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64928-6D7A-4D21-8ACC-A933DD70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531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마이페이지에서 하루 단위 추천을 제공해 자기이해를 생활 속 선택으로 연결한다. 프로필이 바뀌면 관련 테마만 다시 생성한다.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8C958-D3D5-4DAD-89C7-790CBC5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CA533-10B7-4003-AD80-BA5CB11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706A0-73A5-4F52-BAC5-F70EFA12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9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BD66F-627B-4661-AC7F-ADD4266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필요성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E81FF-04C5-4D19-97B5-B837BFF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분석 다음의 실천 선택지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71728-EA16-4FE4-9DBF-FD94813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감정과 취향을 보여 주는 데서 끝나지 않고, 사용자가 바로 꺼내 볼 수 있는 실제 책을 다음 행동으로 제안한다.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EF007-606B-44DC-8867-1355D908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C8789-FF21-4FD8-BF33-C34732F6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0B95EE-89F6-437C-AF77-820B1C3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세 가지 추천 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B3B302-209A-4FB8-AAA1-CFAE396D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최근 대화의 시간가중 감정, 프로필 관심사, 프로필 취미를 각각 독립 테마로 사용한다. 관심사·취미는 한 회차에 한 주제를 고정한다.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17B55F-3A08-4842-B5D8-5E9124E2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B4D505-655A-41D2-86F1-1B90295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387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8AAE0-E674-41C9-A62D-05AD84C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검색 의도·후보 비교·서평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06EFD1-699E-4681-8ADF-E6146EF3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서점 검색어를 설계하고 검증된 후보 안에서 1권을 비교 선택한 뒤, 실제 책 소개를 근거로 추천 서평을 작성한다.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56F0FE-155F-43F4-A6A0-466E5240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AI는 책을 만들어 내지 않고, Kakao가 반환한 실제 candidate_id 안에서만 선택</a:t>
            </a:r>
          </a:p>
        </p:txBody>
      </p:sp>
    </p:spTree>
    <p:extLst>
      <p:ext uri="{BB962C8B-B14F-4D97-AF65-F5344CB8AC3E}">
        <p14:creationId xmlns:p14="http://schemas.microsoft.com/office/powerpoint/2010/main" val="1197612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79D065-0BA6-4489-AA64-0456B4AA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TECHNICAL EVIDENCE · AI 도서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49F35-15E4-4472-86AD-8A79962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F03B1-D48E-4312-B7C3-C49E1FDE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776AB-F07A-46C3-AA3F-D2B49729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검색어에서 실제 도서 후보까지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93457-1416-46C1-8C9C-9CBC0627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검색 의도 생성과 서지 후보 검증을 분리해, 주제 이탈과 가짜 책 생성을 함께 통제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1D802-5DB0-464B-99DA-716A3383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FEF1A-2B4C-4CBD-BDC1-D929D63A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개인화 검색·후보 구성 프로세스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14E22-01E6-4528-8CC2-2E18007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2F647-A5B9-4DD5-853E-A9DCEE3F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DE432-16D0-4381-9867-95FB01BF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433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38DCE-FD7E-46BF-BA8B-4A061485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281D-3134-4F5E-B3A7-A09E60C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530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81709-C8A4-41C0-8F78-C6D4AD9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0579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68434-0BC4-43C7-A70D-79621640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BFFD1-1F5C-402F-A631-E6B583EB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FDD8E-C4BF-4E88-A322-3274F1E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세 테마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B48E4-81C4-44A5-85BA-8F024273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당일 감정 · 관심사 · 취미를 서로 다른 추천 목적과 검색 흐름으로 구성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8C950-9F1E-45BE-B556-81830549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818B2-3534-469D-9A53-2313B1CE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75B24-2C31-4616-9EB6-1869D8B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LLM 검색 의도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18193-0044-4BFB-A3F4-A4191EF3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selected_basis · keyword · search_terms · content_terms · reason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BB19B-8FE8-446E-A355-64725C11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50F27-4CDF-46E6-AD8D-EE5CDC8D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0F873-3497-4BB6-B99A-2BF2FB8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주제 앵커링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6F52A-616C-4B6A-BF14-1A4135E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관심사/취미 원문을 keyword 첫 부분과 핵심어에 유지해 일반적인 ‘힐링’으로 이탈 방지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DA3AA-D413-42CA-9EEC-913629A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111DD8-E7FE-4131-9245-A052A780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D9686-860A-41D0-AB33-6D0CFC7B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Kakao 다중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CED68-0DAE-4451-8B1B-71AA8FD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1~4어절 검색어를 독립 호출하고 제목·소개·저자·출판사·ISBN 등 실서지 수집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5563B-683A-4622-BBE4-F7C46B54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C6C296-3777-4F4E-8EB2-2261FA6B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AE139-8185-4044-B408-63C1785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규칙 필터·사전 랭킹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7E0E7-6255-4B07-8C28-C0775E56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유해/비도서/문제집 마커 제거 · ISBN 중복/최근 이력 제외 · 주제 직접 일치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30C828-D048-45DB-818F-8A53DA06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44760-C06C-4ACA-8A97-482FA19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C38F5-9ABB-45CF-94A0-FCE2A3F9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상위 후보 최대 8권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E3E42-6AFD-4BE2-8D33-4A0A7FD0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검색 순위·제목/소개 일치·서지 완결성·출간 연도를 반영해 AI 비교 후보 확정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04DE3F-9829-4688-9BF8-AAC7C7A7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1295400" cy="13716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407E99-1CDF-4786-BEBB-37D047E7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71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검색어 산출물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D79CE7-65A5-42CF-83AF-68D000F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1104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대표 의도 1개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독립 검색어 3~4개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본문 핵심어 2~4개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38BB32-FD46-4BA6-8B29-3A82B36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1295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E4B5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F26EFE-8836-4B9B-8263-142667F4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67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중복 제어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6FA834-7676-4B69-85AE-DE945E7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110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793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최근 유효 추천 이력의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테마별 ISBN을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최대 12개까지 제외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18550A-82F1-4A37-9904-6287A047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AF9997-895B-460F-B2F8-1B26A41B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F1214F-2F9E-4715-88C5-B1D7B76B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95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F82A0B-B6EC-4FC5-B14B-C4097918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검색어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0B3F66-42B5-4E09-BFFC-1A2E832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주제 하나를 검색 가능한 관점으로 확장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6B95E5-0E89-4C82-BBEF-169FFB70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관심사·취미는 선택 주제 원문을 보존하면서 실용·입문·역사·비평·기술 등 서로 다른 탐색 관점으로 구체화한다.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884C8A-E85C-4061-8289-38261660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33BFE6-3E71-4E5B-8DCE-1A1F1B6F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195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규칙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AEA763-6B27-4528-A8DB-D0441DFA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감정 이름이 아닌 독서 목적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BAE727-BE22-4B0B-8E33-DA5594A1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긍정 감정은 유지·심화, 무거운 감정은 환기·완화를 목표로 한다. 감정 단어 자체나 마음 분석·진단 표현은 검색어에서 제거한다.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EE59F5-E98E-4D40-B6CA-4643C0A0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FE6288-14F9-4B15-8852-3E6A42E6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959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후보 규칙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927902-F8E9-4483-9C06-5747A7E3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768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검색 결과보다 내용 직접 일치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7AC5B5-2AF7-4E99-BC03-7FD1CE1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3880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관심사·취미는 선택 주제 또는 직접 동의어가 제목이나 책 소개에서 확인되는 후보만 남긴다. 검색 결과에 함께 나왔다는 이유만으로 통과시키지 않는다.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432A9C-B7CA-4B97-B8AE-ED3FC31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7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검색어는 AI가 설계하지만, 후보의 존재와 서지정보는 Kakao API가 확정한다</a:t>
            </a:r>
          </a:p>
        </p:txBody>
      </p:sp>
    </p:spTree>
    <p:extLst>
      <p:ext uri="{BB962C8B-B14F-4D97-AF65-F5344CB8AC3E}">
        <p14:creationId xmlns:p14="http://schemas.microsoft.com/office/powerpoint/2010/main" val="943239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9C878C-CC2C-417C-9834-C25B76EE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TECHNICAL EVIDENCE · AI 도서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086D-78EB-45D4-9284-DBB630CD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F1E5A-060E-4C34-ACE3-3039084C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9A841-36A9-41D9-BDC8-97C13898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후보 중 한 권은 어떤 기준으로 선택되는가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E27EE-B25E-4350-8CD6-DC0E1374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규칙 기반 후보 축소 뒤, AI가 테마 목적과 전체 서지정보를 비교해 candidate_id 하나를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4AB6A-3F52-435B-AFFC-53B01C9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905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59B9B-6933-4BEC-9E38-8CCB9D57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규칙 기반 사전 랭킹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156F-FF14-454B-8381-0A5FF2E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F08FE-80A7-4BFD-B3E4-41B96C4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검색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445EC-CD71-45C0-8ECF-2ABBD971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670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먼저 설계된 검색어와 API 상위 결과일수록 기본점수 부여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A5DB8-BF1C-4EDD-B7C5-3492F940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3D428-7CF6-4A75-AEBA-8F8A749B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내용 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E65DB-578A-445A-91D1-F50A6CA3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099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키워드가 제목(+9)·책 소개(+5)·저자/출판사(+1.5)에 나타나면 가산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8D6E7-40DC-4DB2-9822-542B605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2FE72-5CEC-42C7-A8C7-1B908B20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서지 완결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8A9F8-5ADE-4AC7-A3E0-53A7D925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529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책 소개·ISBN·표지·정상 판매상태가 있으면 가산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0DF7F-4489-4F1E-8BB1-606B57BF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1D683-597F-41ED-8B0B-1ABFCC69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출간 시점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B5988-0D89-4760-8D35-29D694CE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최근 출간 도서에 소폭 가산하되 최신성만으로 선택하지 않음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3299E-A0BA-4A7C-A6E9-10156F8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F7E88-ABF0-4A65-906F-4C9687FA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제외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DE69B-8916-44B4-90B3-9E37AFAB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유해 가능성, 비도서/문제집 마커, 최근 추천 ISBN, 관심사·취미 직접 불일치 제거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BE333-2D77-481B-B835-3403A5B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520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결과: 규칙을 통과한 개인화 상위 후보 최대 8권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1BE5D-8650-4D6C-89C7-DDEDCE5F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61722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D4C8F-8B6C-4BB7-90B7-FA3CF8E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AI 최종 선택과 설명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FC841-6DD8-4758-9CA5-E2071358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CFC0D-9A70-45AF-8135-40B46899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비교 정보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B2D1F-ADFE-4C35-AF92-EACEDFD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417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책 소개 · 저자/번역자 · 출판사 · 출간일 · 판매상태 · ISBN · 일치 검색어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6FE83-0C6C-416E-A50B-3E53108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9565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9FBB7-707B-46F6-AA5C-5D9FCAFE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767BF-4A8D-4EF2-A758-C7BC6D7D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D18F4-3EA2-4A26-8874-F49F4CB6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긍정 감정은 몰입·유지, 무거운 감정은 환기·숨 고르기에 맞는 독서 경험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D2E38C-4A00-434C-A2BD-56E7D7EC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7A8D56-46B0-46E9-B94E-F07076C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B77A9A-699D-47C9-89BF-DAF20C86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선택한 관심사를 책의 중심 주제로 실제 다루며 지식·감상을 확장하는 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9C03C-0E00-4A36-B8D0-39A4578E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244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6E9D1-D53B-422D-8554-55C7A3B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244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취미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CCEA44-C38E-475F-9C35-ADF2A58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방법·기술·도구·작품 감상·문화·역사처럼 취미 활동에 직접 도움이 되는 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E64B8-B0F4-48D1-852D-249FDBD4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24550"/>
            <a:ext cx="5562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D1818B-60AF-4E3B-9976-4821EAF6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0579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선택 제한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334234-5BAB-4BC5-8DA1-F23A41C9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00750"/>
            <a:ext cx="4019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제공된 candidate_id 중 1개만 반환한다.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선택 후 실제 책 소개로 3~4문장 추천 서평을 만들고 일일 스냅샷으로 저장한다.</a:t>
            </a:r>
          </a:p>
        </p:txBody>
      </p:sp>
    </p:spTree>
    <p:extLst>
      <p:ext uri="{BB962C8B-B14F-4D97-AF65-F5344CB8AC3E}">
        <p14:creationId xmlns:p14="http://schemas.microsoft.com/office/powerpoint/2010/main" val="1951876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83D9CE-9028-4576-BCFA-BD9E9A0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TECHNICAL EVIDENCE · 날씨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B811A-5FE8-452A-857C-437C1F8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810B1-2443-42A8-AA34-7C4E64E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EA7F3-57C1-4565-847C-22112EBB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기상 정보를 오늘의 행동으로 바꾸기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ED487-0B0B-47D3-9B02-7AAC1EC4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복잡한 관측·예보 값을 위치와 취미 맥락에 맞는 생활 판단으로 번역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2AAF4-BC9C-4B72-ACB9-A9FF35C1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7A1EF-B601-4B58-888C-6BE9C10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서비스 안에서의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E1B84-960B-46E1-B639-EA60F211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BD179-6CCA-489B-B57E-60B561A3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65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A81BF-CCC2-4924-BF7B-FB4CA34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공공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01D69-6003-4AD0-BB35-D3C966E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기상청 관측·예보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특보 · 자외선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0FDA5-B19A-4C24-82F5-0365F895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1D3BF-98B5-40C8-80F7-FE0E0DF2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2F2F5"/>
          </a:solidFill>
          <a:ln xmlns:a="http://schemas.openxmlformats.org/drawingml/2006/main" w="17145">
            <a:solidFill>
              <a:srgbClr val="65C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0E65C-2B60-4052-8784-6964BCAD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생활 해석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59259-BCBA-4442-B561-CBCA4E1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서버 지수 계산과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최신 외출 맥락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2861A-7C55-4E2B-9F2F-C7AEE069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CA767-6298-49B7-90FD-5AFAC70D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65C8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188AA-BD28-410E-96C0-C3DFE0C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행동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F2B4C-C383-46A1-8351-74B4F563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일상 행동 2개와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취미 특화 팁 1개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3DE89-2C5D-4055-B8B5-6026D2D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서비스 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CFB8B-F7F9-47CE-AA83-89F3F09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915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날씨 확인을 ‘정보 조회’에서 ‘오늘의 준비와 활동 선택’으로 확장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D9049-CB1B-4DB5-8076-10EF4129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62754-B27E-457C-8BA9-27F8A0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기능의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D8CB3-BCD5-4017-BF1B-A31243DC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531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마이페이지의 생활 추천 영역에서 현재 상황과 사용자 취미를 연결한다. 감정은 조언의 강도와 톤을 조절하는 보조 맥락으로만 사용한다.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BBE5A-B82A-45F8-965F-A074F62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6F579-7676-491F-A0BD-1BC8C6D7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E6309-674D-4C37-AD6E-CF205A28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C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BF742-0854-4160-976B-0E703710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필요성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8EA0B-5653-457F-BDE8-6F4010B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숫자에서 판단까지의 간격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C12D1-A929-4368-B9D5-46F8905D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기온과 강수확률만으로는 오늘 무엇을 준비하고 어떤 활동을 조절할지 바로 결정하기 어렵다.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8F79C-B152-4FBB-B2D5-30CF7069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011C2-4870-4FE5-A836-B129F84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B269E-9A03-422E-A3B2-A22A795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공공 데이터와 서버 산식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4CF32-2EB1-4C3A-AD27-30F23D19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기상청 실황·예보·특보·자외선 데이터를 통합하고, 체감온도·불쾌지수·식중독지수는 서버의 명시된 식으로 확정한다.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12847-703A-4CC3-8DB6-B240B19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9CBAF-DC68-4586-A21B-557BB5E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387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DB4888-5CF8-469E-A6A1-26A6CBBA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확정 수치를 생활 언어로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24136A-3C3D-419B-B6F6-5F02D1A3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위치·당일 감정·활동형 취미와 최신 외출 맥락을 결합해 실천 가능한 행동과 취미 팁을 작성한다.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49AD8-CB00-4587-812B-8C11C81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6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기상 수치와 생활 지수는 서버가 확정하고, AI는 그 값을 바꾸지 않고 설명만 생성</a:t>
            </a:r>
          </a:p>
        </p:txBody>
      </p:sp>
    </p:spTree>
    <p:extLst>
      <p:ext uri="{BB962C8B-B14F-4D97-AF65-F5344CB8AC3E}">
        <p14:creationId xmlns:p14="http://schemas.microsoft.com/office/powerpoint/2010/main" val="1004905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788003-EBCB-498E-A8B3-E706582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TECHNICAL EVIDENCE · 날씨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6412C-2D4A-4CF4-A757-C66F6D5C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4C516-FC05-4A3B-A8B2-D1AC22A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2CA67-F9EC-4A15-863B-57A4549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날씨 데이터는 어떻게 개인화 조언이 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F0ED7-7212-43D3-B328-2FB1DE6C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결정론적 수치 계산과 생성형 해설을 분리해 정확성과 활용성을 함께 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CE35D-D91E-4CEA-9F5D-4E689A0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8FE03-A85F-4A97-99F3-19C97F9B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날씨 데이터·개인화 분석 프로세스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FB188-E39E-4909-9EB7-56EC5508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5AD38-0B89-4FC6-BA32-FC8571A6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385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AB54A-655B-48B7-85F7-E7D61F15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433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43B60-F6F0-491C-A027-B647BC5A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482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AA9D3-8DC2-4DAB-9425-BA41FA78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3530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58F92-0350-4A4C-9AC0-B3102B7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0579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870D1-E011-4368-9A6D-738F8ED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A41D9-3344-49CA-8FD9-738409D3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13106-292F-4E8D-8E58-D5BC7C08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위치·격자 변환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14752-8E60-475C-8C9F-34B2DC53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lat/lon → 행정구역 + 기상청 예보 격자 nx, 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CC0CA-6778-4029-B348-63DBFBC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1446A-1D18-45A8-ABA2-7CC1B75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F6D22-3E0D-4BA1-B845-C57FCA31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공공 기상 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45891-F490-49DF-9F00-1637A0D1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초단기 실황·예보·7일 예보·특보·자외선지수 통합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BC756-2516-4BE8-9D5D-8E44148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D3E0C-6B82-4B79-8C26-F9597BC0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0FD37-C9E7-4D55-BE0D-6F2ED64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서버 지수 계산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A056B-EA60-4F06-A09A-A9FD9CB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체감온도·불쾌지수·식중독지수를 명시된 산식으로 확정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A7346-CED3-4FE1-B5F2-A164FC59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3022C-32DF-44B4-9FB2-A30B9C8A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34692-7FE2-498E-915A-0D58D36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웹·개인화 맥락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CF5D7-2ABD-4A88-A445-DE39EF4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Tavily 외출 스니펫 + 사용자의 활동형 취미·당일 지배 감정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7030D-4BD7-41B7-B366-5D2484B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46DBE-6025-410B-97DD-48D0579F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97D22-77E9-4550-A6D5-4E1186E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LLM 해설 생성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9834C-2301-47AE-8AE6-657A29BC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GPT-5.4-mini가 일상 행동 2개 + 취미 특화 팁 1개 생성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1478A-34D1-4CB7-891E-52BD2DB5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029EB-030B-4DD0-B0C8-1800EB2B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3CB2F8-F70C-4D0E-96A4-E10F96E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후처리·캐시·전달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AC06C0-BBD7-4F20-9743-4EF9A48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표현 필터로 문체 정제 · 1시간 캐시 후 날씨 패널에 전달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80B9AB-ACAA-41D0-8C6B-F94FB11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137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2F2F5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F90F8-E11E-436D-87CD-47C8955D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수치 확정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B8CBD0-97D8-4F51-B4BD-F710F272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기온·습도·풍속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→ 서버 공식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→ 확정 지수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E0AD9D-135A-46A8-B776-A3DF110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137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DB8C0A-BF25-4DF1-A793-E0D75E6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4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AI의 경계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2F43A-8D8F-434B-BED9-8E30DD8A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1020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확정 수치는 바꾸지 않고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해설·행동 팁만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자연어로 생성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330FA6-1B39-470F-96F6-371A7E7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4D19D1-6F53-48EE-A85F-5AB35255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적용과 설계 근거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76497E-3423-4A82-A48F-C4DE0B94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C8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9230F6-0235-4A95-AFA6-4A74404E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어디에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323DFB-63C3-4C22-968E-65B3EE5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최신 검색과 개인화 해설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8BE1D0-A2AB-4BBF-9F95-24D6538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Tavily가 외출 맥락을 보완하고, LLM은 확정된 기상 데이터·취미·당일 감정을 근거로 생활 행동과 취미 팁을 생성한다.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06E49E-D17B-4670-9F0B-BEAC6ECB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862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570501-0B2E-4179-8AB5-357C6322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어떻게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0AA482-AF87-401B-898C-FDEB573F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81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수치 계산과 자연어 생성을 분리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1F3BD6-7276-4095-8491-E65546D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체감온도·불쾌지수·식중독지수는 서버 산식으로 먼저 확정한다. AI는 그 값을 입력으로만 받아 설명한다.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69D676-F029-49D3-AF3C-761E4C66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673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5135E0-0F19-4F92-828E-30F00AA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7CE98C-F2C8-478A-A07A-F83FDFA0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625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수치 환각 없이 실생활 활용성 확보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922E84-1824-40C5-B9EC-C2DA737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245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공공 데이터의 신뢰성은 유지하면서 위치·감정·취미에 맞는 행동 제안을 제공하고, 표현 필터와 캐시로 톤과 비용을 관리한다.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691A8A-4F9F-408F-BC15-EF1DAC06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출력: 확정 기상 정보 · 개인화 해설 · 행동 2개 · 취미 팁 1개</a:t>
            </a:r>
          </a:p>
        </p:txBody>
      </p:sp>
    </p:spTree>
    <p:extLst>
      <p:ext uri="{BB962C8B-B14F-4D97-AF65-F5344CB8AC3E}">
        <p14:creationId xmlns:p14="http://schemas.microsoft.com/office/powerpoint/2010/main" val="1150843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2026-07-26T12:43:52.2400000Z</dcterms:created>
  <dcterms:modified xsi:type="dcterms:W3CDTF">2026-07-26T12:43:52.2400000Z</dcterms:modified>
</coreProperties>
</file>